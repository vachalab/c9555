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7" r:id="rId2"/>
    <p:sldId id="808" r:id="rId3"/>
    <p:sldId id="828" r:id="rId4"/>
    <p:sldId id="870" r:id="rId5"/>
    <p:sldId id="874" r:id="rId6"/>
    <p:sldId id="822" r:id="rId7"/>
    <p:sldId id="811" r:id="rId8"/>
    <p:sldId id="817" r:id="rId9"/>
    <p:sldId id="829" r:id="rId10"/>
    <p:sldId id="867" r:id="rId11"/>
    <p:sldId id="871" r:id="rId12"/>
    <p:sldId id="835" r:id="rId13"/>
    <p:sldId id="872" r:id="rId14"/>
    <p:sldId id="885" r:id="rId15"/>
    <p:sldId id="848" r:id="rId16"/>
    <p:sldId id="843" r:id="rId17"/>
    <p:sldId id="878" r:id="rId18"/>
    <p:sldId id="876" r:id="rId19"/>
    <p:sldId id="830" r:id="rId20"/>
    <p:sldId id="856" r:id="rId21"/>
    <p:sldId id="833" r:id="rId22"/>
    <p:sldId id="879" r:id="rId23"/>
    <p:sldId id="880" r:id="rId24"/>
    <p:sldId id="881" r:id="rId25"/>
    <p:sldId id="882" r:id="rId26"/>
    <p:sldId id="884" r:id="rId27"/>
    <p:sldId id="827" r:id="rId28"/>
  </p:sldIdLst>
  <p:sldSz cx="12192000" cy="6858000"/>
  <p:notesSz cx="6865938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62BB46"/>
    <a:srgbClr val="7AC143"/>
    <a:srgbClr val="21A9C0"/>
    <a:srgbClr val="39464A"/>
    <a:srgbClr val="F6F7F7"/>
    <a:srgbClr val="EBECED"/>
    <a:srgbClr val="F0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512" autoAdjust="0"/>
  </p:normalViewPr>
  <p:slideViewPr>
    <p:cSldViewPr snapToGrid="0" showGuides="1">
      <p:cViewPr varScale="1">
        <p:scale>
          <a:sx n="55" d="100"/>
          <a:sy n="55" d="100"/>
        </p:scale>
        <p:origin x="1060" y="28"/>
      </p:cViewPr>
      <p:guideLst>
        <p:guide orient="horz" pos="2136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28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879682-766A-4EC9-9AB4-6B05D94CF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EE19B-11B0-4020-A52B-9F88D94D7A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00A26804-296B-4572-A0F9-372DDB81CE0C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C4B6D-059E-45D0-AFA3-0D9EA856C1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24AFA-A144-419F-8FDA-EB926EDC5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23F7E358-18BC-4B0A-BB40-FB7A647C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5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DD6D46A3-849D-4409-B0D0-71D3CF0B43A8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810810"/>
            <a:ext cx="5492750" cy="3936117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34B23C0-22E8-4F3C-9489-1582CADF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10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Zástupný symbol pro obrázek snímku 1">
            <a:extLst>
              <a:ext uri="{FF2B5EF4-FFF2-40B4-BE49-F238E27FC236}">
                <a16:creationId xmlns:a16="http://schemas.microsoft.com/office/drawing/2014/main" id="{38BA96DA-4AED-4D58-84B8-34CF840B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Zástupný symbol pro poznámky 2">
            <a:extLst>
              <a:ext uri="{FF2B5EF4-FFF2-40B4-BE49-F238E27FC236}">
                <a16:creationId xmlns:a16="http://schemas.microsoft.com/office/drawing/2014/main" id="{F662795C-91AB-43C4-BA8F-96DF9EA6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cs-CZ" dirty="0">
              <a:latin typeface="Arial" panose="020B0604020202020204" pitchFamily="34" charset="0"/>
            </a:endParaRPr>
          </a:p>
        </p:txBody>
      </p:sp>
      <p:sp>
        <p:nvSpPr>
          <p:cNvPr id="24580" name="Zástupný symbol pro číslo snímku 3">
            <a:extLst>
              <a:ext uri="{FF2B5EF4-FFF2-40B4-BE49-F238E27FC236}">
                <a16:creationId xmlns:a16="http://schemas.microsoft.com/office/drawing/2014/main" id="{868B11F0-8907-433A-80EB-551E64857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2846" indent="-30109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4379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6131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67882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49634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31386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13137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94889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78E9E-F237-4B5E-8E23-061410CD0F9A}" type="slidenum">
              <a:rPr lang="cs-CZ" altLang="en-US" smtClean="0"/>
              <a:pPr/>
              <a:t>1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2788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24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72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8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58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79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91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31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87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9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22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1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87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CB05-2F96-7FB2-AE13-F5764663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36381-26F6-C208-6AA0-C32C31503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75E6F-3CC2-07F4-A101-300603A2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985D-3D82-E02B-F394-6D545DE21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8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3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34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05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13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52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1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71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558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91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60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3067-0659-4564-37EC-BA111D72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D2353-FFF4-D4E9-12B6-146932760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78D53-74B0-AC16-E8A0-75AC1DF44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4B353-3968-A6E9-54D3-E6649E54F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10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6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847581D-BF1F-49D3-8CFA-5B02D626EF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" y="0"/>
            <a:ext cx="121919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06" y="2562224"/>
            <a:ext cx="10796588" cy="23479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706" y="5105399"/>
            <a:ext cx="10796588" cy="971551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6D5F3CA-36BC-4D5C-8C42-8CED5BE448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65" y="696566"/>
            <a:ext cx="2280168" cy="6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V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C790552-49A7-425E-93B6-614B6C390F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1146" y="634882"/>
            <a:ext cx="2453146" cy="78434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759ED6C-1EB3-4712-BF5C-70DCD3AAE8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6604-08F1-4707-8B60-4EB32C7D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341947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D9DB-552C-437D-8CD9-3FB1FDF8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3975101"/>
            <a:ext cx="11258550" cy="18097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70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and </a:t>
            </a:r>
            <a:r>
              <a:rPr lang="cs-CZ" dirty="0" err="1"/>
              <a:t>contact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7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12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and </a:t>
            </a:r>
            <a:r>
              <a:rPr lang="cs-CZ" dirty="0" err="1"/>
              <a:t>contact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54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9898-7198-401D-B3BC-3FDCD0A3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3CC8-3D58-4CC9-9980-7B6494CB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185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9CAB-B78F-4547-932E-9B52A518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B3D8-C8FD-4695-9AED-29B11F411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725" y="1523999"/>
            <a:ext cx="5553075" cy="436245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E075E-B249-44D9-B1FB-63F9B35A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772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E032-3DB1-4A87-8AE3-C0F98583F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725" y="365126"/>
            <a:ext cx="11258549" cy="825500"/>
          </a:xfrm>
        </p:spPr>
        <p:txBody>
          <a:bodyPr anchor="ctr"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B929-F940-434E-A2F5-04BDA1A5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24519"/>
            <a:ext cx="6542086" cy="436193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2815-0A5C-47DC-B1C0-50CE63A0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6726" y="1523999"/>
            <a:ext cx="4305300" cy="4344989"/>
          </a:xfrm>
        </p:spPr>
        <p:txBody>
          <a:bodyPr/>
          <a:lstStyle>
            <a:lvl1pPr marL="0" indent="0">
              <a:buNone/>
              <a:defRPr sz="1600">
                <a:solidFill>
                  <a:srgbClr val="21A9C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854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5CF-2973-4EFE-89BA-8E59AE0F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941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28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E2BC1-A033-4DE0-B239-698661E5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825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50F1-72F9-4DD3-93B1-AC146414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1523999"/>
            <a:ext cx="11258550" cy="43624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306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60" r:id="rId3"/>
    <p:sldLayoutId id="2147483651" r:id="rId4"/>
    <p:sldLayoutId id="2147483657" r:id="rId5"/>
    <p:sldLayoutId id="2147483662" r:id="rId6"/>
    <p:sldLayoutId id="2147483661" r:id="rId7"/>
    <p:sldLayoutId id="2147483650" r:id="rId8"/>
    <p:sldLayoutId id="2147483652" r:id="rId9"/>
    <p:sldLayoutId id="2147483656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A9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1A9C0"/>
        </a:buClr>
        <a:buFont typeface="Arial" panose="020B0604020202020204" pitchFamily="34" charset="0"/>
        <a:buChar char="•"/>
        <a:defRPr sz="2400" kern="1200">
          <a:solidFill>
            <a:srgbClr val="3946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2000" kern="1200">
          <a:solidFill>
            <a:srgbClr val="3946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800" kern="1200">
          <a:solidFill>
            <a:srgbClr val="3946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chaLab/C955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chaLab/C9555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00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dpis 1">
            <a:extLst>
              <a:ext uri="{FF2B5EF4-FFF2-40B4-BE49-F238E27FC236}">
                <a16:creationId xmlns:a16="http://schemas.microsoft.com/office/drawing/2014/main" id="{E38636A8-6216-4BCE-8A5E-6572CEFC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809" y="5326857"/>
            <a:ext cx="4872382" cy="56655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Denys Biriukov</a:t>
            </a:r>
            <a:r>
              <a:rPr lang="fr-FR" b="1" dirty="0">
                <a:solidFill>
                  <a:schemeClr val="tx1"/>
                </a:solidFill>
              </a:rPr>
              <a:t> – Oct. 15</a:t>
            </a:r>
            <a:r>
              <a:rPr lang="en-US" b="1" baseline="30000" dirty="0" err="1">
                <a:solidFill>
                  <a:schemeClr val="tx1"/>
                </a:solidFill>
              </a:rPr>
              <a:t>th</a:t>
            </a:r>
            <a:r>
              <a:rPr lang="fr-FR" b="1" dirty="0">
                <a:solidFill>
                  <a:schemeClr val="tx1"/>
                </a:solidFill>
              </a:rPr>
              <a:t> 2026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B1D9170C-9B46-4288-9A83-9C9E72152AC7}"/>
              </a:ext>
            </a:extLst>
          </p:cNvPr>
          <p:cNvSpPr/>
          <p:nvPr/>
        </p:nvSpPr>
        <p:spPr>
          <a:xfrm>
            <a:off x="762000" y="1066800"/>
            <a:ext cx="38252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E4B30EF6-4641-45F0-9275-01C71BCFF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6177" y="1217011"/>
            <a:ext cx="11779646" cy="4007634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cs-CZ" dirty="0"/>
              <a:t>C9555: A Practical Guide to Simulations</a:t>
            </a:r>
            <a:br>
              <a:rPr lang="en-US" altLang="cs-CZ" dirty="0"/>
            </a:br>
            <a:br>
              <a:rPr lang="en-US" altLang="cs-CZ" dirty="0"/>
            </a:br>
            <a:r>
              <a:rPr lang="en-US" altLang="cs-CZ" dirty="0"/>
              <a:t>Week 5</a:t>
            </a:r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214759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9418-C1B4-E24D-34E0-F8AF24A0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ready for practical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9E7B5-BF75-722C-CA1F-C82EDA0763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09E66E22-1163-D9A9-16BE-DB1475957E36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754551" cy="5350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 new terminal </a:t>
            </a:r>
            <a:r>
              <a:rPr lang="en-US" b="1" dirty="0">
                <a:highlight>
                  <a:srgbClr val="62BB46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Ctrl + Alt + T</a:t>
            </a:r>
          </a:p>
          <a:p>
            <a:endParaRPr lang="en-US" b="1" dirty="0">
              <a:highlight>
                <a:srgbClr val="62BB46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Course materials at: </a:t>
            </a:r>
            <a:r>
              <a:rPr lang="en-US" dirty="0">
                <a:hlinkClick r:id="rId3"/>
              </a:rPr>
              <a:t>https://github.com/VachaLab/C9555</a:t>
            </a:r>
            <a:endParaRPr lang="en-US" dirty="0"/>
          </a:p>
          <a:p>
            <a:endParaRPr lang="en-US" dirty="0"/>
          </a:p>
          <a:p>
            <a:r>
              <a:rPr lang="en-US" dirty="0"/>
              <a:t>Any technical issues/problems/questions? Checklist:</a:t>
            </a:r>
          </a:p>
          <a:p>
            <a:pPr lvl="1"/>
            <a:r>
              <a:rPr lang="en-US" dirty="0"/>
              <a:t>Access to Wolf.</a:t>
            </a:r>
          </a:p>
          <a:p>
            <a:pPr lvl="1"/>
            <a:r>
              <a:rPr lang="en-US" dirty="0"/>
              <a:t>Proper infinity and </a:t>
            </a:r>
            <a:r>
              <a:rPr lang="en-US" dirty="0" err="1"/>
              <a:t>uv</a:t>
            </a:r>
            <a:r>
              <a:rPr lang="en-US" dirty="0"/>
              <a:t> environments.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2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9418-C1B4-E24D-34E0-F8AF24A0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9E7B5-BF75-722C-CA1F-C82EDA0763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61E40D09-AED5-A275-984D-5AEC8BDD8022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1258550" cy="49870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part of the course is inspired and partially based on:</a:t>
            </a:r>
          </a:p>
          <a:p>
            <a:endParaRPr lang="en-US" dirty="0"/>
          </a:p>
          <a:p>
            <a:r>
              <a:rPr lang="en-US" dirty="0"/>
              <a:t>Teaching materials of “Spring School in Computational Chemistry 2023” taken place in Finland and prepared by Dr. Hector Martinez-</a:t>
            </a:r>
            <a:r>
              <a:rPr lang="en-US" dirty="0" err="1"/>
              <a:t>Seara</a:t>
            </a:r>
            <a:r>
              <a:rPr lang="en-US" dirty="0"/>
              <a:t> and Dr. Matti Javanainen.</a:t>
            </a:r>
          </a:p>
          <a:p>
            <a:r>
              <a:rPr lang="en-US" dirty="0"/>
              <a:t>Teaching course about molecular dynamics simulations at Charles University by prof. Lukasz Cwiklik.</a:t>
            </a:r>
          </a:p>
          <a:p>
            <a:endParaRPr lang="en-US" dirty="0"/>
          </a:p>
        </p:txBody>
      </p:sp>
      <p:pic>
        <p:nvPicPr>
          <p:cNvPr id="7" name="Picture 6" descr="A black background with yellow and green text&#10;&#10;Description automatically generated">
            <a:extLst>
              <a:ext uri="{FF2B5EF4-FFF2-40B4-BE49-F238E27FC236}">
                <a16:creationId xmlns:a16="http://schemas.microsoft.com/office/drawing/2014/main" id="{B6C04DA1-5AD5-17EA-1786-259639F0A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97" y="4039903"/>
            <a:ext cx="1993119" cy="199311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DDCB0FA-2EB9-DFFC-279B-29F8FAC25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3116" y="4676426"/>
            <a:ext cx="3181350" cy="933450"/>
          </a:xfrm>
          <a:prstGeom prst="rect">
            <a:avLst/>
          </a:prstGeom>
        </p:spPr>
      </p:pic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45F887E-2ED2-3CD1-EDA9-09971351F3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78" y="4676426"/>
            <a:ext cx="3983778" cy="9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6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 discussion than monologue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4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1071468" cy="49102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If you have a quick question to catch up, raise your hand and ask – we will try to fix it and bring you back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If quick answer does not help, let’s chat during a break or after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This course is mainly practical – theory will be trying to catch up, not vice versa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Some topics will be repeated – it’s fine, you’ll cover the same material with multiple teachers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9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9418-C1B4-E24D-34E0-F8AF24A0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ready for practical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9E7B5-BF75-722C-CA1F-C82EDA0763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09E66E22-1163-D9A9-16BE-DB1475957E36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754551" cy="5350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--depth 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https://github.com/VachaLab/C9555.git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C9555_git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C9555_git/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week05/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bash ../infinity/infinity-temp.sh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bash ../uv/uv-activate.sh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bash ../uv/jupyter-start.sh</a:t>
            </a:r>
          </a:p>
        </p:txBody>
      </p:sp>
    </p:spTree>
    <p:extLst>
      <p:ext uri="{BB962C8B-B14F-4D97-AF65-F5344CB8AC3E}">
        <p14:creationId xmlns:p14="http://schemas.microsoft.com/office/powerpoint/2010/main" val="277327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C0766F-46C2-4C77-048F-192E62554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67209"/>
              </p:ext>
            </p:extLst>
          </p:nvPr>
        </p:nvGraphicFramePr>
        <p:xfrm>
          <a:off x="4961859" y="1064081"/>
          <a:ext cx="6916950" cy="4781084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383904">
                  <a:extLst>
                    <a:ext uri="{9D8B030D-6E8A-4147-A177-3AD203B41FA5}">
                      <a16:colId xmlns:a16="http://schemas.microsoft.com/office/drawing/2014/main" val="1088188872"/>
                    </a:ext>
                  </a:extLst>
                </a:gridCol>
                <a:gridCol w="928059">
                  <a:extLst>
                    <a:ext uri="{9D8B030D-6E8A-4147-A177-3AD203B41FA5}">
                      <a16:colId xmlns:a16="http://schemas.microsoft.com/office/drawing/2014/main" val="2265302885"/>
                    </a:ext>
                  </a:extLst>
                </a:gridCol>
                <a:gridCol w="1157547">
                  <a:extLst>
                    <a:ext uri="{9D8B030D-6E8A-4147-A177-3AD203B41FA5}">
                      <a16:colId xmlns:a16="http://schemas.microsoft.com/office/drawing/2014/main" val="1565331526"/>
                    </a:ext>
                  </a:extLst>
                </a:gridCol>
                <a:gridCol w="3447440">
                  <a:extLst>
                    <a:ext uri="{9D8B030D-6E8A-4147-A177-3AD203B41FA5}">
                      <a16:colId xmlns:a16="http://schemas.microsoft.com/office/drawing/2014/main" val="229333678"/>
                    </a:ext>
                  </a:extLst>
                </a:gridCol>
              </a:tblGrid>
              <a:tr h="365983">
                <a:tc>
                  <a:txBody>
                    <a:bodyPr/>
                    <a:lstStyle/>
                    <a:p>
                      <a:pPr algn="ctr"/>
                      <a:r>
                        <a:rPr lang="en-US" sz="1200" b="1" cap="all" spc="60" dirty="0">
                          <a:solidFill>
                            <a:schemeClr val="tx1"/>
                          </a:solidFill>
                        </a:rPr>
                        <a:t>Teaching week</a:t>
                      </a:r>
                    </a:p>
                  </a:txBody>
                  <a:tcPr marL="101662" marR="101662" marT="101662" marB="10166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cap="all" spc="6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01662" marR="101662" marT="101662" marB="10166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cap="all" spc="60" dirty="0">
                          <a:solidFill>
                            <a:schemeClr val="tx1"/>
                          </a:solidFill>
                        </a:rPr>
                        <a:t>Lecturer</a:t>
                      </a:r>
                    </a:p>
                  </a:txBody>
                  <a:tcPr marL="101662" marR="101662" marT="101662" marB="10166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cap="all" spc="60" dirty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101662" marR="101662" marT="101662" marB="10166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8325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17.09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AT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815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24.09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AT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426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01.10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IK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6973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08.10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LS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1677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15.10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DB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How to run MD simulations?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039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22.10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DB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9429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29.10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IK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6737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05.11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IK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00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12.11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cap="none" spc="0" dirty="0">
                          <a:solidFill>
                            <a:srgbClr val="FF0000"/>
                          </a:solidFill>
                        </a:rPr>
                        <a:t>BREAK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67594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19.11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DB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00459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26.11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DB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051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03.12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AT/LS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2051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10.12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AT/LS</a:t>
                      </a: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8869" marR="28869" marT="14435" marB="677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6282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today?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Week 5: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How to run MD simulations?</a:t>
            </a:r>
          </a:p>
          <a:p>
            <a:endParaRPr lang="en-US" sz="2000" dirty="0"/>
          </a:p>
          <a:p>
            <a:r>
              <a:rPr lang="en-US" sz="2000" dirty="0"/>
              <a:t>How and why MD is useful</a:t>
            </a:r>
          </a:p>
          <a:p>
            <a:pPr lvl="1"/>
            <a:r>
              <a:rPr lang="en-US" sz="1600" dirty="0"/>
              <a:t>Physics behind MD simulations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dirty="0"/>
              <a:t>GROMACS</a:t>
            </a:r>
          </a:p>
          <a:p>
            <a:pPr lvl="1"/>
            <a:r>
              <a:rPr lang="en-US" sz="1600" dirty="0"/>
              <a:t>Perhaps, the fastest freely-available MD engine</a:t>
            </a:r>
          </a:p>
          <a:p>
            <a:pPr lvl="1"/>
            <a:endParaRPr lang="en-US" sz="1600" dirty="0"/>
          </a:p>
          <a:p>
            <a:r>
              <a:rPr lang="en-US" sz="2000" dirty="0"/>
              <a:t>GROMACS in combination with Jupyter notebooks and Matplotlib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2AC8A-6271-D248-485F-7BCB829CB0A9}"/>
              </a:ext>
            </a:extLst>
          </p:cNvPr>
          <p:cNvSpPr/>
          <p:nvPr/>
        </p:nvSpPr>
        <p:spPr>
          <a:xfrm>
            <a:off x="4913498" y="2837321"/>
            <a:ext cx="7013672" cy="453716"/>
          </a:xfrm>
          <a:prstGeom prst="rect">
            <a:avLst/>
          </a:prstGeom>
          <a:solidFill>
            <a:srgbClr val="21A9C0">
              <a:alpha val="40000"/>
            </a:srgb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1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7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1071468" cy="49102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Lecture</a:t>
            </a:r>
          </a:p>
          <a:p>
            <a:endParaRPr lang="en-US" dirty="0"/>
          </a:p>
          <a:p>
            <a:r>
              <a:rPr lang="en-US" dirty="0"/>
              <a:t>Recall of basics of MD: why we need it and what physics is behind.</a:t>
            </a:r>
          </a:p>
          <a:p>
            <a:r>
              <a:rPr lang="en-US" dirty="0"/>
              <a:t>MD ensembles, relation to thermodynamics.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Practical session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GROMACS – what is it and how to use it?</a:t>
            </a:r>
          </a:p>
          <a:p>
            <a:r>
              <a:rPr lang="en-US" dirty="0"/>
              <a:t>Basic tools to build a system and run a simulation in GROMACS.</a:t>
            </a:r>
          </a:p>
        </p:txBody>
      </p:sp>
    </p:spTree>
    <p:extLst>
      <p:ext uri="{BB962C8B-B14F-4D97-AF65-F5344CB8AC3E}">
        <p14:creationId xmlns:p14="http://schemas.microsoft.com/office/powerpoint/2010/main" val="115489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Molecular Simulations: Physics, not Cartoon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8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8635395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do we actually use simulations?</a:t>
            </a:r>
          </a:p>
          <a:p>
            <a:pPr lvl="1"/>
            <a:r>
              <a:rPr lang="en-US" dirty="0"/>
              <a:t>Visualizing experiments? Reproducing? Confirming?</a:t>
            </a:r>
          </a:p>
          <a:p>
            <a:r>
              <a:rPr lang="en-US" dirty="0"/>
              <a:t>A molecular simulation is a well-controlled </a:t>
            </a:r>
            <a:r>
              <a:rPr lang="en-US" i="1" dirty="0"/>
              <a:t>in silico</a:t>
            </a:r>
            <a:r>
              <a:rPr lang="en-US" dirty="0"/>
              <a:t> experiment itself!</a:t>
            </a:r>
          </a:p>
          <a:p>
            <a:pPr lvl="1"/>
            <a:r>
              <a:rPr lang="en-US" dirty="0"/>
              <a:t>“Computational microscope”, “computational experiment”.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Good simulation model – predictive power of simulations.</a:t>
            </a:r>
          </a:p>
          <a:p>
            <a:pPr lvl="1"/>
            <a:r>
              <a:rPr lang="en-US" dirty="0"/>
              <a:t>Simulations can initiate new experimental work.</a:t>
            </a:r>
          </a:p>
          <a:p>
            <a:pPr lvl="1"/>
            <a:r>
              <a:rPr lang="en-US" dirty="0"/>
              <a:t>Certain computational screenings of novel drugs are more efficient (and much cheaper) than many (if not all) experiments.</a:t>
            </a:r>
          </a:p>
          <a:p>
            <a:pPr lvl="1"/>
            <a:endParaRPr lang="en-US" dirty="0"/>
          </a:p>
          <a:p>
            <a:r>
              <a:rPr lang="en-US" dirty="0"/>
              <a:t>Good model = fundamental physics behind it (approximation of fundamental physical laws).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CB023-1B73-4F49-5B7E-09F4D084C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239" y="1190626"/>
            <a:ext cx="3073577" cy="2986055"/>
          </a:xfrm>
          <a:prstGeom prst="rect">
            <a:avLst/>
          </a:prstGeom>
        </p:spPr>
      </p:pic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F21BAFB-DE44-6C6D-E429-27137FE98C16}"/>
              </a:ext>
            </a:extLst>
          </p:cNvPr>
          <p:cNvSpPr txBox="1">
            <a:spLocks/>
          </p:cNvSpPr>
          <p:nvPr/>
        </p:nvSpPr>
        <p:spPr>
          <a:xfrm>
            <a:off x="9146911" y="4263577"/>
            <a:ext cx="2819905" cy="12109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600" dirty="0"/>
              <a:t>atomistic model of bacteriophage HK97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fr-FR" sz="1600" dirty="0" err="1"/>
              <a:t>Coshic</a:t>
            </a:r>
            <a:r>
              <a:rPr lang="fr-FR" sz="1600" dirty="0"/>
              <a:t> et al. Nature, 627, 905–914 (2024)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9737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physics?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9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Biosimulations usually do not have electrons. Is it legal?</a:t>
            </a:r>
          </a:p>
          <a:p>
            <a:pPr lvl="1"/>
            <a:r>
              <a:rPr lang="en-US" dirty="0"/>
              <a:t>Atoms are represented as billiard balls.</a:t>
            </a:r>
          </a:p>
          <a:p>
            <a:pPr lvl="1"/>
            <a:r>
              <a:rPr lang="en-US" dirty="0"/>
              <a:t>Averaged effects of electrons are considered through a set of parameters (force fields).</a:t>
            </a:r>
          </a:p>
          <a:p>
            <a:pPr lvl="1"/>
            <a:r>
              <a:rPr lang="en-US" dirty="0"/>
              <a:t>Force fields define the potential energy of a system as a function of atomic positions.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approximation does not work:</a:t>
            </a:r>
          </a:p>
          <a:p>
            <a:pPr lvl="1"/>
            <a:r>
              <a:rPr lang="en-US" dirty="0"/>
              <a:t>Electron transfer processes.</a:t>
            </a:r>
          </a:p>
          <a:p>
            <a:pPr lvl="1"/>
            <a:r>
              <a:rPr lang="en-US" dirty="0"/>
              <a:t>Reactive systems.</a:t>
            </a:r>
          </a:p>
          <a:p>
            <a:pPr lvl="1"/>
            <a:r>
              <a:rPr lang="en-US" dirty="0"/>
              <a:t>Strong quantum effects.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Use instead: ab initio molecular dynamics (AIMD), quantum mechanics/molecular mechanics (QM/MM) methods.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BFEEDA51-F9F5-2C8B-FA4F-19D2F6B30DE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98313" y="3186918"/>
            <a:ext cx="2656843" cy="1619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363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Born-Oppenheimer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10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 descr="A person in a hat and suit with a cigarette in his mouth&#10;&#10;Description automatically generated">
            <a:extLst>
              <a:ext uri="{FF2B5EF4-FFF2-40B4-BE49-F238E27FC236}">
                <a16:creationId xmlns:a16="http://schemas.microsoft.com/office/drawing/2014/main" id="{552CBF32-99E2-7EAE-9CED-D42FEEB42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663" y="2250721"/>
            <a:ext cx="3571511" cy="2678633"/>
          </a:xfrm>
          <a:prstGeom prst="rect">
            <a:avLst/>
          </a:prstGeom>
        </p:spPr>
      </p:pic>
      <p:pic>
        <p:nvPicPr>
          <p:cNvPr id="9" name="Picture 8" descr="A person in a suit and tie&#10;&#10;Description automatically generated">
            <a:extLst>
              <a:ext uri="{FF2B5EF4-FFF2-40B4-BE49-F238E27FC236}">
                <a16:creationId xmlns:a16="http://schemas.microsoft.com/office/drawing/2014/main" id="{B6FF176E-9618-C00F-4A10-6E6F7CEA2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33" y="1882547"/>
            <a:ext cx="2684632" cy="346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35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Born-Oppenheimer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11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 descr="A person in a hat and suit with a cigarette in his mouth&#10;&#10;Description automatically generated">
            <a:extLst>
              <a:ext uri="{FF2B5EF4-FFF2-40B4-BE49-F238E27FC236}">
                <a16:creationId xmlns:a16="http://schemas.microsoft.com/office/drawing/2014/main" id="{552CBF32-99E2-7EAE-9CED-D42FEEB42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663" y="2250721"/>
            <a:ext cx="3571511" cy="2678633"/>
          </a:xfrm>
          <a:prstGeom prst="rect">
            <a:avLst/>
          </a:prstGeom>
        </p:spPr>
      </p:pic>
      <p:pic>
        <p:nvPicPr>
          <p:cNvPr id="9" name="Picture 8" descr="A person in a suit and tie&#10;&#10;Description automatically generated">
            <a:extLst>
              <a:ext uri="{FF2B5EF4-FFF2-40B4-BE49-F238E27FC236}">
                <a16:creationId xmlns:a16="http://schemas.microsoft.com/office/drawing/2014/main" id="{B6FF176E-9618-C00F-4A10-6E6F7CEA2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33" y="1882547"/>
            <a:ext cx="2684632" cy="3465616"/>
          </a:xfrm>
          <a:prstGeom prst="rect">
            <a:avLst/>
          </a:prstGeom>
        </p:spPr>
      </p:pic>
      <p:pic>
        <p:nvPicPr>
          <p:cNvPr id="11" name="Picture 10" descr="A person in a suit and tie&#10;&#10;Description automatically generated">
            <a:extLst>
              <a:ext uri="{FF2B5EF4-FFF2-40B4-BE49-F238E27FC236}">
                <a16:creationId xmlns:a16="http://schemas.microsoft.com/office/drawing/2014/main" id="{AEF54AAC-9AA3-3427-FA6A-6FD8A57CAC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47" y="1742944"/>
            <a:ext cx="2534775" cy="3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4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Born-Oppenheimer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12</a:t>
            </a:fld>
            <a:endParaRPr lang="en-US"/>
          </a:p>
        </p:txBody>
      </p:sp>
      <p:pic>
        <p:nvPicPr>
          <p:cNvPr id="8" name="TextBox 7">
            <a:extLst>
              <a:ext uri="{FF2B5EF4-FFF2-40B4-BE49-F238E27FC236}">
                <a16:creationId xmlns:a16="http://schemas.microsoft.com/office/drawing/2014/main" id="{72F54306-9F5D-E6FD-ED5C-3DCDEB47BF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37015"/>
          <a:stretch>
            <a:fillRect/>
          </a:stretch>
        </p:blipFill>
        <p:spPr>
          <a:xfrm>
            <a:off x="543507" y="1331758"/>
            <a:ext cx="6904283" cy="2271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EA256E-9CAC-50CE-2BF2-9A7CC06AB2B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340531" y="4062199"/>
            <a:ext cx="1976400" cy="1042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616E10-2BF6-2C7C-4FA8-07090F181356}"/>
              </a:ext>
            </a:extLst>
          </p:cNvPr>
          <p:cNvCxnSpPr/>
          <p:nvPr/>
        </p:nvCxnSpPr>
        <p:spPr>
          <a:xfrm>
            <a:off x="1226912" y="5225778"/>
            <a:ext cx="2362680" cy="720"/>
          </a:xfrm>
          <a:prstGeom prst="straightConnector1">
            <a:avLst/>
          </a:prstGeom>
          <a:noFill/>
          <a:ln w="28440" cap="sq">
            <a:solidFill>
              <a:srgbClr val="404040"/>
            </a:solidFill>
            <a:prstDash val="solid"/>
            <a:miter/>
            <a:tailEnd type="arrow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37A085-07BE-F7C5-92EB-3DBF01CCF9C9}"/>
              </a:ext>
            </a:extLst>
          </p:cNvPr>
          <p:cNvCxnSpPr/>
          <p:nvPr/>
        </p:nvCxnSpPr>
        <p:spPr>
          <a:xfrm flipV="1">
            <a:off x="1227492" y="3948799"/>
            <a:ext cx="720" cy="1268640"/>
          </a:xfrm>
          <a:prstGeom prst="straightConnector1">
            <a:avLst/>
          </a:prstGeom>
          <a:noFill/>
          <a:ln w="28440" cap="sq">
            <a:solidFill>
              <a:srgbClr val="404040"/>
            </a:solidFill>
            <a:prstDash val="solid"/>
            <a:miter/>
            <a:tailEnd type="arrow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D7C477-693B-8090-85EE-DCA15B7D37D6}"/>
                  </a:ext>
                </a:extLst>
              </p:cNvPr>
              <p:cNvSpPr/>
              <p:nvPr/>
            </p:nvSpPr>
            <p:spPr>
              <a:xfrm>
                <a:off x="3389741" y="5269629"/>
                <a:ext cx="399702" cy="365166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vert="horz" wrap="none" lIns="90000" tIns="46800" rIns="90000" bIns="46800" anchor="t" anchorCtr="0" compatLnSpc="0">
                <a:sp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en-US" sz="1800"/>
                </a:pPr>
                <a14:m>
                  <m:oMathPara xmlns:m="http://schemas.openxmlformats.org/officeDocument/2006/math">
                    <m:oMath>
                      <m:r>
                        <a:rPr lang="en-US" sz="1800" i="1" smtClean="0">
                          <a:latin typeface="Cambria Math" panose="02040503050406030204" pitchFamily="18" charset="0"/>
                          <a:ea typeface="DejaVu Sans" pitchFamily="2"/>
                          <a:cs typeface="DejaVu Sans" pitchFamily="2"/>
                        </a:rPr>
                        <m:t>𝑅</m:t>
                      </m:r>
                    </m:oMath>
                  </m:oMathPara>
                </a14:m>
                <a:endParaRPr lang="en-US" sz="1800" b="0" i="1" u="none" strike="noStrike" kern="1200" cap="none" dirty="0">
                  <a:ln>
                    <a:noFill/>
                  </a:ln>
                  <a:ea typeface="DejaVu Sans" pitchFamily="2"/>
                  <a:cs typeface="DejaVu Sans" pitchFamily="2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D7C477-693B-8090-85EE-DCA15B7D3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741" y="5269629"/>
                <a:ext cx="399702" cy="365166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10917E-4937-7369-7D0D-1E85D61409AE}"/>
                  </a:ext>
                </a:extLst>
              </p:cNvPr>
              <p:cNvSpPr/>
              <p:nvPr/>
            </p:nvSpPr>
            <p:spPr>
              <a:xfrm>
                <a:off x="322161" y="3766216"/>
                <a:ext cx="889196" cy="365166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vert="horz" wrap="none" lIns="90000" tIns="46800" rIns="90000" bIns="46800" anchor="t" anchorCtr="0" compatLnSpc="0">
                <a:sp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en-US"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DejaVu Sans" pitchFamily="2"/>
                          <a:cs typeface="DejaVu Sans" pitchFamily="2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DejaVu Sans" pitchFamily="2"/>
                          <a:cs typeface="DejaVu Sans" pitchFamily="2"/>
                        </a:rPr>
                        <m:t>𝑅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1" u="none" strike="noStrike" kern="1200" cap="none" dirty="0">
                  <a:ln>
                    <a:noFill/>
                  </a:ln>
                  <a:ea typeface="DejaVu Sans" pitchFamily="2"/>
                  <a:cs typeface="DejaVu Sans" pitchFamily="2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10917E-4937-7369-7D0D-1E85D61409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61" y="3766216"/>
                <a:ext cx="889196" cy="365166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15000"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A2D3A-54BC-FA72-EAB6-8768642F3973}"/>
              </a:ext>
            </a:extLst>
          </p:cNvPr>
          <p:cNvCxnSpPr/>
          <p:nvPr/>
        </p:nvCxnSpPr>
        <p:spPr>
          <a:xfrm flipV="1">
            <a:off x="2420124" y="4157733"/>
            <a:ext cx="228960" cy="277920"/>
          </a:xfrm>
          <a:prstGeom prst="straightConnector1">
            <a:avLst/>
          </a:prstGeom>
          <a:noFill/>
          <a:ln w="28440" cap="sq">
            <a:solidFill>
              <a:srgbClr val="404040"/>
            </a:solidFill>
            <a:prstDash val="solid"/>
            <a:miter/>
            <a:tailEnd type="arrow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ástupný symbol pro obsah 2">
                <a:extLst>
                  <a:ext uri="{FF2B5EF4-FFF2-40B4-BE49-F238E27FC236}">
                    <a16:creationId xmlns:a16="http://schemas.microsoft.com/office/drawing/2014/main" id="{F992236D-DF2B-5A44-5256-75BBE13DA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0893" y="1274158"/>
                <a:ext cx="4061009" cy="215484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Nuclei move on a potential energy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can be also denoted as </a:t>
                </a:r>
                <a14:m>
                  <m:oMath xmlns:m="http://schemas.openxmlformats.org/officeDocument/2006/math"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𝑉</m:t>
                    </m:r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  <m:t>𝑟</m:t>
                        </m:r>
                      </m:e>
                    </m:acc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)</m:t>
                    </m:r>
                  </m:oMath>
                </a14:m>
                <a:endParaRPr lang="en-US" sz="2000" i="1" dirty="0"/>
              </a:p>
              <a:p>
                <a:r>
                  <a:rPr lang="en-US" sz="2000" dirty="0"/>
                  <a:t>System remains in one electronic state.</a:t>
                </a:r>
              </a:p>
              <a:p>
                <a:r>
                  <a:rPr lang="en-US" sz="2000" dirty="0"/>
                  <a:t>Fails: degenerate energy levels.</a:t>
                </a:r>
              </a:p>
            </p:txBody>
          </p:sp>
        </mc:Choice>
        <mc:Fallback xmlns="">
          <p:sp>
            <p:nvSpPr>
              <p:cNvPr id="6" name="Zástupný symbol pro obsah 2">
                <a:extLst>
                  <a:ext uri="{FF2B5EF4-FFF2-40B4-BE49-F238E27FC236}">
                    <a16:creationId xmlns:a16="http://schemas.microsoft.com/office/drawing/2014/main" id="{F992236D-DF2B-5A44-5256-75BBE13DA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893" y="1274158"/>
                <a:ext cx="4061009" cy="2154842"/>
              </a:xfrm>
              <a:prstGeom prst="rect">
                <a:avLst/>
              </a:prstGeom>
              <a:blipFill>
                <a:blip r:embed="rId7"/>
                <a:stretch>
                  <a:fillRect l="-1351" t="-2542" r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ástupný symbol pro obsah 2">
            <a:extLst>
              <a:ext uri="{FF2B5EF4-FFF2-40B4-BE49-F238E27FC236}">
                <a16:creationId xmlns:a16="http://schemas.microsoft.com/office/drawing/2014/main" id="{276B1EE5-0E0C-6711-D2F6-0BE97B0236F6}"/>
              </a:ext>
            </a:extLst>
          </p:cNvPr>
          <p:cNvSpPr txBox="1">
            <a:spLocks/>
          </p:cNvSpPr>
          <p:nvPr/>
        </p:nvSpPr>
        <p:spPr>
          <a:xfrm>
            <a:off x="4804054" y="4180762"/>
            <a:ext cx="6690816" cy="19129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Classical mechanics can be used for nuclei</a:t>
            </a:r>
          </a:p>
          <a:p>
            <a:pPr lvl="1"/>
            <a:r>
              <a:rPr lang="en-US" sz="1600" dirty="0"/>
              <a:t>The de Broglie wavelength of nuclei is typically much smaller than the distances between atoms, so their quantum wave effects can often be neglected.</a:t>
            </a:r>
          </a:p>
          <a:p>
            <a:r>
              <a:rPr lang="en-US" sz="2000" dirty="0"/>
              <a:t>Not the case of an electron</a:t>
            </a:r>
          </a:p>
        </p:txBody>
      </p:sp>
    </p:spTree>
    <p:extLst>
      <p:ext uri="{BB962C8B-B14F-4D97-AF65-F5344CB8AC3E}">
        <p14:creationId xmlns:p14="http://schemas.microsoft.com/office/powerpoint/2010/main" val="296741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Born-Oppenheimer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13</a:t>
            </a:fld>
            <a:endParaRPr lang="en-US"/>
          </a:p>
        </p:txBody>
      </p:sp>
      <p:pic>
        <p:nvPicPr>
          <p:cNvPr id="8" name="TextBox 7">
            <a:extLst>
              <a:ext uri="{FF2B5EF4-FFF2-40B4-BE49-F238E27FC236}">
                <a16:creationId xmlns:a16="http://schemas.microsoft.com/office/drawing/2014/main" id="{72F54306-9F5D-E6FD-ED5C-3DCDEB47BF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37015"/>
          <a:stretch>
            <a:fillRect/>
          </a:stretch>
        </p:blipFill>
        <p:spPr>
          <a:xfrm>
            <a:off x="543507" y="1331758"/>
            <a:ext cx="6904283" cy="2271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7FEA092-B8C5-F130-2B37-90950FE256EC}"/>
              </a:ext>
            </a:extLst>
          </p:cNvPr>
          <p:cNvSpPr/>
          <p:nvPr/>
        </p:nvSpPr>
        <p:spPr>
          <a:xfrm flipH="1">
            <a:off x="1256427" y="3054864"/>
            <a:ext cx="3141422" cy="1237930"/>
          </a:xfrm>
          <a:prstGeom prst="line">
            <a:avLst/>
          </a:prstGeom>
          <a:noFill/>
          <a:ln w="38160">
            <a:solidFill>
              <a:srgbClr val="8E86AE"/>
            </a:solidFill>
            <a:prstDash val="solid"/>
            <a:headEnd type="arrow"/>
            <a:tailEnd type="arrow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ástupný symbol pro obsah 2">
                <a:extLst>
                  <a:ext uri="{FF2B5EF4-FFF2-40B4-BE49-F238E27FC236}">
                    <a16:creationId xmlns:a16="http://schemas.microsoft.com/office/drawing/2014/main" id="{319FC157-E0C1-73A9-91CF-8046074AB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6431" y="4355679"/>
                <a:ext cx="11128844" cy="15834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𝑉</m:t>
                    </m:r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  <m:t>𝑟</m:t>
                        </m:r>
                      </m:e>
                    </m:acc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)</m:t>
                    </m:r>
                  </m:oMath>
                </a14:m>
                <a:r>
                  <a:rPr lang="en-US" sz="2000" dirty="0"/>
                  <a:t> – force field (a set of predefined parameters) in classical molecular dynamics.</a:t>
                </a:r>
              </a:p>
              <a:p>
                <a:pPr lvl="1"/>
                <a:r>
                  <a:rPr lang="en-US" sz="1700" b="1" dirty="0"/>
                  <a:t>Used in biosimulations!</a:t>
                </a:r>
              </a:p>
              <a:p>
                <a:r>
                  <a:rPr lang="en-US" sz="2000" dirty="0"/>
                  <a:t>… or can be calculated on-the-fly from the electronic wave function in </a:t>
                </a:r>
                <a:r>
                  <a:rPr lang="en-US" sz="2000" i="1" dirty="0"/>
                  <a:t>ab initio</a:t>
                </a:r>
                <a:r>
                  <a:rPr lang="en-US" sz="2000" dirty="0"/>
                  <a:t> molecular dynamics simulations.</a:t>
                </a:r>
              </a:p>
              <a:p>
                <a:pPr lvl="1"/>
                <a:r>
                  <a:rPr lang="en-US" sz="1600" dirty="0"/>
                  <a:t>Not used in biosimulations, only small systems possible, computationally very expensive, short simulation times, …</a:t>
                </a:r>
              </a:p>
            </p:txBody>
          </p:sp>
        </mc:Choice>
        <mc:Fallback xmlns="">
          <p:sp>
            <p:nvSpPr>
              <p:cNvPr id="7" name="Zástupný symbol pro obsah 2">
                <a:extLst>
                  <a:ext uri="{FF2B5EF4-FFF2-40B4-BE49-F238E27FC236}">
                    <a16:creationId xmlns:a16="http://schemas.microsoft.com/office/drawing/2014/main" id="{319FC157-E0C1-73A9-91CF-8046074AB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31" y="4355679"/>
                <a:ext cx="11128844" cy="1583439"/>
              </a:xfrm>
              <a:prstGeom prst="rect">
                <a:avLst/>
              </a:prstGeom>
              <a:blipFill>
                <a:blip r:embed="rId4"/>
                <a:stretch>
                  <a:fillRect l="-328" t="-5303" b="-151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ástupný symbol pro obsah 2">
                <a:extLst>
                  <a:ext uri="{FF2B5EF4-FFF2-40B4-BE49-F238E27FC236}">
                    <a16:creationId xmlns:a16="http://schemas.microsoft.com/office/drawing/2014/main" id="{5FB7D872-5D0F-C7B3-281A-593F3BC54A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0893" y="1274158"/>
                <a:ext cx="4033089" cy="215484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Nuclei move on a potential energy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can be also denoted as </a:t>
                </a:r>
                <a14:m>
                  <m:oMath xmlns:m="http://schemas.openxmlformats.org/officeDocument/2006/math"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𝑉</m:t>
                    </m:r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  <m:t>𝑟</m:t>
                        </m:r>
                      </m:e>
                    </m:acc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)</m:t>
                    </m:r>
                  </m:oMath>
                </a14:m>
                <a:endParaRPr lang="en-US" sz="2000" i="1" dirty="0"/>
              </a:p>
              <a:p>
                <a:r>
                  <a:rPr lang="en-US" sz="2000" dirty="0"/>
                  <a:t>System remains in one electronic state</a:t>
                </a:r>
              </a:p>
              <a:p>
                <a:r>
                  <a:rPr lang="en-US" sz="2000" dirty="0"/>
                  <a:t>Fails: degenerate energy levels.</a:t>
                </a:r>
              </a:p>
            </p:txBody>
          </p:sp>
        </mc:Choice>
        <mc:Fallback xmlns="">
          <p:sp>
            <p:nvSpPr>
              <p:cNvPr id="15" name="Zástupný symbol pro obsah 2">
                <a:extLst>
                  <a:ext uri="{FF2B5EF4-FFF2-40B4-BE49-F238E27FC236}">
                    <a16:creationId xmlns:a16="http://schemas.microsoft.com/office/drawing/2014/main" id="{5FB7D872-5D0F-C7B3-281A-593F3BC54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893" y="1274158"/>
                <a:ext cx="4033089" cy="2154842"/>
              </a:xfrm>
              <a:prstGeom prst="rect">
                <a:avLst/>
              </a:prstGeom>
              <a:blipFill>
                <a:blip r:embed="rId5"/>
                <a:stretch>
                  <a:fillRect l="-1360" t="-2542" r="-1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15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E5EE-1FFF-8646-3CE5-1D426A7F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AB9F-2347-6A80-CF1A-9DE73736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Born-Oppenheimer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038B-1588-2887-8836-7EAD7780BA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14</a:t>
            </a:fld>
            <a:endParaRPr lang="en-US"/>
          </a:p>
        </p:txBody>
      </p:sp>
      <p:pic>
        <p:nvPicPr>
          <p:cNvPr id="8" name="TextBox 7">
            <a:extLst>
              <a:ext uri="{FF2B5EF4-FFF2-40B4-BE49-F238E27FC236}">
                <a16:creationId xmlns:a16="http://schemas.microsoft.com/office/drawing/2014/main" id="{A48156BF-FA07-728B-CC04-084218CDE0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37015"/>
          <a:stretch>
            <a:fillRect/>
          </a:stretch>
        </p:blipFill>
        <p:spPr>
          <a:xfrm>
            <a:off x="543507" y="1331758"/>
            <a:ext cx="6904283" cy="22717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A0E751D-1E3B-34F9-1658-FABC3C388621}"/>
              </a:ext>
            </a:extLst>
          </p:cNvPr>
          <p:cNvSpPr/>
          <p:nvPr/>
        </p:nvSpPr>
        <p:spPr>
          <a:xfrm flipH="1">
            <a:off x="2541319" y="3054863"/>
            <a:ext cx="1856530" cy="831675"/>
          </a:xfrm>
          <a:prstGeom prst="line">
            <a:avLst/>
          </a:prstGeom>
          <a:noFill/>
          <a:ln w="38160">
            <a:solidFill>
              <a:srgbClr val="8E86AE"/>
            </a:solidFill>
            <a:prstDash val="solid"/>
            <a:headEnd type="arrow"/>
            <a:tailEnd type="arrow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ástupný symbol pro obsah 2">
                <a:extLst>
                  <a:ext uri="{FF2B5EF4-FFF2-40B4-BE49-F238E27FC236}">
                    <a16:creationId xmlns:a16="http://schemas.microsoft.com/office/drawing/2014/main" id="{BF91E830-AA0D-6BC6-7FFD-0E3A3EAE7D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507" y="4059265"/>
                <a:ext cx="11128844" cy="15834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𝑉</m:t>
                    </m:r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  <m:t>𝑟</m:t>
                        </m:r>
                      </m:e>
                    </m:acc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)</m:t>
                    </m:r>
                  </m:oMath>
                </a14:m>
                <a:r>
                  <a:rPr lang="en-US" sz="2000" dirty="0"/>
                  <a:t> – force field (a set of predefined parameters) in classical molecular dynamics.</a:t>
                </a:r>
              </a:p>
              <a:p>
                <a:pPr lvl="1"/>
                <a:r>
                  <a:rPr lang="en-US" sz="1700" b="1" dirty="0"/>
                  <a:t>Used in biosimulations!</a:t>
                </a:r>
              </a:p>
              <a:p>
                <a:r>
                  <a:rPr lang="en-US" sz="2000" dirty="0"/>
                  <a:t>… or can be calculated on-the-fly from the electronic wave function in </a:t>
                </a:r>
                <a:r>
                  <a:rPr lang="en-US" sz="2000" i="1" dirty="0"/>
                  <a:t>ab initio</a:t>
                </a:r>
                <a:r>
                  <a:rPr lang="en-US" sz="2000" dirty="0"/>
                  <a:t> molecular dynamics simulations.</a:t>
                </a:r>
              </a:p>
              <a:p>
                <a:pPr lvl="1"/>
                <a:r>
                  <a:rPr lang="en-US" sz="1600" dirty="0"/>
                  <a:t>Not used in biosimulations, only small systems possible, computationally very expensive, short simulation times, …</a:t>
                </a:r>
              </a:p>
            </p:txBody>
          </p:sp>
        </mc:Choice>
        <mc:Fallback xmlns="">
          <p:sp>
            <p:nvSpPr>
              <p:cNvPr id="7" name="Zástupný symbol pro obsah 2">
                <a:extLst>
                  <a:ext uri="{FF2B5EF4-FFF2-40B4-BE49-F238E27FC236}">
                    <a16:creationId xmlns:a16="http://schemas.microsoft.com/office/drawing/2014/main" id="{BF91E830-AA0D-6BC6-7FFD-0E3A3EAE7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07" y="4059265"/>
                <a:ext cx="11128844" cy="1583439"/>
              </a:xfrm>
              <a:prstGeom prst="rect">
                <a:avLst/>
              </a:prstGeom>
              <a:blipFill>
                <a:blip r:embed="rId4"/>
                <a:stretch>
                  <a:fillRect l="-273" t="-5283" b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ástupný symbol pro obsah 2">
                <a:extLst>
                  <a:ext uri="{FF2B5EF4-FFF2-40B4-BE49-F238E27FC236}">
                    <a16:creationId xmlns:a16="http://schemas.microsoft.com/office/drawing/2014/main" id="{437A3930-3C7D-9335-F058-D7417813F8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0893" y="1274158"/>
                <a:ext cx="4033089" cy="215484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Nuclei move on a potential energy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can be also denoted as </a:t>
                </a:r>
                <a14:m>
                  <m:oMath xmlns:m="http://schemas.openxmlformats.org/officeDocument/2006/math"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𝑉</m:t>
                    </m:r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DejaVu Sans" pitchFamily="2"/>
                            <a:cs typeface="DejaVu Sans" pitchFamily="2"/>
                          </a:rPr>
                          <m:t>𝑟</m:t>
                        </m:r>
                      </m:e>
                    </m:acc>
                    <m:r>
                      <a:rPr lang="en-US" sz="2000" b="0" i="1" u="none" strike="noStrike" kern="1200" cap="none" smtClean="0">
                        <a:ln>
                          <a:noFill/>
                        </a:ln>
                        <a:latin typeface="Cambria Math" panose="02040503050406030204" pitchFamily="18" charset="0"/>
                        <a:ea typeface="DejaVu Sans" pitchFamily="2"/>
                        <a:cs typeface="DejaVu Sans" pitchFamily="2"/>
                      </a:rPr>
                      <m:t>)</m:t>
                    </m:r>
                  </m:oMath>
                </a14:m>
                <a:endParaRPr lang="en-US" sz="2000" i="1" dirty="0"/>
              </a:p>
              <a:p>
                <a:r>
                  <a:rPr lang="en-US" sz="2000" dirty="0"/>
                  <a:t>System remains in one electronic state</a:t>
                </a:r>
              </a:p>
              <a:p>
                <a:r>
                  <a:rPr lang="en-US" sz="2000" dirty="0"/>
                  <a:t>Fails: degenerate energy levels.</a:t>
                </a:r>
              </a:p>
            </p:txBody>
          </p:sp>
        </mc:Choice>
        <mc:Fallback xmlns="">
          <p:sp>
            <p:nvSpPr>
              <p:cNvPr id="15" name="Zástupný symbol pro obsah 2">
                <a:extLst>
                  <a:ext uri="{FF2B5EF4-FFF2-40B4-BE49-F238E27FC236}">
                    <a16:creationId xmlns:a16="http://schemas.microsoft.com/office/drawing/2014/main" id="{5FB7D872-5D0F-C7B3-281A-593F3BC54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893" y="1274158"/>
                <a:ext cx="4033089" cy="2154842"/>
              </a:xfrm>
              <a:prstGeom prst="rect">
                <a:avLst/>
              </a:prstGeom>
              <a:blipFill>
                <a:blip r:embed="rId5"/>
                <a:stretch>
                  <a:fillRect l="-1360" t="-2542" r="-1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AE191EBE-0868-353E-F993-780BE3F7E2DC}"/>
              </a:ext>
            </a:extLst>
          </p:cNvPr>
          <p:cNvSpPr txBox="1">
            <a:spLocks/>
          </p:cNvSpPr>
          <p:nvPr/>
        </p:nvSpPr>
        <p:spPr>
          <a:xfrm>
            <a:off x="543507" y="5790389"/>
            <a:ext cx="10677768" cy="83387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current trend − machine-learning potentials (force fields) trained on </a:t>
            </a:r>
            <a:r>
              <a:rPr lang="en-US" sz="2100" i="1" dirty="0"/>
              <a:t>ab initio</a:t>
            </a:r>
            <a:r>
              <a:rPr lang="en-US" sz="2100" dirty="0"/>
              <a:t> molecular dynamics</a:t>
            </a:r>
          </a:p>
          <a:p>
            <a:pPr lvl="1"/>
            <a:r>
              <a:rPr lang="en-US" sz="1500" dirty="0"/>
              <a:t>not trivial, usually slower than conventional force fields, require high-quality training data, can fail on unfamiliar configurations, system-specific, etc.; available in newest GROMACS versions</a:t>
            </a:r>
          </a:p>
        </p:txBody>
      </p:sp>
    </p:spTree>
    <p:extLst>
      <p:ext uri="{BB962C8B-B14F-4D97-AF65-F5344CB8AC3E}">
        <p14:creationId xmlns:p14="http://schemas.microsoft.com/office/powerpoint/2010/main" val="3405355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evolution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15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4B21329C-3CB3-7AE8-5051-5B17F2C531A4}"/>
              </a:ext>
            </a:extLst>
          </p:cNvPr>
          <p:cNvSpPr txBox="1">
            <a:spLocks/>
          </p:cNvSpPr>
          <p:nvPr/>
        </p:nvSpPr>
        <p:spPr>
          <a:xfrm>
            <a:off x="619123" y="1426558"/>
            <a:ext cx="9941847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567"/>
              </a:spcBef>
              <a:spcAft>
                <a:spcPts val="1981"/>
              </a:spcAft>
              <a:buClr>
                <a:srgbClr val="EF2929"/>
              </a:buClr>
              <a:buSzPct val="45000"/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07487-EC1A-FD77-5DD7-7F1FF2FD952C}"/>
              </a:ext>
            </a:extLst>
          </p:cNvPr>
          <p:cNvSpPr txBox="1"/>
          <p:nvPr/>
        </p:nvSpPr>
        <p:spPr>
          <a:xfrm>
            <a:off x="725392" y="5787122"/>
            <a:ext cx="5024160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i="0" u="none" strike="noStrike" kern="1200" cap="none" dirty="0">
                <a:ln>
                  <a:noFill/>
                </a:ln>
                <a:ea typeface="DejaVu Sans" pitchFamily="2"/>
                <a:cs typeface="DejaVu Sans" pitchFamily="2"/>
              </a:rPr>
              <a:t>http://atomsinmotion.com/book/chapter5/md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73D41C-B63A-4165-F5D0-950145AFA0C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0" y="1440000"/>
            <a:ext cx="4969080" cy="3666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ástupný symbol pro obsah 2">
                <a:extLst>
                  <a:ext uri="{FF2B5EF4-FFF2-40B4-BE49-F238E27FC236}">
                    <a16:creationId xmlns:a16="http://schemas.microsoft.com/office/drawing/2014/main" id="{56825D25-CB25-D7D0-021C-2593DF588A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5950" y="1274158"/>
                <a:ext cx="5542241" cy="491025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Every atom has a unique position </a:t>
                </a:r>
                <a:br>
                  <a:rPr lang="en-US" dirty="0"/>
                </a:br>
                <a:r>
                  <a:rPr lang="en-US" dirty="0"/>
                  <a:t>(in this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and velocity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) .</a:t>
                </a:r>
              </a:p>
              <a:p>
                <a:endParaRPr lang="en-US" dirty="0"/>
              </a:p>
              <a:p>
                <a:r>
                  <a:rPr lang="en-US" dirty="0"/>
                  <a:t>They move according to Newton's laws of motion.</a:t>
                </a:r>
              </a:p>
              <a:p>
                <a:endParaRPr lang="en-US" dirty="0"/>
              </a:p>
              <a:p>
                <a:r>
                  <a:rPr lang="en-US" dirty="0"/>
                  <a:t>Acceleration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) acts on every atom and is determined by the force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/>
                  <a:t>) acting on the atom divided by the atom's mass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). </a:t>
                </a:r>
                <a:endParaRPr lang="en-US" sz="3200" dirty="0"/>
              </a:p>
            </p:txBody>
          </p:sp>
        </mc:Choice>
        <mc:Fallback xmlns="">
          <p:sp>
            <p:nvSpPr>
              <p:cNvPr id="9" name="Zástupný symbol pro obsah 2">
                <a:extLst>
                  <a:ext uri="{FF2B5EF4-FFF2-40B4-BE49-F238E27FC236}">
                    <a16:creationId xmlns:a16="http://schemas.microsoft.com/office/drawing/2014/main" id="{56825D25-CB25-D7D0-021C-2593DF58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950" y="1274158"/>
                <a:ext cx="5542241" cy="4910257"/>
              </a:xfrm>
              <a:prstGeom prst="rect">
                <a:avLst/>
              </a:prstGeom>
              <a:blipFill>
                <a:blip r:embed="rId4"/>
                <a:stretch>
                  <a:fillRect l="-1540" t="-1613" r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542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step: optimal </a:t>
            </a:r>
            <a:r>
              <a:rPr lang="el-GR" dirty="0"/>
              <a:t>Δ</a:t>
            </a:r>
            <a:r>
              <a:rPr lang="en-US" dirty="0"/>
              <a:t>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16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4B21329C-3CB3-7AE8-5051-5B17F2C531A4}"/>
              </a:ext>
            </a:extLst>
          </p:cNvPr>
          <p:cNvSpPr txBox="1">
            <a:spLocks/>
          </p:cNvSpPr>
          <p:nvPr/>
        </p:nvSpPr>
        <p:spPr>
          <a:xfrm>
            <a:off x="619123" y="1426558"/>
            <a:ext cx="9941847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567"/>
              </a:spcBef>
              <a:spcAft>
                <a:spcPts val="1981"/>
              </a:spcAft>
              <a:buClr>
                <a:srgbClr val="EF2929"/>
              </a:buClr>
              <a:buSzPct val="45000"/>
              <a:buNone/>
            </a:pPr>
            <a:endParaRPr lang="en-US" b="1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D7382DB3-1DC5-2017-9C71-5975E5C2B895}"/>
              </a:ext>
            </a:extLst>
          </p:cNvPr>
          <p:cNvSpPr txBox="1">
            <a:spLocks/>
          </p:cNvSpPr>
          <p:nvPr/>
        </p:nvSpPr>
        <p:spPr>
          <a:xfrm>
            <a:off x="466724" y="3134090"/>
            <a:ext cx="11258549" cy="276461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step: not too big, not too small.</a:t>
            </a:r>
          </a:p>
          <a:p>
            <a:endParaRPr lang="en-US" dirty="0"/>
          </a:p>
          <a:p>
            <a:r>
              <a:rPr lang="en-US" dirty="0"/>
              <a:t>Depends on the force field and its implementation.</a:t>
            </a:r>
          </a:p>
          <a:p>
            <a:endParaRPr lang="en-US" dirty="0"/>
          </a:p>
          <a:p>
            <a:r>
              <a:rPr lang="en-US" dirty="0"/>
              <a:t>Rule of thumb: at least, one order of magnitude shorter than a characteristic time of the fastest motion in the system.</a:t>
            </a:r>
          </a:p>
          <a:p>
            <a:pPr lvl="1"/>
            <a:r>
              <a:rPr lang="en-US" dirty="0"/>
              <a:t>vibration of bonds, time scale ~10</a:t>
            </a:r>
            <a:r>
              <a:rPr lang="en-US" baseline="30000" dirty="0"/>
              <a:t>-14</a:t>
            </a:r>
            <a:r>
              <a:rPr lang="en-US" dirty="0"/>
              <a:t> s, </a:t>
            </a:r>
            <a:r>
              <a:rPr lang="en-US" i="1" dirty="0"/>
              <a:t>i.e.</a:t>
            </a:r>
            <a:r>
              <a:rPr lang="en-US" dirty="0"/>
              <a:t>, time step ~1–5 fs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040C71-B4D8-F0B2-D00B-448E55A78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570" y="1605836"/>
            <a:ext cx="6004859" cy="11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5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EA834541-8F9E-0033-7A4A-1D7C2E389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57" y="3246056"/>
            <a:ext cx="3075589" cy="3270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 and macro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17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89475812-878F-D94F-92B3-F471F6DC1395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7309166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Newton’s equations of motion govern microscopic evolution (atomic positions, atomic velocities).</a:t>
            </a:r>
          </a:p>
          <a:p>
            <a:pPr lvl="1"/>
            <a:endParaRPr lang="en-US" dirty="0"/>
          </a:p>
          <a:p>
            <a:r>
              <a:rPr lang="en-US" dirty="0"/>
              <a:t>They do not explicitly give macroscopic properties (e.g., temperature, pressure, etc.)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Macroscopic properties are obtained from trajectories via statistical mechanics (statistical thermodynamics).</a:t>
            </a:r>
          </a:p>
        </p:txBody>
      </p:sp>
      <p:pic>
        <p:nvPicPr>
          <p:cNvPr id="6" name="Picture 5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A5ECF844-06AA-B543-C633-AD7D1B962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527" y="117736"/>
            <a:ext cx="2813748" cy="302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25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 and macro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ástupný symbol pro obsah 2">
                <a:extLst>
                  <a:ext uri="{FF2B5EF4-FFF2-40B4-BE49-F238E27FC236}">
                    <a16:creationId xmlns:a16="http://schemas.microsoft.com/office/drawing/2014/main" id="{89475812-878F-D94F-92B3-F471F6DC13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5" y="1274158"/>
                <a:ext cx="7309166" cy="51341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Microscopic properties: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Macroscopic properties: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Zástupný symbol pro obsah 2">
                <a:extLst>
                  <a:ext uri="{FF2B5EF4-FFF2-40B4-BE49-F238E27FC236}">
                    <a16:creationId xmlns:a16="http://schemas.microsoft.com/office/drawing/2014/main" id="{89475812-878F-D94F-92B3-F471F6DC1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1274158"/>
                <a:ext cx="7309166" cy="5134100"/>
              </a:xfrm>
              <a:prstGeom prst="rect">
                <a:avLst/>
              </a:prstGeom>
              <a:blipFill>
                <a:blip r:embed="rId3"/>
                <a:stretch>
                  <a:fillRect l="-1168" t="-1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46583C-F4C1-2906-1B8B-FD678B7C2359}"/>
              </a:ext>
            </a:extLst>
          </p:cNvPr>
          <p:cNvCxnSpPr>
            <a:cxnSpLocks/>
          </p:cNvCxnSpPr>
          <p:nvPr/>
        </p:nvCxnSpPr>
        <p:spPr>
          <a:xfrm>
            <a:off x="3446765" y="1844472"/>
            <a:ext cx="0" cy="654423"/>
          </a:xfrm>
          <a:prstGeom prst="straightConnector1">
            <a:avLst/>
          </a:prstGeom>
          <a:ln w="60325">
            <a:solidFill>
              <a:schemeClr val="tx1">
                <a:alpha val="9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28FF82C2-B476-1C9C-ED01-8286E0072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291" y="3429000"/>
            <a:ext cx="2735032" cy="29358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F98585-5041-EDF8-3144-D10784514F5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953196" y="3161625"/>
            <a:ext cx="1934246" cy="2530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6CBFED-B85A-3400-425B-CB0FE0827FA8}"/>
              </a:ext>
            </a:extLst>
          </p:cNvPr>
          <p:cNvCxnSpPr>
            <a:cxnSpLocks/>
          </p:cNvCxnSpPr>
          <p:nvPr/>
        </p:nvCxnSpPr>
        <p:spPr>
          <a:xfrm>
            <a:off x="5574815" y="4698191"/>
            <a:ext cx="814351" cy="0"/>
          </a:xfrm>
          <a:prstGeom prst="straightConnector1">
            <a:avLst/>
          </a:prstGeom>
          <a:ln w="60325">
            <a:solidFill>
              <a:schemeClr val="tx1">
                <a:alpha val="9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FC80630-E926-296D-5EF2-7B5ACB557020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064746" y="467344"/>
            <a:ext cx="3156529" cy="2329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543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Ensembles and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19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DA6B8105-DE86-8E36-39CF-57B902F1E1D0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7085801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Ergodic hypothesis: all accessible microstates are equiprobable over a long period of time. </a:t>
            </a:r>
          </a:p>
          <a:p>
            <a:pPr lvl="1"/>
            <a:r>
              <a:rPr lang="en-US" sz="2400" dirty="0"/>
              <a:t>Average over ensemble – average over time.</a:t>
            </a:r>
          </a:p>
          <a:p>
            <a:endParaRPr lang="en-US" dirty="0"/>
          </a:p>
          <a:p>
            <a:r>
              <a:rPr lang="en-US" dirty="0"/>
              <a:t>Macroscopic properties are given by probability distribution within an ensemble.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 molecular dynamics simulations, we “move” within the ensemble</a:t>
            </a:r>
            <a:r>
              <a:rPr lang="ru-RU" dirty="0"/>
              <a:t> </a:t>
            </a:r>
            <a:r>
              <a:rPr lang="cs-CZ" dirty="0"/>
              <a:t>and </a:t>
            </a:r>
            <a:r>
              <a:rPr lang="en-US" dirty="0"/>
              <a:t>reproduce its probability distribution.</a:t>
            </a:r>
          </a:p>
          <a:p>
            <a:pPr lvl="1"/>
            <a:r>
              <a:rPr lang="en-US" sz="2400" dirty="0"/>
              <a:t>Macroscopic properties can be estimated.</a:t>
            </a:r>
          </a:p>
          <a:p>
            <a:pPr lvl="1"/>
            <a:r>
              <a:rPr lang="en-US" sz="2400" dirty="0"/>
              <a:t>Applies to equilibrium molecular dynamics.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77A9D-4C2F-B9FC-38C3-56B8180C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665" y="1876415"/>
            <a:ext cx="2705100" cy="1657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E2C2EA-F341-83AD-D8AE-AAABBBDB3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3935" y="3614122"/>
            <a:ext cx="2057400" cy="857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D64DC8-B259-A767-B512-0FC5CFE8FC61}"/>
              </a:ext>
            </a:extLst>
          </p:cNvPr>
          <p:cNvSpPr txBox="1"/>
          <p:nvPr/>
        </p:nvSpPr>
        <p:spPr>
          <a:xfrm>
            <a:off x="8860314" y="4551729"/>
            <a:ext cx="1724642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dirty="0">
                <a:ln>
                  <a:noFill/>
                </a:ln>
                <a:ea typeface="DejaVu Sans" pitchFamily="2"/>
                <a:cs typeface="DejaVu Sans" pitchFamily="2"/>
              </a:rPr>
              <a:t>under equilibrium</a:t>
            </a:r>
          </a:p>
        </p:txBody>
      </p:sp>
    </p:spTree>
    <p:extLst>
      <p:ext uri="{BB962C8B-B14F-4D97-AF65-F5344CB8AC3E}">
        <p14:creationId xmlns:p14="http://schemas.microsoft.com/office/powerpoint/2010/main" val="2018116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Equilibrium vs. non-equilibrium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20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10422314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4B21329C-3CB3-7AE8-5051-5B17F2C531A4}"/>
              </a:ext>
            </a:extLst>
          </p:cNvPr>
          <p:cNvSpPr txBox="1">
            <a:spLocks/>
          </p:cNvSpPr>
          <p:nvPr/>
        </p:nvSpPr>
        <p:spPr>
          <a:xfrm>
            <a:off x="619123" y="1426558"/>
            <a:ext cx="9941847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567"/>
              </a:spcBef>
              <a:spcAft>
                <a:spcPts val="1981"/>
              </a:spcAft>
              <a:buClr>
                <a:srgbClr val="EF2929"/>
              </a:buClr>
              <a:buSzPct val="45000"/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E59803-D7F1-39EE-67C4-2D42313DA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252" y="1533525"/>
            <a:ext cx="7334250" cy="18954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1E9F69-7370-E41E-388D-8DE3C9791089}"/>
              </a:ext>
            </a:extLst>
          </p:cNvPr>
          <p:cNvCxnSpPr>
            <a:cxnSpLocks/>
          </p:cNvCxnSpPr>
          <p:nvPr/>
        </p:nvCxnSpPr>
        <p:spPr>
          <a:xfrm>
            <a:off x="2694339" y="3722631"/>
            <a:ext cx="5912189" cy="0"/>
          </a:xfrm>
          <a:prstGeom prst="straightConnector1">
            <a:avLst/>
          </a:prstGeom>
          <a:ln w="34925">
            <a:solidFill>
              <a:schemeClr val="tx1">
                <a:alpha val="9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F70FDB-A714-DDA8-2447-1020F6F07E39}"/>
              </a:ext>
            </a:extLst>
          </p:cNvPr>
          <p:cNvCxnSpPr>
            <a:cxnSpLocks/>
          </p:cNvCxnSpPr>
          <p:nvPr/>
        </p:nvCxnSpPr>
        <p:spPr>
          <a:xfrm flipH="1" flipV="1">
            <a:off x="9017538" y="3633922"/>
            <a:ext cx="140421" cy="746876"/>
          </a:xfrm>
          <a:prstGeom prst="straightConnector1">
            <a:avLst/>
          </a:prstGeom>
          <a:ln w="34925">
            <a:solidFill>
              <a:schemeClr val="tx1">
                <a:alpha val="9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092630-1872-B5ED-40DB-C80FD700C238}"/>
              </a:ext>
            </a:extLst>
          </p:cNvPr>
          <p:cNvSpPr txBox="1"/>
          <p:nvPr/>
        </p:nvSpPr>
        <p:spPr>
          <a:xfrm>
            <a:off x="2963830" y="3834020"/>
            <a:ext cx="4209193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dirty="0">
                <a:ea typeface="DejaVu Sans" pitchFamily="2"/>
                <a:cs typeface="DejaVu Sans" pitchFamily="2"/>
              </a:rPr>
              <a:t>a molecular simulation of ink dissolving in water </a:t>
            </a:r>
            <a:br>
              <a:rPr lang="en-US" sz="1600" dirty="0">
                <a:ea typeface="DejaVu Sans" pitchFamily="2"/>
                <a:cs typeface="DejaVu Sans" pitchFamily="2"/>
              </a:rPr>
            </a:br>
            <a:r>
              <a:rPr lang="en-US" sz="1600" dirty="0">
                <a:ea typeface="DejaVu Sans" pitchFamily="2"/>
                <a:cs typeface="DejaVu Sans" pitchFamily="2"/>
              </a:rPr>
              <a:t>is a system out of equilibrium </a:t>
            </a:r>
            <a:endParaRPr lang="en-US" sz="1600" i="0" u="none" strike="noStrike" kern="1200" cap="none" dirty="0">
              <a:ln>
                <a:noFill/>
              </a:ln>
              <a:ea typeface="DejaVu Sans" pitchFamily="2"/>
              <a:cs typeface="DejaVu Sans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23E17-4654-92FA-9A4B-CC0D40B5E1B1}"/>
              </a:ext>
            </a:extLst>
          </p:cNvPr>
          <p:cNvSpPr txBox="1"/>
          <p:nvPr/>
        </p:nvSpPr>
        <p:spPr>
          <a:xfrm>
            <a:off x="7666534" y="4590061"/>
            <a:ext cx="3278345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dirty="0">
                <a:ea typeface="DejaVu Sans" pitchFamily="2"/>
                <a:cs typeface="DejaVu Sans" pitchFamily="2"/>
              </a:rPr>
              <a:t>a molecular simulation of this liquid </a:t>
            </a:r>
            <a:br>
              <a:rPr lang="en-US" sz="1600" dirty="0">
                <a:ea typeface="DejaVu Sans" pitchFamily="2"/>
                <a:cs typeface="DejaVu Sans" pitchFamily="2"/>
              </a:rPr>
            </a:br>
            <a:r>
              <a:rPr lang="en-US" sz="1600" dirty="0">
                <a:ea typeface="DejaVu Sans" pitchFamily="2"/>
                <a:cs typeface="DejaVu Sans" pitchFamily="2"/>
              </a:rPr>
              <a:t>is a system under equilibrium</a:t>
            </a:r>
            <a:endParaRPr lang="en-US" sz="1600" i="0" u="none" strike="noStrike" kern="1200" cap="none" dirty="0">
              <a:ln>
                <a:noFill/>
              </a:ln>
              <a:ea typeface="DejaVu Sans" pitchFamily="2"/>
              <a:cs typeface="DejaVu Sans" pitchFamily="2"/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7059C2D6-6B07-96B8-43B8-2E3734265F0A}"/>
              </a:ext>
            </a:extLst>
          </p:cNvPr>
          <p:cNvSpPr/>
          <p:nvPr/>
        </p:nvSpPr>
        <p:spPr>
          <a:xfrm>
            <a:off x="7606423" y="1139135"/>
            <a:ext cx="4273795" cy="24199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r>
              <a:rPr lang="en-US" sz="1000" b="0" i="0" u="none" strike="noStrike" kern="1200" cap="none" dirty="0">
                <a:ln>
                  <a:noFill/>
                </a:ln>
                <a:ea typeface="DejaVu Sans" pitchFamily="2"/>
                <a:cs typeface="DejaVu Sans" pitchFamily="2"/>
              </a:rPr>
              <a:t>from https://www.easybiologyclass.com</a:t>
            </a:r>
          </a:p>
        </p:txBody>
      </p:sp>
    </p:spTree>
    <p:extLst>
      <p:ext uri="{BB962C8B-B14F-4D97-AF65-F5344CB8AC3E}">
        <p14:creationId xmlns:p14="http://schemas.microsoft.com/office/powerpoint/2010/main" val="3636140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 and macro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21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F740716-56AB-7131-9FA7-7D8AB40FE4B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568746" y="396876"/>
            <a:ext cx="3156529" cy="232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1948E7DA-D11C-6865-15BE-37C0D537A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255" y="3289041"/>
            <a:ext cx="2735032" cy="2935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ástupný symbol pro obsah 2">
                <a:extLst>
                  <a:ext uri="{FF2B5EF4-FFF2-40B4-BE49-F238E27FC236}">
                    <a16:creationId xmlns:a16="http://schemas.microsoft.com/office/drawing/2014/main" id="{0581173A-1AC9-087D-5599-D416023EE4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4" y="1274158"/>
                <a:ext cx="7762876" cy="51341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21A9C0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rgbClr val="39464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ea typeface="DejaVu Sans" pitchFamily="2"/>
                    <a:cs typeface="DejaVu Sans" pitchFamily="2"/>
                  </a:rPr>
                  <a:t>If we have velocities, we can calculate kinetic energy and further, e.g., temperature and pressure.</a:t>
                </a:r>
                <a:endParaRPr lang="en-US" sz="2400" dirty="0">
                  <a:solidFill>
                    <a:srgbClr val="39464A"/>
                  </a:solidFill>
                </a:endParaRPr>
              </a:p>
              <a:p>
                <a:endParaRPr lang="en-US" dirty="0"/>
              </a:p>
              <a:p>
                <a:r>
                  <a:rPr lang="en-US" sz="2000" dirty="0">
                    <a:solidFill>
                      <a:srgbClr val="39464A"/>
                    </a:solidFill>
                  </a:rPr>
                  <a:t>Relation to pressure: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9464A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39464A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>
                  <a:solidFill>
                    <a:srgbClr val="39464A"/>
                  </a:solidFill>
                  <a:ea typeface="DejaVu Sans" pitchFamily="2"/>
                  <a:cs typeface="DejaVu Sans" pitchFamily="2"/>
                </a:endParaRPr>
              </a:p>
              <a:p>
                <a:r>
                  <a:rPr lang="en-US" sz="2000" dirty="0">
                    <a:solidFill>
                      <a:srgbClr val="39464A"/>
                    </a:solidFill>
                    <a:ea typeface="DejaVu Sans" pitchFamily="2"/>
                    <a:cs typeface="DejaVu Sans" pitchFamily="2"/>
                  </a:rPr>
                  <a:t>Relation to temperature: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9464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39464A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rgbClr val="39464A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3946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i="0" u="none" strike="noStrike" kern="1200" cap="none" dirty="0">
                    <a:ln>
                      <a:noFill/>
                    </a:ln>
                    <a:solidFill>
                      <a:srgbClr val="39464A"/>
                    </a:solidFill>
                    <a:ea typeface="DejaVu Sans" pitchFamily="2"/>
                    <a:cs typeface="DejaVu Sans" pitchFamily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800" dirty="0">
                    <a:ea typeface="DejaVu Sans" pitchFamily="2"/>
                    <a:cs typeface="DejaVu Sans" pitchFamily="2"/>
                  </a:rPr>
                  <a:t> – Boltzmann constant</a:t>
                </a:r>
                <a:endParaRPr lang="en-US" sz="1800" i="0" u="none" strike="noStrike" kern="1200" cap="none" dirty="0">
                  <a:ln>
                    <a:noFill/>
                  </a:ln>
                  <a:solidFill>
                    <a:srgbClr val="39464A"/>
                  </a:solidFill>
                  <a:ea typeface="DejaVu Sans" pitchFamily="2"/>
                  <a:cs typeface="DejaVu Sans" pitchFamily="2"/>
                </a:endParaRPr>
              </a:p>
              <a:p>
                <a:endParaRPr lang="en-US" i="0" u="none" strike="noStrike" kern="1200" cap="none" dirty="0">
                  <a:ln>
                    <a:noFill/>
                  </a:ln>
                  <a:solidFill>
                    <a:srgbClr val="39464A"/>
                  </a:solidFill>
                  <a:ea typeface="DejaVu Sans" pitchFamily="2"/>
                  <a:cs typeface="DejaVu Sans" pitchFamily="2"/>
                </a:endParaRPr>
              </a:p>
              <a:p>
                <a:r>
                  <a:rPr lang="en-US" dirty="0"/>
                  <a:t>However, Newton’s equations of motion </a:t>
                </a:r>
                <a:r>
                  <a:rPr lang="en-US" i="1" dirty="0"/>
                  <a:t>per se</a:t>
                </a:r>
                <a:r>
                  <a:rPr lang="en-US" dirty="0"/>
                  <a:t> correspond to the constant energy in the system.</a:t>
                </a:r>
              </a:p>
              <a:p>
                <a:pPr lvl="1"/>
                <a:r>
                  <a:rPr lang="en-US" dirty="0"/>
                  <a:t>Temperature and pressure do not change unless they are adjusted by special algorithms .</a:t>
                </a:r>
              </a:p>
            </p:txBody>
          </p:sp>
        </mc:Choice>
        <mc:Fallback xmlns="">
          <p:sp>
            <p:nvSpPr>
              <p:cNvPr id="44" name="Zástupný symbol pro obsah 2">
                <a:extLst>
                  <a:ext uri="{FF2B5EF4-FFF2-40B4-BE49-F238E27FC236}">
                    <a16:creationId xmlns:a16="http://schemas.microsoft.com/office/drawing/2014/main" id="{0581173A-1AC9-087D-5599-D416023EE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4" y="1274158"/>
                <a:ext cx="7762876" cy="5134100"/>
              </a:xfrm>
              <a:prstGeom prst="rect">
                <a:avLst/>
              </a:prstGeom>
              <a:blipFill>
                <a:blip r:embed="rId5"/>
                <a:stretch>
                  <a:fillRect l="-1100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AC82AB-A5D4-26AD-FA15-28C91E70FE87}"/>
              </a:ext>
            </a:extLst>
          </p:cNvPr>
          <p:cNvSpPr txBox="1"/>
          <p:nvPr/>
        </p:nvSpPr>
        <p:spPr>
          <a:xfrm>
            <a:off x="8820988" y="2778773"/>
            <a:ext cx="2904287" cy="29259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i="0" u="none" strike="noStrike" kern="1200" cap="none" dirty="0">
                <a:ln>
                  <a:noFill/>
                </a:ln>
                <a:ea typeface="DejaVu Sans" pitchFamily="2"/>
                <a:cs typeface="DejaVu Sans" pitchFamily="2"/>
              </a:rPr>
              <a:t>http://atomsinmotion.com/book/chapter5/md</a:t>
            </a:r>
          </a:p>
        </p:txBody>
      </p:sp>
    </p:spTree>
    <p:extLst>
      <p:ext uri="{BB962C8B-B14F-4D97-AF65-F5344CB8AC3E}">
        <p14:creationId xmlns:p14="http://schemas.microsoft.com/office/powerpoint/2010/main" val="907301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ensembles in 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22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DA6B8105-DE86-8E36-39CF-57B902F1E1D0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9829001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Typically named by three letters.</a:t>
            </a:r>
          </a:p>
          <a:p>
            <a:endParaRPr lang="en-US" sz="2400" dirty="0"/>
          </a:p>
          <a:p>
            <a:r>
              <a:rPr lang="en-US" sz="2400" b="1" dirty="0"/>
              <a:t>NVE (microcanonical ensemble):</a:t>
            </a:r>
          </a:p>
          <a:p>
            <a:pPr lvl="1"/>
            <a:r>
              <a:rPr lang="en-US" dirty="0"/>
              <a:t>N – number of particles (constant in a simulation).</a:t>
            </a:r>
          </a:p>
          <a:p>
            <a:pPr lvl="1"/>
            <a:r>
              <a:rPr lang="en-US" dirty="0"/>
              <a:t>V – volume (constant in a simulation).</a:t>
            </a:r>
          </a:p>
          <a:p>
            <a:pPr lvl="1"/>
            <a:r>
              <a:rPr lang="en-US" dirty="0"/>
              <a:t>E – energy (constant in a simulation).</a:t>
            </a:r>
          </a:p>
          <a:p>
            <a:pPr lvl="1"/>
            <a:endParaRPr lang="en-US" dirty="0"/>
          </a:p>
          <a:p>
            <a:r>
              <a:rPr lang="en-US" sz="2000" dirty="0"/>
              <a:t>Energy is not added nor removed, fixed volume, particles just move in a locked box.</a:t>
            </a:r>
            <a:endParaRPr lang="uk-UA" sz="2000" dirty="0"/>
          </a:p>
          <a:p>
            <a:pPr lvl="1"/>
            <a:r>
              <a:rPr lang="en-US" dirty="0"/>
              <a:t>Newton’s equations correspond to NVE (no external work, constant total energy, no heat exchange).</a:t>
            </a:r>
          </a:p>
          <a:p>
            <a:endParaRPr lang="en-US" sz="2000" dirty="0"/>
          </a:p>
          <a:p>
            <a:r>
              <a:rPr lang="en-US" sz="2000" dirty="0"/>
              <a:t>Not used in practice: biological simulations are not isolated, big temperature fluctuations, not flexible, convergence and stability issues, etc.</a:t>
            </a:r>
          </a:p>
        </p:txBody>
      </p:sp>
      <p:pic>
        <p:nvPicPr>
          <p:cNvPr id="10" name="Picture 9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F9BF73D9-3BB1-FCD4-DE7A-6DFEFD9F5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496" y="362146"/>
            <a:ext cx="2813748" cy="302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14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ensembles in 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23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DA6B8105-DE86-8E36-39CF-57B902F1E1D0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8405050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NVT (canonical ensemble, isothermal, Helmholtz canonical):</a:t>
            </a:r>
          </a:p>
          <a:p>
            <a:pPr lvl="1"/>
            <a:r>
              <a:rPr lang="en-US" dirty="0"/>
              <a:t>N – number of particles (constant in a simulation).</a:t>
            </a:r>
          </a:p>
          <a:p>
            <a:pPr lvl="1"/>
            <a:r>
              <a:rPr lang="en-US" dirty="0"/>
              <a:t>V – volume (constant in a simulation).</a:t>
            </a:r>
          </a:p>
          <a:p>
            <a:pPr lvl="1"/>
            <a:r>
              <a:rPr lang="en-US" dirty="0"/>
              <a:t>T – temperature (constant in a simulation).</a:t>
            </a:r>
          </a:p>
          <a:p>
            <a:pPr lvl="1"/>
            <a:endParaRPr lang="en-US" dirty="0"/>
          </a:p>
          <a:p>
            <a:r>
              <a:rPr lang="en-US" sz="2000" dirty="0"/>
              <a:t>Temperature is maintained at a desired value through the exchange of energy with the surroundings (conceptually, of course).</a:t>
            </a:r>
          </a:p>
          <a:p>
            <a:endParaRPr lang="en-US" sz="2000" dirty="0"/>
          </a:p>
          <a:p>
            <a:r>
              <a:rPr lang="en-US" sz="2000" dirty="0"/>
              <a:t>Sometimes used in bio: simple, stable, realistic enough, excellent for first equilibration stages.</a:t>
            </a:r>
          </a:p>
          <a:p>
            <a:endParaRPr lang="en-US" sz="2000" dirty="0"/>
          </a:p>
          <a:p>
            <a:r>
              <a:rPr lang="en-US" sz="2000" dirty="0"/>
              <a:t>Disadvantages – volume needs to change in many biosystems, compressibility pressure fluctuations, etc.</a:t>
            </a:r>
          </a:p>
        </p:txBody>
      </p:sp>
      <p:pic>
        <p:nvPicPr>
          <p:cNvPr id="6" name="Picture 5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232FFB21-B2C4-B9F7-FAB8-F3A6DEBB9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496" y="362146"/>
            <a:ext cx="2813748" cy="302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23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ensembles in 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24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DA6B8105-DE86-8E36-39CF-57B902F1E1D0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7958320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NPT (Gibbs canonical ensemble, isobaric-isothermal):</a:t>
            </a:r>
          </a:p>
          <a:p>
            <a:pPr lvl="1"/>
            <a:r>
              <a:rPr lang="en-US" dirty="0"/>
              <a:t>N – number of particles (constant in a simulation).</a:t>
            </a:r>
          </a:p>
          <a:p>
            <a:pPr lvl="1"/>
            <a:r>
              <a:rPr lang="en-US" dirty="0"/>
              <a:t>P – pressure (constant in a simulation).</a:t>
            </a:r>
          </a:p>
          <a:p>
            <a:pPr lvl="1"/>
            <a:r>
              <a:rPr lang="en-US" dirty="0"/>
              <a:t>T – temperature (constant in a simulation).</a:t>
            </a:r>
          </a:p>
          <a:p>
            <a:pPr lvl="1"/>
            <a:endParaRPr lang="en-US" dirty="0"/>
          </a:p>
          <a:p>
            <a:r>
              <a:rPr lang="en-US" sz="2000" dirty="0"/>
              <a:t>Both temperature and pressure are controlled; pressure is controlled through changing box dimensions.</a:t>
            </a:r>
          </a:p>
          <a:p>
            <a:endParaRPr lang="en-US" sz="2000" dirty="0"/>
          </a:p>
          <a:p>
            <a:r>
              <a:rPr lang="en-US" sz="2000" dirty="0"/>
              <a:t>99% use-case in biosimulations, replicates biological conditions, stable, flexible, direct comparison to experimental conditions.</a:t>
            </a:r>
          </a:p>
          <a:p>
            <a:endParaRPr lang="en-US" sz="2000" dirty="0"/>
          </a:p>
          <a:p>
            <a:r>
              <a:rPr lang="en-US" sz="2000" dirty="0"/>
              <a:t>Disadvantages – basically, technical and computational.</a:t>
            </a:r>
          </a:p>
        </p:txBody>
      </p:sp>
      <p:pic>
        <p:nvPicPr>
          <p:cNvPr id="8" name="Picture 7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C7DCD9C4-9D87-FF2A-378C-615FE5605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649" y="233742"/>
            <a:ext cx="3065091" cy="3020320"/>
          </a:xfrm>
          <a:prstGeom prst="rect">
            <a:avLst/>
          </a:prstGeom>
        </p:spPr>
      </p:pic>
      <p:pic>
        <p:nvPicPr>
          <p:cNvPr id="10" name="Picture 9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478484FA-4DBB-C194-16B2-3CD5B8C0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98" y="3680899"/>
            <a:ext cx="2296432" cy="244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6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ensembles in 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25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DA6B8105-DE86-8E36-39CF-57B902F1E1D0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7958320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Other examples:</a:t>
            </a:r>
          </a:p>
          <a:p>
            <a:endParaRPr lang="en-US" sz="2400" dirty="0"/>
          </a:p>
          <a:p>
            <a:pPr lvl="1"/>
            <a:r>
              <a:rPr lang="en-US" dirty="0"/>
              <a:t>NPH (</a:t>
            </a:r>
            <a:r>
              <a:rPr lang="en-US" dirty="0" err="1"/>
              <a:t>isoenthalpic</a:t>
            </a:r>
            <a:r>
              <a:rPr lang="en-US" dirty="0"/>
              <a:t>-isobaric: number of particles, pressure, enthalpy).</a:t>
            </a:r>
          </a:p>
          <a:p>
            <a:pPr lvl="1"/>
            <a:r>
              <a:rPr lang="en-US" dirty="0"/>
              <a:t>NPE (isobaric: number of particles, pressure, energy).</a:t>
            </a:r>
          </a:p>
          <a:p>
            <a:pPr lvl="1"/>
            <a:r>
              <a:rPr lang="en-US" dirty="0"/>
              <a:t>µVT (Grand canonical: chemical potential, volume, temperature).</a:t>
            </a:r>
          </a:p>
          <a:p>
            <a:pPr lvl="1"/>
            <a:r>
              <a:rPr lang="en-US" dirty="0"/>
              <a:t>µPT (chemical potential, pressure, temperature).</a:t>
            </a:r>
          </a:p>
          <a:p>
            <a:pPr lvl="2"/>
            <a:r>
              <a:rPr lang="en-US" dirty="0"/>
              <a:t>µVT and µPT are usually used in Monte-Carlo simulations.</a:t>
            </a:r>
          </a:p>
          <a:p>
            <a:pPr lvl="1"/>
            <a:r>
              <a:rPr lang="en-US" dirty="0"/>
              <a:t>NP</a:t>
            </a:r>
            <a:r>
              <a:rPr lang="el-GR" dirty="0"/>
              <a:t>γ</a:t>
            </a:r>
            <a:r>
              <a:rPr lang="en-US" dirty="0"/>
              <a:t>T (number of particles, pressure, surface tension, temperature).</a:t>
            </a:r>
          </a:p>
          <a:p>
            <a:pPr lvl="1"/>
            <a:r>
              <a:rPr lang="en-US" dirty="0"/>
              <a:t>…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 think you will never use them.</a:t>
            </a:r>
          </a:p>
        </p:txBody>
      </p:sp>
      <p:pic>
        <p:nvPicPr>
          <p:cNvPr id="7" name="Picture 6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BBB0A5D1-DADE-E7AD-9297-9E44E5274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496" y="362146"/>
            <a:ext cx="2813748" cy="302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75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F143-DE59-ABAD-F458-DBC59BDA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573E-66D8-5D5D-CB73-69F6C678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Bonus: energy minimization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B6D3F-EAAB-626D-907A-CE63A47E1E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26</a:t>
            </a:fld>
            <a:endParaRPr lang="en-US"/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809C247D-1AF3-8867-DB7F-D1ED798F1CF5}"/>
              </a:ext>
            </a:extLst>
          </p:cNvPr>
          <p:cNvSpPr txBox="1">
            <a:spLocks/>
          </p:cNvSpPr>
          <p:nvPr/>
        </p:nvSpPr>
        <p:spPr>
          <a:xfrm>
            <a:off x="466724" y="1274158"/>
            <a:ext cx="7958320" cy="5134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Used to </a:t>
            </a:r>
            <a:r>
              <a:rPr lang="en-US" sz="2400" dirty="0"/>
              <a:t>relax the initial structure, removing steric clashes and unrealistic geometries</a:t>
            </a:r>
          </a:p>
          <a:p>
            <a:endParaRPr lang="en-US" dirty="0"/>
          </a:p>
          <a:p>
            <a:r>
              <a:rPr lang="en-US" dirty="0"/>
              <a:t>Brings the system to a local energy minimum</a:t>
            </a:r>
          </a:p>
          <a:p>
            <a:endParaRPr lang="en-US" dirty="0"/>
          </a:p>
          <a:p>
            <a:r>
              <a:rPr lang="en-US" dirty="0"/>
              <a:t>Minimizes possible numerical crashes</a:t>
            </a:r>
          </a:p>
          <a:p>
            <a:endParaRPr lang="en-US" dirty="0"/>
          </a:p>
          <a:p>
            <a:r>
              <a:rPr lang="en-US" dirty="0"/>
              <a:t>There is no reason why you should not use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Today we will test energy minimization, NVT, and NPT</a:t>
            </a:r>
          </a:p>
        </p:txBody>
      </p:sp>
      <p:pic>
        <p:nvPicPr>
          <p:cNvPr id="7" name="Picture 6" descr="A group of objects in a square&#10;&#10;Description automatically generated">
            <a:extLst>
              <a:ext uri="{FF2B5EF4-FFF2-40B4-BE49-F238E27FC236}">
                <a16:creationId xmlns:a16="http://schemas.microsoft.com/office/drawing/2014/main" id="{4603F2C4-C577-73F0-DD45-7ADF48A3C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496" y="362146"/>
            <a:ext cx="2813748" cy="302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59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746876"/>
            <a:ext cx="11258550" cy="518625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Break!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Get ready for practical session!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/>
          <a:lstStyle/>
          <a:p>
            <a:fld id="{AFE3D702-57F1-4CB0-B451-B14F76DC041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17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7690</TotalTime>
  <Words>1822</Words>
  <Application>Microsoft Office PowerPoint</Application>
  <PresentationFormat>Widescreen</PresentationFormat>
  <Paragraphs>314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DejaVu Sans</vt:lpstr>
      <vt:lpstr>Liberation Sans</vt:lpstr>
      <vt:lpstr>Office Theme</vt:lpstr>
      <vt:lpstr>C9555: A Practical Guide to Simulations  Week 5</vt:lpstr>
      <vt:lpstr>Get ready for practical session</vt:lpstr>
      <vt:lpstr>Acknowledgments</vt:lpstr>
      <vt:lpstr>More a discussion than monologue</vt:lpstr>
      <vt:lpstr>Get ready for practical session</vt:lpstr>
      <vt:lpstr>What is today?</vt:lpstr>
      <vt:lpstr>Today program</vt:lpstr>
      <vt:lpstr>Molecular Simulations: Physics, not Cartoon</vt:lpstr>
      <vt:lpstr>Quantum physics?</vt:lpstr>
      <vt:lpstr>Born-Oppenheimer approximation</vt:lpstr>
      <vt:lpstr>Born-Oppenheimer approximation</vt:lpstr>
      <vt:lpstr>Born-Oppenheimer approximation</vt:lpstr>
      <vt:lpstr>Born-Oppenheimer approximation</vt:lpstr>
      <vt:lpstr>Born-Oppenheimer approximation</vt:lpstr>
      <vt:lpstr>Time evolution</vt:lpstr>
      <vt:lpstr>Time step: optimal Δt</vt:lpstr>
      <vt:lpstr>Micro and macro</vt:lpstr>
      <vt:lpstr>Micro and macro</vt:lpstr>
      <vt:lpstr>Ensembles and time</vt:lpstr>
      <vt:lpstr>Equilibrium vs. non-equilibrium</vt:lpstr>
      <vt:lpstr>Micro and macro</vt:lpstr>
      <vt:lpstr>Statistical ensembles in MD</vt:lpstr>
      <vt:lpstr>Statistical ensembles in MD</vt:lpstr>
      <vt:lpstr>Statistical ensembles in MD</vt:lpstr>
      <vt:lpstr>Statistical ensembles in MD</vt:lpstr>
      <vt:lpstr>Bonus: energy minimization</vt:lpstr>
      <vt:lpstr>Break!  Get ready for practical session!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Michaela Palata</dc:creator>
  <cp:lastModifiedBy>Denys Biriukov</cp:lastModifiedBy>
  <cp:revision>1032</cp:revision>
  <cp:lastPrinted>2017-09-20T07:48:49Z</cp:lastPrinted>
  <dcterms:created xsi:type="dcterms:W3CDTF">2017-09-06T10:48:47Z</dcterms:created>
  <dcterms:modified xsi:type="dcterms:W3CDTF">2026-10-15T06:41:08Z</dcterms:modified>
</cp:coreProperties>
</file>