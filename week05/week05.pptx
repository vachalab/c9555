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5"/>
  </p:notesMasterIdLst>
  <p:sldIdLst>
    <p:sldId id="256" r:id="rId3"/>
    <p:sldId id="263" r:id="rId4"/>
    <p:sldId id="890" r:id="rId5"/>
    <p:sldId id="891" r:id="rId6"/>
    <p:sldId id="892" r:id="rId7"/>
    <p:sldId id="259" r:id="rId8"/>
    <p:sldId id="260" r:id="rId9"/>
    <p:sldId id="261" r:id="rId10"/>
    <p:sldId id="312" r:id="rId11"/>
    <p:sldId id="304" r:id="rId12"/>
    <p:sldId id="300" r:id="rId13"/>
    <p:sldId id="308" r:id="rId14"/>
    <p:sldId id="309" r:id="rId15"/>
    <p:sldId id="306" r:id="rId16"/>
    <p:sldId id="307" r:id="rId17"/>
    <p:sldId id="301" r:id="rId18"/>
    <p:sldId id="295" r:id="rId19"/>
    <p:sldId id="297" r:id="rId20"/>
    <p:sldId id="298" r:id="rId21"/>
    <p:sldId id="305" r:id="rId22"/>
    <p:sldId id="313" r:id="rId23"/>
    <p:sldId id="303" r:id="rId24"/>
    <p:sldId id="314" r:id="rId25"/>
    <p:sldId id="315" r:id="rId26"/>
    <p:sldId id="316" r:id="rId27"/>
    <p:sldId id="311" r:id="rId28"/>
    <p:sldId id="299" r:id="rId29"/>
    <p:sldId id="317" r:id="rId30"/>
    <p:sldId id="318" r:id="rId31"/>
    <p:sldId id="893" r:id="rId32"/>
    <p:sldId id="894" r:id="rId33"/>
    <p:sldId id="290" r:id="rId34"/>
  </p:sldIdLst>
  <p:sldSz cx="12192000" cy="6858000"/>
  <p:notesSz cx="6865938" cy="99964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A730314-C2C1-442C-A3AB-79DBAB885865}">
          <p14:sldIdLst>
            <p14:sldId id="256"/>
            <p14:sldId id="263"/>
            <p14:sldId id="890"/>
            <p14:sldId id="891"/>
            <p14:sldId id="892"/>
            <p14:sldId id="259"/>
            <p14:sldId id="260"/>
            <p14:sldId id="261"/>
            <p14:sldId id="312"/>
            <p14:sldId id="304"/>
            <p14:sldId id="300"/>
            <p14:sldId id="308"/>
            <p14:sldId id="309"/>
            <p14:sldId id="306"/>
            <p14:sldId id="307"/>
            <p14:sldId id="301"/>
            <p14:sldId id="295"/>
            <p14:sldId id="297"/>
            <p14:sldId id="298"/>
            <p14:sldId id="305"/>
            <p14:sldId id="313"/>
            <p14:sldId id="303"/>
            <p14:sldId id="314"/>
            <p14:sldId id="315"/>
            <p14:sldId id="316"/>
            <p14:sldId id="311"/>
            <p14:sldId id="299"/>
            <p14:sldId id="317"/>
            <p14:sldId id="318"/>
            <p14:sldId id="893"/>
            <p14:sldId id="894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96" autoAdjust="0"/>
    <p:restoredTop sz="94660"/>
  </p:normalViewPr>
  <p:slideViewPr>
    <p:cSldViewPr snapToGrid="0">
      <p:cViewPr varScale="1">
        <p:scale>
          <a:sx n="79" d="100"/>
          <a:sy n="79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390" y="5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tableStyles" Target="tableStyle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Arial"/>
              </a:rPr>
              <a:t>Click to move the slide</a:t>
            </a:r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8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86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r"/>
            <a:fld id="{4A3ABBCF-8C57-4EAE-8E77-00F50102FB75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6563" y="1249363"/>
            <a:ext cx="5992812" cy="3371850"/>
          </a:xfrm>
          <a:prstGeom prst="rect">
            <a:avLst/>
          </a:prstGeom>
        </p:spPr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686520" y="4810680"/>
            <a:ext cx="5491800" cy="3935160"/>
          </a:xfrm>
          <a:prstGeom prst="rect">
            <a:avLst/>
          </a:prstGeom>
        </p:spPr>
        <p:txBody>
          <a:bodyPr lIns="96480" tIns="48240" rIns="96480" bIns="48240">
            <a:noAutofit/>
          </a:bodyPr>
          <a:lstStyle/>
          <a:p>
            <a:pPr marL="216000" indent="-215280">
              <a:lnSpc>
                <a:spcPct val="100000"/>
              </a:lnSpc>
            </a:pPr>
            <a:r>
              <a:rPr lang="en-US" sz="2000" b="0" strike="noStrike" spc="-1">
                <a:latin typeface="Arial"/>
              </a:rPr>
              <a:t>Hello and welcome </a:t>
            </a:r>
          </a:p>
          <a:p>
            <a:pPr marL="216000" indent="-215280">
              <a:lnSpc>
                <a:spcPct val="100000"/>
              </a:lnSpc>
            </a:pPr>
            <a:r>
              <a:rPr lang="en-US" sz="2000" b="0" strike="noStrike" spc="-1">
                <a:latin typeface="Arial"/>
              </a:rPr>
              <a:t>My name is xxx and I am xxx of CEITEC. </a:t>
            </a:r>
          </a:p>
          <a:p>
            <a:pPr marL="216000" indent="-215280">
              <a:lnSpc>
                <a:spcPct val="100000"/>
              </a:lnSpc>
            </a:pPr>
            <a:r>
              <a:rPr lang="en-US" sz="2000" b="0" strike="noStrike" spc="-1">
                <a:latin typeface="Arial"/>
              </a:rPr>
              <a:t>It is my great pleasure to welcome you today and to introduce CEITEC – Central European Institute of Technology. </a:t>
            </a:r>
          </a:p>
          <a:p>
            <a:pPr marL="216000" indent="-215280">
              <a:lnSpc>
                <a:spcPct val="100000"/>
              </a:lnSpc>
            </a:pPr>
            <a:r>
              <a:rPr lang="en-US" sz="2000" b="0" strike="noStrike" spc="-1">
                <a:latin typeface="Arial"/>
              </a:rPr>
              <a:t>The story of CEITEC is much like science itself – exciting and in some ways unpredictable. So let me share with you some key moments of CEITEC’s history, its key achievements of the present and the outlook for its future. </a:t>
            </a:r>
          </a:p>
        </p:txBody>
      </p:sp>
      <p:sp>
        <p:nvSpPr>
          <p:cNvPr id="123" name="CustomShape 3"/>
          <p:cNvSpPr/>
          <p:nvPr/>
        </p:nvSpPr>
        <p:spPr>
          <a:xfrm>
            <a:off x="3889080" y="9495000"/>
            <a:ext cx="2974320" cy="500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480" tIns="48240" rIns="96480" bIns="48240" anchor="b">
            <a:noAutofit/>
          </a:bodyPr>
          <a:lstStyle/>
          <a:p>
            <a:pPr algn="r">
              <a:lnSpc>
                <a:spcPct val="100000"/>
              </a:lnSpc>
            </a:pPr>
            <a:fld id="{8B923BDB-D79A-40AB-88FB-6E64AF9E176C}" type="slidenum">
              <a:rPr lang="en-US" sz="1300" b="0" strike="noStrike" spc="-1">
                <a:solidFill>
                  <a:srgbClr val="000000"/>
                </a:solidFill>
                <a:latin typeface="Arial"/>
              </a:rPr>
              <a:t>1</a:t>
            </a:fld>
            <a:endParaRPr lang="en-US" sz="13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436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718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0586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6563" y="1249363"/>
            <a:ext cx="5994400" cy="3373437"/>
          </a:xfrm>
          <a:prstGeom prst="rect">
            <a:avLst/>
          </a:prstGeom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6520" y="4810680"/>
            <a:ext cx="5492160" cy="3935520"/>
          </a:xfrm>
          <a:prstGeom prst="rect">
            <a:avLst/>
          </a:prstGeom>
        </p:spPr>
        <p:txBody>
          <a:bodyPr lIns="96480" tIns="48240" rIns="96480" bIns="48240">
            <a:noAutofit/>
          </a:bodyPr>
          <a:lstStyle/>
          <a:p>
            <a:pPr marL="216000" indent="-21564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latin typeface="Arial"/>
              </a:rPr>
              <a:t>fix the table for typos and new changes</a:t>
            </a:r>
          </a:p>
        </p:txBody>
      </p:sp>
      <p:sp>
        <p:nvSpPr>
          <p:cNvPr id="389" name="CustomShape 3"/>
          <p:cNvSpPr/>
          <p:nvPr/>
        </p:nvSpPr>
        <p:spPr>
          <a:xfrm>
            <a:off x="3889080" y="9495000"/>
            <a:ext cx="297468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480" tIns="48240" rIns="96480" bIns="48240" anchor="b">
            <a:noAutofit/>
          </a:bodyPr>
          <a:lstStyle/>
          <a:p>
            <a:pPr algn="r">
              <a:lnSpc>
                <a:spcPct val="100000"/>
              </a:lnSpc>
            </a:pPr>
            <a:fld id="{374578D3-AEDD-41E5-A000-18D590F45271}" type="slidenum">
              <a:rPr lang="en-US" sz="1300" b="0" strike="noStrike" spc="-1">
                <a:latin typeface="Times New Roman"/>
              </a:rPr>
              <a:t>6</a:t>
            </a:fld>
            <a:endParaRPr lang="en-US" sz="13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6563" y="1249363"/>
            <a:ext cx="5994400" cy="3373437"/>
          </a:xfrm>
          <a:prstGeom prst="rect">
            <a:avLst/>
          </a:prstGeom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6520" y="4810680"/>
            <a:ext cx="5492160" cy="3935520"/>
          </a:xfrm>
          <a:prstGeom prst="rect">
            <a:avLst/>
          </a:prstGeom>
        </p:spPr>
        <p:txBody>
          <a:bodyPr lIns="96480" tIns="48240" rIns="96480" bIns="48240">
            <a:noAutofit/>
          </a:bodyPr>
          <a:lstStyle/>
          <a:p>
            <a:pPr marL="216000" indent="-21564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latin typeface="Arial"/>
              </a:rPr>
              <a:t>add sexy picture</a:t>
            </a:r>
          </a:p>
        </p:txBody>
      </p:sp>
      <p:sp>
        <p:nvSpPr>
          <p:cNvPr id="392" name="CustomShape 3"/>
          <p:cNvSpPr/>
          <p:nvPr/>
        </p:nvSpPr>
        <p:spPr>
          <a:xfrm>
            <a:off x="3889080" y="9495000"/>
            <a:ext cx="297468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480" tIns="48240" rIns="96480" bIns="48240" anchor="b">
            <a:noAutofit/>
          </a:bodyPr>
          <a:lstStyle/>
          <a:p>
            <a:pPr algn="r">
              <a:lnSpc>
                <a:spcPct val="100000"/>
              </a:lnSpc>
            </a:pPr>
            <a:fld id="{C5CB232C-A595-4EEB-90AF-ACE115AEAE27}" type="slidenum">
              <a:rPr lang="en-US" sz="1300" b="0" strike="noStrike" spc="-1">
                <a:latin typeface="Times New Roman"/>
              </a:rPr>
              <a:t>7</a:t>
            </a:fld>
            <a:endParaRPr lang="en-US" sz="13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6563" y="1249363"/>
            <a:ext cx="5994400" cy="3373437"/>
          </a:xfrm>
          <a:prstGeom prst="rect">
            <a:avLst/>
          </a:prstGeom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6520" y="4810680"/>
            <a:ext cx="5492160" cy="3935520"/>
          </a:xfrm>
          <a:prstGeom prst="rect">
            <a:avLst/>
          </a:prstGeom>
        </p:spPr>
        <p:txBody>
          <a:bodyPr lIns="96480" tIns="48240" rIns="96480" bIns="48240">
            <a:noAutofit/>
          </a:bodyPr>
          <a:lstStyle/>
          <a:p>
            <a:pPr marL="216000" indent="-21564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latin typeface="Arial"/>
              </a:rPr>
              <a:t>maybe, polish a bit</a:t>
            </a:r>
          </a:p>
        </p:txBody>
      </p:sp>
      <p:sp>
        <p:nvSpPr>
          <p:cNvPr id="395" name="CustomShape 3"/>
          <p:cNvSpPr/>
          <p:nvPr/>
        </p:nvSpPr>
        <p:spPr>
          <a:xfrm>
            <a:off x="3889080" y="9495000"/>
            <a:ext cx="297468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480" tIns="48240" rIns="96480" bIns="48240" anchor="b">
            <a:noAutofit/>
          </a:bodyPr>
          <a:lstStyle/>
          <a:p>
            <a:pPr algn="r">
              <a:lnSpc>
                <a:spcPct val="100000"/>
              </a:lnSpc>
            </a:pPr>
            <a:fld id="{62473977-02B5-4051-B8A7-26368C974E60}" type="slidenum">
              <a:rPr lang="en-US" sz="1300" b="0" strike="noStrike" spc="-1">
                <a:latin typeface="Times New Roman"/>
              </a:rPr>
              <a:t>8</a:t>
            </a:fld>
            <a:endParaRPr lang="en-US" sz="13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4A3ABBCF-8C57-4EAE-8E77-00F50102FB75}" type="slidenum">
              <a:rPr lang="en-US" sz="1400" b="0" strike="noStrike" spc="-1" smtClean="0">
                <a:latin typeface="Times New Roman"/>
              </a:rPr>
              <a:t>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71998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4A3ABBCF-8C57-4EAE-8E77-00F50102FB75}" type="slidenum">
              <a:rPr lang="en-US" sz="1400" b="0" strike="noStrike" spc="-1" smtClean="0">
                <a:latin typeface="Times New Roman"/>
              </a:rPr>
              <a:t>20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744973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36563" y="1249363"/>
            <a:ext cx="5994400" cy="3373437"/>
          </a:xfrm>
          <a:prstGeom prst="rect">
            <a:avLst/>
          </a:prstGeom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6520" y="4810680"/>
            <a:ext cx="5492160" cy="3935520"/>
          </a:xfrm>
          <a:prstGeom prst="rect">
            <a:avLst/>
          </a:prstGeom>
        </p:spPr>
        <p:txBody>
          <a:bodyPr lIns="96480" tIns="48240" rIns="96480" bIns="48240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482" name="CustomShape 3"/>
          <p:cNvSpPr/>
          <p:nvPr/>
        </p:nvSpPr>
        <p:spPr>
          <a:xfrm>
            <a:off x="3889080" y="9495000"/>
            <a:ext cx="2974680" cy="50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6480" tIns="48240" rIns="96480" bIns="48240" anchor="b">
            <a:noAutofit/>
          </a:bodyPr>
          <a:lstStyle/>
          <a:p>
            <a:pPr algn="r">
              <a:lnSpc>
                <a:spcPct val="100000"/>
              </a:lnSpc>
            </a:pPr>
            <a:fld id="{E7A7FC18-7C48-4FB6-8114-8F7B529219FA}" type="slidenum">
              <a:rPr lang="en-US" sz="1300" b="0" strike="noStrike" spc="-1">
                <a:latin typeface="Times New Roman"/>
              </a:rPr>
              <a:t>32</a:t>
            </a:fld>
            <a:endParaRPr lang="en-US" sz="1300" b="0" strike="noStrike" spc="-1"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609480" y="273240"/>
            <a:ext cx="10971720" cy="5309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ubTitle"/>
          </p:nvPr>
        </p:nvSpPr>
        <p:spPr>
          <a:xfrm>
            <a:off x="609480" y="273240"/>
            <a:ext cx="10971720" cy="53096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7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ti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wmf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w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wmf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6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ázek 6"/>
          <p:cNvPicPr/>
          <p:nvPr/>
        </p:nvPicPr>
        <p:blipFill>
          <a:blip r:embed="rId15"/>
          <a:stretch/>
        </p:blipFill>
        <p:spPr>
          <a:xfrm>
            <a:off x="277560" y="6423480"/>
            <a:ext cx="1660680" cy="210960"/>
          </a:xfrm>
          <a:prstGeom prst="rect">
            <a:avLst/>
          </a:prstGeom>
          <a:ln>
            <a:noFill/>
          </a:ln>
        </p:spPr>
      </p:pic>
      <p:pic>
        <p:nvPicPr>
          <p:cNvPr id="7" name="Obrázek 7"/>
          <p:cNvPicPr/>
          <p:nvPr/>
        </p:nvPicPr>
        <p:blipFill>
          <a:blip r:embed="rId16"/>
          <a:stretch/>
        </p:blipFill>
        <p:spPr>
          <a:xfrm>
            <a:off x="1440" y="0"/>
            <a:ext cx="12187800" cy="6856920"/>
          </a:xfrm>
          <a:prstGeom prst="rect">
            <a:avLst/>
          </a:prstGeom>
          <a:ln>
            <a:noFill/>
          </a:ln>
        </p:spPr>
      </p:pic>
      <p:pic>
        <p:nvPicPr>
          <p:cNvPr id="2" name="Obrázek 4"/>
          <p:cNvPicPr/>
          <p:nvPr/>
        </p:nvPicPr>
        <p:blipFill>
          <a:blip r:embed="rId17"/>
          <a:stretch/>
        </p:blipFill>
        <p:spPr>
          <a:xfrm>
            <a:off x="545400" y="508680"/>
            <a:ext cx="3809160" cy="1092960"/>
          </a:xfrm>
          <a:prstGeom prst="rect">
            <a:avLst/>
          </a:prstGeom>
          <a:ln>
            <a:noFill/>
          </a:ln>
        </p:spPr>
      </p:pic>
      <p:pic>
        <p:nvPicPr>
          <p:cNvPr id="3" name="Obrázek 6"/>
          <p:cNvPicPr/>
          <p:nvPr/>
        </p:nvPicPr>
        <p:blipFill>
          <a:blip r:embed="rId18"/>
          <a:stretch/>
        </p:blipFill>
        <p:spPr>
          <a:xfrm>
            <a:off x="9377280" y="696600"/>
            <a:ext cx="2279160" cy="648720"/>
          </a:xfrm>
          <a:prstGeom prst="rect">
            <a:avLst/>
          </a:prstGeom>
          <a:ln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r>
              <a:rPr lang="en-US" sz="18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 dirty="0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 dirty="0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 dirty="0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Obrázek 6"/>
          <p:cNvPicPr/>
          <p:nvPr/>
        </p:nvPicPr>
        <p:blipFill>
          <a:blip r:embed="rId15"/>
          <a:stretch/>
        </p:blipFill>
        <p:spPr>
          <a:xfrm>
            <a:off x="277560" y="6423480"/>
            <a:ext cx="1660680" cy="210960"/>
          </a:xfrm>
          <a:prstGeom prst="rect">
            <a:avLst/>
          </a:prstGeom>
          <a:ln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240"/>
            <a:ext cx="10971720" cy="114516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r>
              <a:rPr lang="en-US" sz="18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m.com/wp-content/uploads/MD-basics.pdf" TargetMode="External"/><Relationship Id="rId2" Type="http://schemas.openxmlformats.org/officeDocument/2006/relationships/hyperlink" Target="https://www.compchems.com/" TargetMode="Externa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denysbiriukov/survival_guide_simulations_c9555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denysbiriukov/survival_guide_simulations_c9555.gi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6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3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em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CustomShape 1"/>
          <p:cNvSpPr/>
          <p:nvPr/>
        </p:nvSpPr>
        <p:spPr>
          <a:xfrm>
            <a:off x="895320" y="3794400"/>
            <a:ext cx="7641360" cy="2623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6000" b="0" strike="noStrike" spc="-1" dirty="0">
                <a:solidFill>
                  <a:srgbClr val="21A9C0"/>
                </a:solidFill>
                <a:latin typeface="Arial"/>
                <a:ea typeface="DejaVu Sans"/>
              </a:rPr>
              <a:t>CEITEC </a:t>
            </a:r>
            <a:br>
              <a:rPr dirty="0"/>
            </a:br>
            <a:r>
              <a:rPr lang="en-US" sz="6000" b="0" strike="noStrike" spc="-1" dirty="0">
                <a:solidFill>
                  <a:srgbClr val="21A9C0"/>
                </a:solidFill>
                <a:latin typeface="Arial"/>
                <a:ea typeface="DejaVu Sans"/>
              </a:rPr>
              <a:t>at Masaryk University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88" name="CustomShape 2"/>
          <p:cNvSpPr/>
          <p:nvPr/>
        </p:nvSpPr>
        <p:spPr>
          <a:xfrm>
            <a:off x="895320" y="2960016"/>
            <a:ext cx="4881600" cy="83330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b="1" strike="noStrike" spc="-1" dirty="0">
                <a:solidFill>
                  <a:srgbClr val="000000"/>
                </a:solidFill>
                <a:latin typeface="Calibri"/>
              </a:rPr>
              <a:t>Making Drugs </a:t>
            </a:r>
            <a:r>
              <a:rPr lang="en-US" sz="3600" b="1" i="1" strike="noStrike" spc="-1" dirty="0">
                <a:solidFill>
                  <a:srgbClr val="000000"/>
                </a:solidFill>
                <a:latin typeface="Calibri"/>
              </a:rPr>
              <a:t>in silico</a:t>
            </a:r>
            <a:r>
              <a:rPr lang="cs-CZ" sz="3600" b="1" strike="noStrike" spc="-1" dirty="0">
                <a:solidFill>
                  <a:srgbClr val="000000"/>
                </a:solidFill>
                <a:latin typeface="Calibri"/>
              </a:rPr>
              <a:t>,</a:t>
            </a:r>
            <a:br>
              <a:rPr lang="en-US" sz="3600" dirty="0"/>
            </a:br>
            <a:r>
              <a:rPr lang="en-US" sz="3600" b="1" strike="noStrike" spc="-1" dirty="0">
                <a:solidFill>
                  <a:srgbClr val="000000"/>
                </a:solidFill>
                <a:latin typeface="Calibri"/>
              </a:rPr>
              <a:t>Part 1</a:t>
            </a:r>
            <a:endParaRPr lang="en-US" sz="3600" b="0" strike="noStrike" spc="-1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sp>
        <p:nvSpPr>
          <p:cNvPr id="10" name="CustomShape 4">
            <a:extLst>
              <a:ext uri="{FF2B5EF4-FFF2-40B4-BE49-F238E27FC236}">
                <a16:creationId xmlns:a16="http://schemas.microsoft.com/office/drawing/2014/main" id="{CD0EEDCD-AF8B-4D6B-80E5-3C8D8F3061B6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000" b="1" dirty="0"/>
              <a:t>Acknowledgements: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hlinkClick r:id="rId2"/>
              </a:rPr>
              <a:t>https://www.compchems.com</a:t>
            </a:r>
            <a:endParaRPr lang="cs-CZ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hlinkClick r:id="rId3"/>
              </a:rPr>
              <a:t>https://www.scm.com/wp-content/uploads/MD-basics.pdf</a:t>
            </a:r>
            <a:endParaRPr lang="cs-CZ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6885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C9418-C1B4-E24D-34E0-F8AF24A0D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ready for practical session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024433-C2E1-F022-EBBC-ACC72239D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33919" y="6408258"/>
            <a:ext cx="7887356" cy="21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7AC14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CEITEC at Masaryk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9E7B5-BF75-722C-CA1F-C82EDA076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rgbClr val="7AC14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FE3D702-57F1-4CB0-B451-B14F76DC041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85FEF03F-2172-DB01-140E-4F271948A5AB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1071468" cy="49102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Wolf computers with GPU (more comfortable to work on)</a:t>
            </a:r>
          </a:p>
          <a:p>
            <a:pPr lvl="1"/>
            <a:r>
              <a:rPr lang="en-US" dirty="0"/>
              <a:t>wolf04 (</a:t>
            </a:r>
            <a:r>
              <a:rPr lang="en-US"/>
              <a:t>not really good)</a:t>
            </a:r>
            <a:endParaRPr lang="en-US" dirty="0"/>
          </a:p>
          <a:p>
            <a:pPr lvl="1"/>
            <a:r>
              <a:rPr lang="en-US" dirty="0"/>
              <a:t>wolf05</a:t>
            </a:r>
          </a:p>
          <a:p>
            <a:pPr lvl="1"/>
            <a:r>
              <a:rPr lang="en-US" dirty="0"/>
              <a:t>wolf07</a:t>
            </a:r>
          </a:p>
          <a:p>
            <a:pPr lvl="1"/>
            <a:r>
              <a:rPr lang="en-US" dirty="0"/>
              <a:t>wolf08</a:t>
            </a:r>
          </a:p>
          <a:p>
            <a:pPr lvl="1"/>
            <a:r>
              <a:rPr lang="en-US" dirty="0"/>
              <a:t>wolf09</a:t>
            </a:r>
          </a:p>
          <a:p>
            <a:pPr lvl="1"/>
            <a:r>
              <a:rPr lang="en-US" dirty="0"/>
              <a:t>wolf12</a:t>
            </a:r>
          </a:p>
          <a:p>
            <a:pPr lvl="1"/>
            <a:r>
              <a:rPr lang="en-US" dirty="0"/>
              <a:t>wolf18</a:t>
            </a:r>
          </a:p>
          <a:p>
            <a:pPr lvl="1"/>
            <a:r>
              <a:rPr lang="en-US" dirty="0"/>
              <a:t>wolf19</a:t>
            </a:r>
          </a:p>
        </p:txBody>
      </p:sp>
    </p:spTree>
    <p:extLst>
      <p:ext uri="{BB962C8B-B14F-4D97-AF65-F5344CB8AC3E}">
        <p14:creationId xmlns:p14="http://schemas.microsoft.com/office/powerpoint/2010/main" val="852232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C9418-C1B4-E24D-34E0-F8AF24A0D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ready for practical session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024433-C2E1-F022-EBBC-ACC72239D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33919" y="6408258"/>
            <a:ext cx="7887356" cy="21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7AC14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CEITEC at Masaryk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9E7B5-BF75-722C-CA1F-C82EDA076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rgbClr val="7AC14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FE3D702-57F1-4CB0-B451-B14F76DC041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09E66E22-1163-D9A9-16BE-DB1475957E36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754551" cy="5350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cs typeface="Courier New" panose="02070309020205020404" pitchFamily="49" charset="0"/>
              </a:rPr>
              <a:t>A bit of things to be done: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mv ~/survival_guide_simulations_c9555/week02/ ~/C9555/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rm –rf </a:t>
            </a:r>
            <a:r>
              <a:rPr lang="en-US" sz="24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{SURVIVAL_GUIDE_DIRECTORY}</a:t>
            </a:r>
          </a:p>
          <a:p>
            <a:pPr lvl="2"/>
            <a:r>
              <a:rPr lang="en-US" sz="2200" b="1" dirty="0">
                <a:cs typeface="Courier New" panose="02070309020205020404" pitchFamily="49" charset="0"/>
              </a:rPr>
              <a:t>BE SURE THAT PREVIOUS COMMAND (MV) WAS SUCCESSFUL BEFORE DELETING</a:t>
            </a:r>
          </a:p>
          <a:p>
            <a:pPr lvl="2"/>
            <a:endParaRPr lang="en-US" sz="2200" b="1" dirty="0">
              <a:cs typeface="Courier New" panose="02070309020205020404" pitchFamily="49" charset="0"/>
            </a:endParaRPr>
          </a:p>
          <a:p>
            <a:pPr lvl="2"/>
            <a:endParaRPr lang="en-US" sz="2200" b="1" dirty="0">
              <a:cs typeface="Courier New" panose="02070309020205020404" pitchFamily="49" charset="0"/>
            </a:endParaRPr>
          </a:p>
          <a:p>
            <a:pPr lvl="2"/>
            <a:endParaRPr lang="en-US" sz="2200" b="1" dirty="0">
              <a:cs typeface="Courier New" panose="02070309020205020404" pitchFamily="49" charset="0"/>
            </a:endParaRPr>
          </a:p>
          <a:p>
            <a:pPr lvl="2"/>
            <a:endParaRPr lang="en-US" sz="2200" b="1" dirty="0">
              <a:cs typeface="Courier New" panose="02070309020205020404" pitchFamily="49" charset="0"/>
            </a:endParaRPr>
          </a:p>
          <a:p>
            <a:pPr lvl="2"/>
            <a:endParaRPr lang="en-US" sz="2200" b="1" dirty="0">
              <a:cs typeface="Courier New" panose="02070309020205020404" pitchFamily="49" charset="0"/>
            </a:endParaRPr>
          </a:p>
          <a:p>
            <a:pPr lvl="2"/>
            <a:endParaRPr lang="en-US" sz="2200" b="1" dirty="0">
              <a:cs typeface="Courier New" panose="02070309020205020404" pitchFamily="49" charset="0"/>
            </a:endParaRPr>
          </a:p>
          <a:p>
            <a:pPr lvl="2"/>
            <a:endParaRPr lang="en-US" sz="2200" b="1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  <a:hlinkClick r:id="rId3"/>
              </a:rPr>
              <a:t>https://gitlab.com/denysbiriukov/survival_guide_simulations_c9555</a:t>
            </a:r>
            <a:endParaRPr lang="en-US" dirty="0"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2042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C9418-C1B4-E24D-34E0-F8AF24A0D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ready for practical session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024433-C2E1-F022-EBBC-ACC72239D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33919" y="6408258"/>
            <a:ext cx="7887356" cy="21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rgbClr val="7AC14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CEITEC at Masaryk University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9E7B5-BF75-722C-CA1F-C82EDA076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200" b="1" kern="1200">
                <a:solidFill>
                  <a:srgbClr val="7AC14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FE3D702-57F1-4CB0-B451-B14F76DC0414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09E66E22-1163-D9A9-16BE-DB1475957E36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754551" cy="5350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 clone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https://gitlab.com/denysbiriukov/survival_guide_simulations_c9555.git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survival_guide_simulations_c9555/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week03/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bash ../infinity/infinity-temp.sh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cp /storage/brno14-ceitec/shared/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softmatter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mr_dizzy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teaching/ .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3273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466560" y="365040"/>
            <a:ext cx="11257920" cy="82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</a:rPr>
              <a:t>What is today?</a:t>
            </a:r>
            <a:endParaRPr lang="en-US" sz="3600" b="1" strike="noStrike" spc="-1" dirty="0">
              <a:latin typeface="Arial"/>
            </a:endParaRPr>
          </a:p>
        </p:txBody>
      </p:sp>
      <p:sp>
        <p:nvSpPr>
          <p:cNvPr id="104" name="CustomShape 2"/>
          <p:cNvSpPr/>
          <p:nvPr/>
        </p:nvSpPr>
        <p:spPr>
          <a:xfrm>
            <a:off x="3333960" y="6408360"/>
            <a:ext cx="788652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00" b="0" strike="noStrike" spc="-1">
                <a:solidFill>
                  <a:srgbClr val="7AC143"/>
                </a:solidFill>
                <a:latin typeface="Arial"/>
              </a:rPr>
              <a:t>CEITEC at Masaryk University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05" name="CustomShape 3"/>
          <p:cNvSpPr/>
          <p:nvPr/>
        </p:nvSpPr>
        <p:spPr>
          <a:xfrm>
            <a:off x="11221200" y="6408360"/>
            <a:ext cx="5032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59A14CA8-F458-4982-9786-9A59F21C193E}" type="slidenum">
              <a:rPr lang="en-US" sz="1200" b="1" strike="noStrike" spc="-1">
                <a:solidFill>
                  <a:srgbClr val="7AC143"/>
                </a:solidFill>
                <a:latin typeface="Arial"/>
              </a:rPr>
              <a:t>6</a:t>
            </a:fld>
            <a:endParaRPr lang="en-US" sz="1200" b="0" strike="noStrike" spc="-1">
              <a:latin typeface="Arial"/>
            </a:endParaRPr>
          </a:p>
        </p:txBody>
      </p:sp>
      <p:sp>
        <p:nvSpPr>
          <p:cNvPr id="107" name="CustomShape 5"/>
          <p:cNvSpPr/>
          <p:nvPr/>
        </p:nvSpPr>
        <p:spPr>
          <a:xfrm>
            <a:off x="466560" y="1274040"/>
            <a:ext cx="4244040" cy="513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72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</a:pPr>
            <a:r>
              <a:rPr lang="en-US" sz="2400" b="1" strike="noStrike" spc="-1" dirty="0">
                <a:solidFill>
                  <a:srgbClr val="39464A"/>
                </a:solidFill>
                <a:latin typeface="Arial"/>
                <a:ea typeface="DejaVu Sans"/>
              </a:rPr>
              <a:t>Week </a:t>
            </a:r>
            <a:r>
              <a:rPr lang="cs-CZ" sz="2400" b="1" strike="noStrike" spc="-1" dirty="0">
                <a:solidFill>
                  <a:srgbClr val="39464A"/>
                </a:solidFill>
                <a:latin typeface="Arial"/>
                <a:ea typeface="DejaVu Sans"/>
              </a:rPr>
              <a:t>05</a:t>
            </a:r>
            <a:r>
              <a:rPr lang="en-US" sz="2400" b="1" strike="noStrike" spc="-1" dirty="0">
                <a:solidFill>
                  <a:srgbClr val="39464A"/>
                </a:solidFill>
                <a:latin typeface="Arial"/>
                <a:ea typeface="DejaVu Sans"/>
              </a:rPr>
              <a:t>:</a:t>
            </a:r>
            <a:br>
              <a:rPr sz="2400" b="1" dirty="0"/>
            </a:br>
            <a:endParaRPr lang="cs-CZ" sz="2400" b="1" dirty="0"/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  <a:buFont typeface="Arial"/>
              <a:buChar char="•"/>
            </a:pPr>
            <a:r>
              <a:rPr lang="en-US" sz="2000" b="1" i="1" strike="noStrike" spc="-1" dirty="0">
                <a:solidFill>
                  <a:srgbClr val="39464A"/>
                </a:solidFill>
                <a:latin typeface="Arial"/>
                <a:ea typeface="DejaVu Sans"/>
              </a:rPr>
              <a:t>Making Drugs in silico Part I</a:t>
            </a:r>
            <a:endParaRPr lang="en-US" sz="2000" b="1" i="1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lang="cs-CZ" sz="20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C417CE-1C85-4003-9806-C1BF6D1987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902" y="2645989"/>
            <a:ext cx="2794637" cy="3734651"/>
          </a:xfrm>
          <a:prstGeom prst="rect">
            <a:avLst/>
          </a:prstGeom>
        </p:spPr>
      </p:pic>
      <p:pic>
        <p:nvPicPr>
          <p:cNvPr id="10" name="table">
            <a:extLst>
              <a:ext uri="{FF2B5EF4-FFF2-40B4-BE49-F238E27FC236}">
                <a16:creationId xmlns:a16="http://schemas.microsoft.com/office/drawing/2014/main" id="{A3B44807-EFF8-463B-8C4F-3F9EBC421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530" y="1410676"/>
            <a:ext cx="6916950" cy="496996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CA2AC8A-6271-D248-485F-7BCB829CB0A9}"/>
              </a:ext>
            </a:extLst>
          </p:cNvPr>
          <p:cNvSpPr/>
          <p:nvPr/>
        </p:nvSpPr>
        <p:spPr>
          <a:xfrm>
            <a:off x="4807530" y="3429000"/>
            <a:ext cx="6916950" cy="384243"/>
          </a:xfrm>
          <a:prstGeom prst="rect">
            <a:avLst/>
          </a:prstGeom>
          <a:solidFill>
            <a:srgbClr val="21A9C0">
              <a:alpha val="40000"/>
            </a:srgbClr>
          </a:solidFill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466560" y="365040"/>
            <a:ext cx="11257920" cy="82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</a:rPr>
              <a:t>Today program</a:t>
            </a:r>
            <a:endParaRPr lang="en-US" sz="3600" b="1" strike="noStrike" spc="-1" dirty="0">
              <a:latin typeface="Arial"/>
            </a:endParaRPr>
          </a:p>
        </p:txBody>
      </p:sp>
      <p:sp>
        <p:nvSpPr>
          <p:cNvPr id="110" name="CustomShape 2"/>
          <p:cNvSpPr/>
          <p:nvPr/>
        </p:nvSpPr>
        <p:spPr>
          <a:xfrm>
            <a:off x="3333960" y="6408360"/>
            <a:ext cx="788652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00" b="0" strike="noStrike" spc="-1">
                <a:solidFill>
                  <a:srgbClr val="7AC143"/>
                </a:solidFill>
                <a:latin typeface="Arial"/>
              </a:rPr>
              <a:t>CEITEC at Masaryk University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11" name="CustomShape 3"/>
          <p:cNvSpPr/>
          <p:nvPr/>
        </p:nvSpPr>
        <p:spPr>
          <a:xfrm>
            <a:off x="11221200" y="6408360"/>
            <a:ext cx="5032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B4C8CF59-96B1-4990-9CB8-2C5BC4C5DB53}" type="slidenum">
              <a:rPr lang="en-US" sz="1200" b="1" strike="noStrike" spc="-1">
                <a:solidFill>
                  <a:srgbClr val="7AC143"/>
                </a:solidFill>
                <a:latin typeface="Arial"/>
              </a:rPr>
              <a:t>7</a:t>
            </a:fld>
            <a:endParaRPr lang="en-US" sz="1200" b="0" strike="noStrike" spc="-1">
              <a:latin typeface="Arial"/>
            </a:endParaRPr>
          </a:p>
        </p:txBody>
      </p:sp>
      <p:sp>
        <p:nvSpPr>
          <p:cNvPr id="112" name="CustomShape 4"/>
          <p:cNvSpPr/>
          <p:nvPr/>
        </p:nvSpPr>
        <p:spPr>
          <a:xfrm>
            <a:off x="466560" y="1274040"/>
            <a:ext cx="11070720" cy="490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Lecture (1</a:t>
            </a:r>
            <a:r>
              <a:rPr lang="en-US" sz="2000" b="0" strike="noStrike" spc="-1" baseline="30000" dirty="0">
                <a:solidFill>
                  <a:srgbClr val="39464A"/>
                </a:solidFill>
                <a:latin typeface="Arial"/>
                <a:ea typeface="DejaVu Sans"/>
              </a:rPr>
              <a:t>st</a:t>
            </a: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 hour)</a:t>
            </a:r>
            <a:endParaRPr lang="en-US" sz="20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000" b="0" strike="noStrike" spc="-1" dirty="0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Introduction to cell membranes; concept of a computational microscope</a:t>
            </a: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Lipids: structure and function, facts and myths</a:t>
            </a: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Thermostats and </a:t>
            </a:r>
            <a:r>
              <a:rPr lang="en-US" sz="2000" b="0" strike="noStrike" spc="-1" dirty="0" err="1">
                <a:solidFill>
                  <a:srgbClr val="39464A"/>
                </a:solidFill>
                <a:latin typeface="Arial"/>
                <a:ea typeface="DejaVu Sans"/>
              </a:rPr>
              <a:t>barostats</a:t>
            </a: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: what shall we know and why it is here</a:t>
            </a:r>
            <a:endParaRPr lang="en-US" sz="20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cs-CZ" sz="2000" b="0" strike="noStrike" spc="-1" dirty="0">
              <a:solidFill>
                <a:srgbClr val="39464A"/>
              </a:solidFill>
              <a:latin typeface="Arial"/>
              <a:ea typeface="DejaVu Sans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Practical session (2</a:t>
            </a:r>
            <a:r>
              <a:rPr lang="en-US" sz="2000" b="0" strike="noStrike" spc="-1" baseline="30000" dirty="0">
                <a:solidFill>
                  <a:srgbClr val="39464A"/>
                </a:solidFill>
                <a:latin typeface="Arial"/>
                <a:ea typeface="DejaVu Sans"/>
              </a:rPr>
              <a:t>nd</a:t>
            </a: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 and 3</a:t>
            </a:r>
            <a:r>
              <a:rPr lang="en-US" sz="2000" b="0" strike="noStrike" spc="-1" baseline="30000" dirty="0">
                <a:solidFill>
                  <a:srgbClr val="39464A"/>
                </a:solidFill>
                <a:latin typeface="Arial"/>
                <a:ea typeface="DejaVu Sans"/>
              </a:rPr>
              <a:t>rd</a:t>
            </a: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 hours)</a:t>
            </a:r>
            <a:endParaRPr lang="en-US" sz="2000" b="0" strike="noStrike" spc="-1" dirty="0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000" b="0" strike="noStrike" spc="-1" dirty="0"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39464A"/>
                </a:solidFill>
                <a:latin typeface="Arial"/>
                <a:ea typeface="DejaVu Sans"/>
              </a:rPr>
              <a:t>Introduction to CHARMM-GUI and building lipid membranes</a:t>
            </a:r>
            <a:endParaRPr lang="cs-CZ" sz="2000" b="0" strike="noStrike" spc="-1" dirty="0">
              <a:solidFill>
                <a:srgbClr val="39464A"/>
              </a:solidFill>
              <a:latin typeface="Arial"/>
              <a:ea typeface="DejaVu Sans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  <a:buFont typeface="Arial"/>
              <a:buChar char="•"/>
              <a:tabLst>
                <a:tab pos="0" algn="l"/>
              </a:tabLst>
            </a:pPr>
            <a:r>
              <a:rPr lang="cs-CZ" sz="2000" spc="-1" dirty="0" err="1">
                <a:solidFill>
                  <a:srgbClr val="39464A"/>
                </a:solidFill>
                <a:latin typeface="Arial"/>
              </a:rPr>
              <a:t>Analyzing</a:t>
            </a:r>
            <a:r>
              <a:rPr lang="cs-CZ" sz="2000" spc="-1" dirty="0">
                <a:solidFill>
                  <a:srgbClr val="39464A"/>
                </a:solidFill>
                <a:latin typeface="Arial"/>
              </a:rPr>
              <a:t> </a:t>
            </a:r>
            <a:r>
              <a:rPr lang="cs-CZ" sz="2000" spc="-1" dirty="0" err="1">
                <a:solidFill>
                  <a:srgbClr val="39464A"/>
                </a:solidFill>
                <a:latin typeface="Arial"/>
              </a:rPr>
              <a:t>me</a:t>
            </a:r>
            <a:r>
              <a:rPr lang="en-US" sz="2000" spc="-1" dirty="0" err="1">
                <a:solidFill>
                  <a:srgbClr val="39464A"/>
                </a:solidFill>
                <a:latin typeface="Arial"/>
              </a:rPr>
              <a:t>mbranes</a:t>
            </a:r>
            <a:endParaRPr lang="en-US" sz="2000" spc="-1" dirty="0">
              <a:solidFill>
                <a:srgbClr val="39464A"/>
              </a:solidFill>
              <a:latin typeface="Arial"/>
            </a:endParaRPr>
          </a:p>
          <a:p>
            <a:pPr marL="228600" indent="-227880">
              <a:lnSpc>
                <a:spcPct val="90000"/>
              </a:lnSpc>
              <a:spcBef>
                <a:spcPts val="1001"/>
              </a:spcBef>
              <a:buClr>
                <a:srgbClr val="21A9C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39464A"/>
                </a:solidFill>
                <a:latin typeface="Arial"/>
              </a:rPr>
              <a:t>Short tasks related to thermostats and </a:t>
            </a:r>
            <a:r>
              <a:rPr lang="en-US" sz="2000" b="0" strike="noStrike" spc="-1" dirty="0" err="1">
                <a:solidFill>
                  <a:srgbClr val="39464A"/>
                </a:solidFill>
                <a:latin typeface="Arial"/>
              </a:rPr>
              <a:t>barostats</a:t>
            </a:r>
            <a:endParaRPr lang="en-US" sz="2000" b="0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466560" y="365040"/>
            <a:ext cx="11257920" cy="824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</a:rPr>
              <a:t>More a discussion than monologue</a:t>
            </a:r>
            <a:endParaRPr lang="en-US" sz="3600" b="1" strike="noStrike" spc="-1" dirty="0">
              <a:latin typeface="Arial"/>
            </a:endParaRPr>
          </a:p>
        </p:txBody>
      </p:sp>
      <p:sp>
        <p:nvSpPr>
          <p:cNvPr id="114" name="CustomShape 2"/>
          <p:cNvSpPr/>
          <p:nvPr/>
        </p:nvSpPr>
        <p:spPr>
          <a:xfrm>
            <a:off x="3333960" y="6408360"/>
            <a:ext cx="788652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00" b="0" strike="noStrike" spc="-1">
                <a:solidFill>
                  <a:srgbClr val="7AC143"/>
                </a:solidFill>
                <a:latin typeface="Arial"/>
              </a:rPr>
              <a:t>CEITEC at Masaryk University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15" name="CustomShape 3"/>
          <p:cNvSpPr/>
          <p:nvPr/>
        </p:nvSpPr>
        <p:spPr>
          <a:xfrm>
            <a:off x="11221200" y="6408360"/>
            <a:ext cx="5032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5EC3EF90-6DD1-4141-A422-3AE3849F1B95}" type="slidenum">
              <a:rPr lang="en-US" sz="1200" b="1" strike="noStrike" spc="-1">
                <a:solidFill>
                  <a:srgbClr val="7AC143"/>
                </a:solidFill>
                <a:latin typeface="Arial"/>
              </a:rPr>
              <a:t>8</a:t>
            </a:fld>
            <a:endParaRPr lang="en-US" sz="1200" b="0" strike="noStrike" spc="-1">
              <a:latin typeface="Arial"/>
            </a:endParaRPr>
          </a:p>
        </p:txBody>
      </p:sp>
      <p:sp>
        <p:nvSpPr>
          <p:cNvPr id="116" name="CustomShape 4"/>
          <p:cNvSpPr/>
          <p:nvPr/>
        </p:nvSpPr>
        <p:spPr>
          <a:xfrm>
            <a:off x="466560" y="1274040"/>
            <a:ext cx="11070720" cy="490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1800" b="0" strike="noStrike" spc="-1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1800" b="0" strike="noStrike" spc="-1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200" b="0" strike="noStrike" spc="-1">
                <a:solidFill>
                  <a:srgbClr val="39464A"/>
                </a:solidFill>
                <a:latin typeface="Arial"/>
                <a:ea typeface="DejaVu Sans"/>
              </a:rPr>
              <a:t>If you have a quick question to catch up, raise your hand and ask – we will try to fix it and bring you back</a:t>
            </a:r>
            <a:endParaRPr lang="en-US" sz="3200" b="0" strike="noStrike" spc="-1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3200" b="0" strike="noStrike" spc="-1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3200" b="0" strike="noStrike" spc="-1">
                <a:solidFill>
                  <a:srgbClr val="39464A"/>
                </a:solidFill>
                <a:latin typeface="Arial"/>
                <a:ea typeface="DejaVu Sans"/>
              </a:rPr>
              <a:t>If quick answer does not help, let’s chat during a break or after</a:t>
            </a:r>
            <a:endParaRPr lang="en-US" sz="3200" b="0" strike="noStrike" spc="-1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968810B4-537A-4EF0-A24E-7A3557C2AF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0547" y="1242219"/>
            <a:ext cx="4683573" cy="469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0B52FE66-6470-4C98-B7BC-93414F4030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560" y="1242219"/>
            <a:ext cx="5732536" cy="469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502627-F909-4F0E-A688-72FC91610B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052" y="1242219"/>
            <a:ext cx="7438575" cy="4954091"/>
          </a:xfrm>
          <a:prstGeom prst="rect">
            <a:avLst/>
          </a:prstGeom>
        </p:spPr>
      </p:pic>
      <p:sp>
        <p:nvSpPr>
          <p:cNvPr id="10" name="CustomShape 4">
            <a:extLst>
              <a:ext uri="{FF2B5EF4-FFF2-40B4-BE49-F238E27FC236}">
                <a16:creationId xmlns:a16="http://schemas.microsoft.com/office/drawing/2014/main" id="{F6D02FD8-65F7-477D-8E69-A05A044DA9C5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000" b="1" dirty="0"/>
              <a:t>Cell </a:t>
            </a:r>
            <a:r>
              <a:rPr lang="cs-CZ" sz="2000" b="1" dirty="0" err="1"/>
              <a:t>theory</a:t>
            </a:r>
            <a:r>
              <a:rPr lang="cs-CZ" sz="2000" b="1" dirty="0"/>
              <a:t>:</a:t>
            </a:r>
          </a:p>
          <a:p>
            <a:r>
              <a:rPr lang="en-US" sz="2000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All known living things are made up of one or more cells</a:t>
            </a:r>
            <a:endParaRPr lang="cs-CZ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All living cells arise from pre-existing cells by division.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b="1" dirty="0"/>
              <a:t>The cell is the fundamental unit of structure and function in all living organisms.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The activity of an organism depends on the total activity of independent cells.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Energy flow (metabolism and biochemistry) occurs within cells.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Cells contain DNA which is found specifically in the chromosome and RNA found in the cell nucleus and cytoplasm</a:t>
            </a:r>
            <a:r>
              <a:rPr lang="cs-CZ" sz="2000" dirty="0"/>
              <a:t>.</a:t>
            </a: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b="1" dirty="0"/>
              <a:t>All cells are basically the same in chemical composition in organisms of similar species.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9269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088066-43A7-4EC7-9DFC-B2A535819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158" y="1180684"/>
            <a:ext cx="8183684" cy="4966725"/>
          </a:xfrm>
          <a:prstGeom prst="rect">
            <a:avLst/>
          </a:prstGeom>
        </p:spPr>
      </p:pic>
      <p:pic>
        <p:nvPicPr>
          <p:cNvPr id="6" name="Picture 2" descr="bilayer">
            <a:extLst>
              <a:ext uri="{FF2B5EF4-FFF2-40B4-BE49-F238E27FC236}">
                <a16:creationId xmlns:a16="http://schemas.microsoft.com/office/drawing/2014/main" id="{118C3075-1EC6-4298-860A-1398B959D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5400000">
            <a:off x="8007715" y="2788152"/>
            <a:ext cx="4360253" cy="2967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7" name="Picture 6" descr="membrane_f1">
            <a:extLst>
              <a:ext uri="{FF2B5EF4-FFF2-40B4-BE49-F238E27FC236}">
                <a16:creationId xmlns:a16="http://schemas.microsoft.com/office/drawing/2014/main" id="{77FFE187-60F9-4823-B747-12ED3E58D0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1" t="1536" r="1430"/>
          <a:stretch/>
        </p:blipFill>
        <p:spPr bwMode="auto">
          <a:xfrm>
            <a:off x="1687940" y="2091868"/>
            <a:ext cx="6894084" cy="431687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CustomShape 4">
            <a:extLst>
              <a:ext uri="{FF2B5EF4-FFF2-40B4-BE49-F238E27FC236}">
                <a16:creationId xmlns:a16="http://schemas.microsoft.com/office/drawing/2014/main" id="{E47CC5DD-D75E-4E4C-A31C-5D869C6DB911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altLang="en-US" sz="2000" b="1" dirty="0"/>
              <a:t>(</a:t>
            </a:r>
            <a:r>
              <a:rPr lang="cs-CZ" altLang="en-US" sz="2000" b="1" dirty="0" err="1"/>
              <a:t>Phospho</a:t>
            </a:r>
            <a:r>
              <a:rPr lang="cs-CZ" altLang="en-US" sz="2000" b="1" dirty="0"/>
              <a:t>)l</a:t>
            </a:r>
            <a:r>
              <a:rPr lang="en-US" altLang="en-US" sz="2000" b="1" dirty="0" err="1"/>
              <a:t>ipid</a:t>
            </a:r>
            <a:r>
              <a:rPr lang="en-US" altLang="en-US" sz="2000" b="1" dirty="0"/>
              <a:t> bilayer</a:t>
            </a:r>
            <a:r>
              <a:rPr lang="cs-CZ" altLang="en-US" sz="2000" b="1" dirty="0"/>
              <a:t>:</a:t>
            </a:r>
          </a:p>
          <a:p>
            <a:endParaRPr lang="cs-CZ" alt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altLang="en-US" sz="2000" dirty="0"/>
              <a:t>T</a:t>
            </a:r>
            <a:r>
              <a:rPr lang="en-US" altLang="en-US" sz="2000" dirty="0" err="1"/>
              <a:t>ough</a:t>
            </a:r>
            <a:r>
              <a:rPr lang="en-US" altLang="en-US" sz="2000" dirty="0"/>
              <a:t> flexible structure which forms a barrier</a:t>
            </a:r>
            <a:r>
              <a:rPr lang="cs-CZ" altLang="en-US" sz="2000" dirty="0"/>
              <a:t>.</a:t>
            </a:r>
            <a:r>
              <a:rPr lang="en-US" altLang="en-US" sz="2000" dirty="0"/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altLang="en-US" sz="2000" b="1" dirty="0">
                <a:solidFill>
                  <a:srgbClr val="FF0000"/>
                </a:solidFill>
              </a:rPr>
              <a:t>The PHOSPHOLIPID BILAYER is the basic</a:t>
            </a:r>
            <a:r>
              <a:rPr lang="cs-CZ" altLang="en-US" sz="2000" b="1" dirty="0">
                <a:solidFill>
                  <a:srgbClr val="FF0000"/>
                </a:solidFill>
              </a:rPr>
              <a:t> </a:t>
            </a:r>
            <a:r>
              <a:rPr lang="en-GB" altLang="en-US" sz="2000" b="1" dirty="0">
                <a:solidFill>
                  <a:srgbClr val="FF0000"/>
                </a:solidFill>
              </a:rPr>
              <a:t>structure of membranes.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63285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532DB8-73E6-4DCB-9DA9-6118BC8BE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896" y="2422753"/>
            <a:ext cx="3316224" cy="3724656"/>
          </a:xfrm>
          <a:prstGeom prst="rect">
            <a:avLst/>
          </a:prstGeom>
        </p:spPr>
      </p:pic>
      <p:sp>
        <p:nvSpPr>
          <p:cNvPr id="7" name="CustomShape 4">
            <a:extLst>
              <a:ext uri="{FF2B5EF4-FFF2-40B4-BE49-F238E27FC236}">
                <a16:creationId xmlns:a16="http://schemas.microsoft.com/office/drawing/2014/main" id="{C51CC1AF-3EBA-456A-8B34-BAD1ACA5EBA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400" b="1" dirty="0" err="1"/>
              <a:t>Composition</a:t>
            </a:r>
            <a:r>
              <a:rPr lang="cs-CZ" sz="2400" b="1" dirty="0"/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b="1" i="1" dirty="0"/>
              <a:t>TASK1</a:t>
            </a:r>
            <a:r>
              <a:rPr lang="en-US" sz="2000" dirty="0"/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sz="2000" dirty="0"/>
              <a:t> What are the common components of the various membranes? See </a:t>
            </a:r>
            <a:r>
              <a:rPr lang="en-US" sz="2000" i="1" dirty="0" err="1"/>
              <a:t>Jupyter</a:t>
            </a:r>
            <a:r>
              <a:rPr lang="en-US" sz="2000" i="1" dirty="0"/>
              <a:t> notebook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cs-CZ" sz="2000" dirty="0"/>
              <a:t>Cell </a:t>
            </a:r>
            <a:r>
              <a:rPr lang="cs-CZ" sz="2000" dirty="0" err="1"/>
              <a:t>membrane</a:t>
            </a:r>
            <a:r>
              <a:rPr lang="cs-CZ" sz="2000" dirty="0"/>
              <a:t> </a:t>
            </a:r>
            <a:r>
              <a:rPr lang="cs-CZ" sz="2000" dirty="0" err="1"/>
              <a:t>is</a:t>
            </a:r>
            <a:r>
              <a:rPr lang="cs-CZ" sz="2000" dirty="0"/>
              <a:t> </a:t>
            </a:r>
            <a:r>
              <a:rPr lang="cs-CZ" sz="2000" dirty="0" err="1"/>
              <a:t>composed</a:t>
            </a:r>
            <a:r>
              <a:rPr lang="cs-CZ" sz="2000" dirty="0"/>
              <a:t> </a:t>
            </a:r>
            <a:r>
              <a:rPr lang="cs-CZ" sz="2000" dirty="0" err="1"/>
              <a:t>of</a:t>
            </a:r>
            <a:r>
              <a:rPr lang="cs-CZ" sz="2000" dirty="0"/>
              <a:t> </a:t>
            </a:r>
            <a:r>
              <a:rPr lang="cs-CZ" sz="2000" dirty="0" err="1"/>
              <a:t>phospholipids</a:t>
            </a:r>
            <a:r>
              <a:rPr lang="cs-CZ" sz="2000" dirty="0"/>
              <a:t> and many </a:t>
            </a:r>
            <a:r>
              <a:rPr lang="cs-CZ" sz="2000" dirty="0" err="1"/>
              <a:t>other</a:t>
            </a:r>
            <a:r>
              <a:rPr lang="cs-CZ" sz="2000" dirty="0"/>
              <a:t> species…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4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400" b="1" dirty="0" err="1"/>
              <a:t>Phospholipids</a:t>
            </a:r>
            <a:r>
              <a:rPr lang="cs-CZ" sz="2400" b="1" dirty="0"/>
              <a:t> (</a:t>
            </a:r>
            <a:r>
              <a:rPr lang="cs-CZ" sz="2400" b="1" dirty="0" err="1"/>
              <a:t>PLs</a:t>
            </a:r>
            <a:r>
              <a:rPr lang="cs-CZ" sz="2400" b="1" dirty="0"/>
              <a:t>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H</a:t>
            </a:r>
            <a:r>
              <a:rPr lang="cs-CZ" sz="2000" b="1" dirty="0" err="1"/>
              <a:t>ydrophilic</a:t>
            </a:r>
            <a:r>
              <a:rPr lang="en-US" sz="2000" b="1" dirty="0"/>
              <a:t> heads </a:t>
            </a:r>
            <a:r>
              <a:rPr lang="en-US" sz="2000" dirty="0"/>
              <a:t>(water liking)</a:t>
            </a:r>
            <a:r>
              <a:rPr lang="cs-CZ" sz="2000" dirty="0"/>
              <a:t>,</a:t>
            </a:r>
            <a:endParaRPr lang="en-US" sz="20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cs-CZ" sz="2000" dirty="0"/>
              <a:t>a</a:t>
            </a:r>
            <a:r>
              <a:rPr lang="en-US" sz="2000" dirty="0" err="1"/>
              <a:t>ttracted</a:t>
            </a:r>
            <a:r>
              <a:rPr lang="en-US" sz="2000" dirty="0"/>
              <a:t> to the water</a:t>
            </a:r>
            <a:r>
              <a:rPr lang="cs-CZ" sz="2000" dirty="0"/>
              <a:t>, </a:t>
            </a:r>
            <a:r>
              <a:rPr lang="en-US" sz="2000" dirty="0"/>
              <a:t>called POLAR</a:t>
            </a:r>
            <a:br>
              <a:rPr lang="en-US" sz="2000" dirty="0"/>
            </a:br>
            <a:endParaRPr lang="en-US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b="1" dirty="0" err="1"/>
              <a:t>Hydrophobic</a:t>
            </a:r>
            <a:r>
              <a:rPr lang="en-US" sz="2000" b="1" dirty="0"/>
              <a:t> tails </a:t>
            </a:r>
            <a:r>
              <a:rPr lang="en-US" sz="2000" dirty="0"/>
              <a:t>(water fearing)</a:t>
            </a:r>
            <a:r>
              <a:rPr lang="cs-CZ" sz="2000" dirty="0"/>
              <a:t>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cs-CZ" sz="2000" dirty="0"/>
              <a:t>n</a:t>
            </a:r>
            <a:r>
              <a:rPr lang="en-US" sz="2000" dirty="0" err="1"/>
              <a:t>ot</a:t>
            </a:r>
            <a:r>
              <a:rPr lang="en-US" sz="2000" dirty="0"/>
              <a:t> attracted to the water</a:t>
            </a:r>
            <a:r>
              <a:rPr lang="cs-CZ" sz="2000" dirty="0"/>
              <a:t>, </a:t>
            </a:r>
            <a:r>
              <a:rPr lang="en-US" sz="2000" dirty="0"/>
              <a:t>called NON-POLAR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21291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EBFA7D-260E-448B-A75E-A8492D702A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5943" y="1386673"/>
            <a:ext cx="5128176" cy="4742822"/>
          </a:xfrm>
          <a:prstGeom prst="rect">
            <a:avLst/>
          </a:prstGeom>
        </p:spPr>
      </p:pic>
      <p:sp>
        <p:nvSpPr>
          <p:cNvPr id="7" name="CustomShape 4">
            <a:extLst>
              <a:ext uri="{FF2B5EF4-FFF2-40B4-BE49-F238E27FC236}">
                <a16:creationId xmlns:a16="http://schemas.microsoft.com/office/drawing/2014/main" id="{8870828A-7837-4354-BC3B-DE505C519AC4}"/>
              </a:ext>
            </a:extLst>
          </p:cNvPr>
          <p:cNvSpPr/>
          <p:nvPr/>
        </p:nvSpPr>
        <p:spPr>
          <a:xfrm>
            <a:off x="466560" y="1189440"/>
            <a:ext cx="5916124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400" b="1" dirty="0" err="1"/>
              <a:t>Composition</a:t>
            </a:r>
            <a:r>
              <a:rPr lang="cs-CZ" sz="2400" b="1" dirty="0"/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b="1" dirty="0" err="1"/>
              <a:t>Phospholipids</a:t>
            </a:r>
            <a:r>
              <a:rPr lang="cs-CZ" sz="2000" b="1" dirty="0"/>
              <a:t> (</a:t>
            </a:r>
            <a:r>
              <a:rPr lang="cs-CZ" sz="2000" b="1" dirty="0" err="1"/>
              <a:t>PLs</a:t>
            </a:r>
            <a:r>
              <a:rPr lang="cs-CZ" sz="2000" b="1" dirty="0"/>
              <a:t>):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cs-CZ" sz="2000" dirty="0" err="1"/>
              <a:t>Different</a:t>
            </a:r>
            <a:r>
              <a:rPr lang="cs-CZ" sz="2000" dirty="0"/>
              <a:t> </a:t>
            </a:r>
            <a:r>
              <a:rPr lang="cs-CZ" sz="2000" dirty="0" err="1"/>
              <a:t>head</a:t>
            </a:r>
            <a:r>
              <a:rPr lang="cs-CZ" sz="2000" dirty="0"/>
              <a:t> </a:t>
            </a:r>
            <a:r>
              <a:rPr lang="cs-CZ" sz="2000" dirty="0" err="1"/>
              <a:t>groups</a:t>
            </a:r>
            <a:r>
              <a:rPr lang="cs-CZ" sz="2000" dirty="0"/>
              <a:t> and </a:t>
            </a:r>
            <a:r>
              <a:rPr lang="cs-CZ" sz="2000" dirty="0" err="1"/>
              <a:t>different</a:t>
            </a:r>
            <a:r>
              <a:rPr lang="cs-CZ" sz="2000" dirty="0"/>
              <a:t> </a:t>
            </a:r>
            <a:r>
              <a:rPr lang="cs-CZ" sz="2000" dirty="0" err="1"/>
              <a:t>charge</a:t>
            </a:r>
            <a:endParaRPr lang="cs-CZ" sz="20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cs-CZ" sz="2000" dirty="0" err="1"/>
              <a:t>Different</a:t>
            </a:r>
            <a:r>
              <a:rPr lang="cs-CZ" sz="2000" dirty="0"/>
              <a:t> acyl </a:t>
            </a:r>
            <a:r>
              <a:rPr lang="cs-CZ" sz="2000" dirty="0" err="1"/>
              <a:t>chains</a:t>
            </a:r>
            <a:r>
              <a:rPr lang="cs-CZ" sz="2000" dirty="0"/>
              <a:t> and </a:t>
            </a:r>
            <a:r>
              <a:rPr lang="cs-CZ" sz="2000" dirty="0" err="1"/>
              <a:t>different</a:t>
            </a:r>
            <a:r>
              <a:rPr lang="cs-CZ" sz="2000" dirty="0"/>
              <a:t> </a:t>
            </a:r>
            <a:r>
              <a:rPr lang="cs-CZ" sz="2000" dirty="0" err="1"/>
              <a:t>saturation</a:t>
            </a:r>
            <a:r>
              <a:rPr lang="cs-CZ" sz="2000" dirty="0"/>
              <a:t> and </a:t>
            </a:r>
            <a:r>
              <a:rPr lang="cs-CZ" sz="2000" dirty="0" err="1"/>
              <a:t>thus</a:t>
            </a:r>
            <a:r>
              <a:rPr lang="cs-CZ" sz="2000" dirty="0"/>
              <a:t> </a:t>
            </a:r>
            <a:r>
              <a:rPr lang="cs-CZ" sz="2000" dirty="0" err="1"/>
              <a:t>different</a:t>
            </a:r>
            <a:r>
              <a:rPr lang="cs-CZ" sz="2000" dirty="0"/>
              <a:t> </a:t>
            </a:r>
            <a:r>
              <a:rPr lang="cs-CZ" sz="2000" dirty="0" err="1"/>
              <a:t>volume</a:t>
            </a: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777D6A-7F05-4C0F-B253-BF07B6C82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60" y="4099727"/>
            <a:ext cx="6049958" cy="1990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32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13B3E0-C4A8-4500-86EB-87758E241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884" y="1189440"/>
            <a:ext cx="2774957" cy="5219379"/>
          </a:xfrm>
          <a:prstGeom prst="rect">
            <a:avLst/>
          </a:prstGeom>
        </p:spPr>
      </p:pic>
      <p:sp>
        <p:nvSpPr>
          <p:cNvPr id="10" name="CustomShape 4">
            <a:extLst>
              <a:ext uri="{FF2B5EF4-FFF2-40B4-BE49-F238E27FC236}">
                <a16:creationId xmlns:a16="http://schemas.microsoft.com/office/drawing/2014/main" id="{021381A6-54B5-4D28-B95D-C333DAAB7E73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400" b="1" dirty="0" err="1"/>
              <a:t>Composition</a:t>
            </a:r>
            <a:r>
              <a:rPr lang="cs-CZ" sz="2400" b="1" dirty="0"/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b="1" dirty="0" err="1"/>
              <a:t>Phospholipids</a:t>
            </a:r>
            <a:r>
              <a:rPr lang="cs-CZ" sz="2000" b="1" dirty="0"/>
              <a:t> (</a:t>
            </a:r>
            <a:r>
              <a:rPr lang="cs-CZ" sz="2000" b="1" dirty="0" err="1"/>
              <a:t>PLs</a:t>
            </a:r>
            <a:r>
              <a:rPr lang="cs-CZ" sz="2000" b="1" dirty="0"/>
              <a:t>):</a:t>
            </a:r>
          </a:p>
          <a:p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C32D88-142C-4778-9A43-2943B243E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560" y="2059940"/>
            <a:ext cx="1866900" cy="4229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DF14FEC-0AE3-4D47-9DF1-A2CEA5953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3460" y="2059940"/>
            <a:ext cx="1504950" cy="4229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10155E-9872-40F7-8B67-1063576CDF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8410" y="2059940"/>
            <a:ext cx="1371600" cy="30670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0269259-67CA-48A9-BD79-CAA61F4893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0010" y="2059940"/>
            <a:ext cx="1333500" cy="313372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CB24994-53B9-4709-AC69-90D00CF6DEC3}"/>
              </a:ext>
            </a:extLst>
          </p:cNvPr>
          <p:cNvCxnSpPr>
            <a:cxnSpLocks/>
          </p:cNvCxnSpPr>
          <p:nvPr/>
        </p:nvCxnSpPr>
        <p:spPr>
          <a:xfrm>
            <a:off x="6381135" y="3626802"/>
            <a:ext cx="776749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4A0B2817-ED25-4EFD-AB1D-46A51610F7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7786" y="1189440"/>
            <a:ext cx="2594214" cy="3860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613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4129C3-4574-4841-90CB-FADFC7AB5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3249" y="2924175"/>
            <a:ext cx="3910871" cy="35687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EA2630-A0B7-485B-BDFF-DA663B52F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5703" y="2933438"/>
            <a:ext cx="4438415" cy="355952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F40584-166A-43A0-B15A-B8CF3BD2D1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9123" y="2919461"/>
            <a:ext cx="5224995" cy="3573497"/>
          </a:xfrm>
          <a:prstGeom prst="rect">
            <a:avLst/>
          </a:prstGeom>
        </p:spPr>
      </p:pic>
      <p:sp>
        <p:nvSpPr>
          <p:cNvPr id="9" name="CustomShape 4">
            <a:extLst>
              <a:ext uri="{FF2B5EF4-FFF2-40B4-BE49-F238E27FC236}">
                <a16:creationId xmlns:a16="http://schemas.microsoft.com/office/drawing/2014/main" id="{EDA4B262-FA39-42F3-B7B7-70F020EF05D2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endParaRPr lang="en-US" sz="2000" dirty="0"/>
          </a:p>
        </p:txBody>
      </p:sp>
      <p:sp>
        <p:nvSpPr>
          <p:cNvPr id="11" name="CustomShape 4">
            <a:extLst>
              <a:ext uri="{FF2B5EF4-FFF2-40B4-BE49-F238E27FC236}">
                <a16:creationId xmlns:a16="http://schemas.microsoft.com/office/drawing/2014/main" id="{D8837F94-2848-4ECC-8C2F-9E49E5C76675}"/>
              </a:ext>
            </a:extLst>
          </p:cNvPr>
          <p:cNvSpPr/>
          <p:nvPr/>
        </p:nvSpPr>
        <p:spPr>
          <a:xfrm>
            <a:off x="466560" y="1198703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400" b="1" dirty="0" err="1"/>
              <a:t>Composition</a:t>
            </a:r>
            <a:r>
              <a:rPr lang="cs-CZ" sz="2400" b="1" dirty="0"/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b="1" dirty="0"/>
              <a:t>Cholesterol (CHOL):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dirty="0" err="1"/>
              <a:t>Belongs</a:t>
            </a:r>
            <a:r>
              <a:rPr lang="cs-CZ" sz="2000" dirty="0"/>
              <a:t> to </a:t>
            </a:r>
            <a:r>
              <a:rPr lang="cs-CZ" sz="2000" dirty="0" err="1"/>
              <a:t>steroids</a:t>
            </a:r>
            <a:endParaRPr lang="cs-CZ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dirty="0" err="1"/>
              <a:t>Amphiphatic</a:t>
            </a:r>
            <a:endParaRPr lang="cs-CZ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dirty="0" err="1"/>
              <a:t>Influences</a:t>
            </a:r>
            <a:r>
              <a:rPr lang="cs-CZ" sz="2000" dirty="0"/>
              <a:t> fluidity </a:t>
            </a:r>
            <a:r>
              <a:rPr lang="cs-CZ" sz="2000" dirty="0" err="1"/>
              <a:t>of</a:t>
            </a:r>
            <a:r>
              <a:rPr lang="cs-CZ" sz="2000" dirty="0"/>
              <a:t> </a:t>
            </a:r>
            <a:r>
              <a:rPr lang="cs-CZ" sz="2000" dirty="0" err="1"/>
              <a:t>the</a:t>
            </a:r>
            <a:r>
              <a:rPr lang="cs-CZ" sz="2000" dirty="0"/>
              <a:t> </a:t>
            </a:r>
            <a:r>
              <a:rPr lang="cs-CZ" sz="2000" dirty="0" err="1"/>
              <a:t>membrane</a:t>
            </a:r>
            <a:endParaRPr lang="en-US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dirty="0" err="1"/>
              <a:t>Serves</a:t>
            </a:r>
            <a:r>
              <a:rPr lang="cs-CZ" sz="2000" dirty="0"/>
              <a:t> as a buffer</a:t>
            </a:r>
          </a:p>
          <a:p>
            <a:r>
              <a:rPr lang="cs-CZ" sz="2000" dirty="0"/>
              <a:t>	</a:t>
            </a:r>
          </a:p>
          <a:p>
            <a:r>
              <a:rPr lang="cs-CZ" sz="2000" dirty="0"/>
              <a:t>	</a:t>
            </a:r>
          </a:p>
          <a:p>
            <a:r>
              <a:rPr lang="cs-CZ" sz="2000" b="1" dirty="0"/>
              <a:t>	</a:t>
            </a: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28871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sp>
        <p:nvSpPr>
          <p:cNvPr id="6" name="CustomShape 4">
            <a:extLst>
              <a:ext uri="{FF2B5EF4-FFF2-40B4-BE49-F238E27FC236}">
                <a16:creationId xmlns:a16="http://schemas.microsoft.com/office/drawing/2014/main" id="{7C7E92D0-8196-4A79-BE17-F2F8C6823773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400" b="1" dirty="0" err="1"/>
              <a:t>Composition</a:t>
            </a:r>
            <a:r>
              <a:rPr lang="cs-CZ" sz="2400" b="1" dirty="0"/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b="1" dirty="0" err="1"/>
              <a:t>Sphingomyelin</a:t>
            </a:r>
            <a:r>
              <a:rPr lang="cs-CZ" sz="2000" b="1" dirty="0"/>
              <a:t> (SM):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dirty="0"/>
              <a:t>C</a:t>
            </a:r>
            <a:r>
              <a:rPr lang="en-US" sz="2000" dirty="0" err="1"/>
              <a:t>onsists</a:t>
            </a:r>
            <a:r>
              <a:rPr lang="en-US" sz="2000" dirty="0"/>
              <a:t> of a phosphocholine head group, a sphingosine, and a fatty acid.</a:t>
            </a:r>
            <a:endParaRPr lang="cs-CZ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dirty="0"/>
              <a:t>C</a:t>
            </a:r>
            <a:r>
              <a:rPr lang="en-US" sz="2000" dirty="0" err="1"/>
              <a:t>ommonly</a:t>
            </a:r>
            <a:r>
              <a:rPr lang="en-US" sz="2000" dirty="0"/>
              <a:t> believed to protect the cell surface against harmful environmental factors by forming a mechanically stable and chemically resistant outer leaflet of the plasma membrane lipid bilayer.</a:t>
            </a:r>
            <a:endParaRPr lang="cs-CZ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cs-CZ" sz="2000" dirty="0"/>
              <a:t>U</a:t>
            </a:r>
            <a:r>
              <a:rPr lang="en-US" sz="2000" dirty="0" err="1"/>
              <a:t>niversal</a:t>
            </a:r>
            <a:r>
              <a:rPr lang="en-US" sz="2000" dirty="0"/>
              <a:t> in eukaryotes but are rare in bacteria and archaea. </a:t>
            </a:r>
            <a:endParaRPr lang="cs-CZ" sz="2000" dirty="0"/>
          </a:p>
          <a:p>
            <a:r>
              <a:rPr lang="cs-CZ" sz="2000" b="1" dirty="0"/>
              <a:t>	</a:t>
            </a: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/>
          </a:p>
          <a:p>
            <a:endParaRPr lang="en-US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364778-B05B-4E18-B67B-318A27A45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298" y="3266011"/>
            <a:ext cx="5011821" cy="8645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34A37C-B6C7-4751-9FFB-E8D66BCD96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298" y="3294608"/>
            <a:ext cx="5011821" cy="19790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77C20F1-0CEA-4B84-ABED-79B6AD2ED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2298" y="3325111"/>
            <a:ext cx="5011821" cy="3167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470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Introduction to cell membranes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48006096-6484-4419-8AA8-1BD7AD7BA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056" y="4040154"/>
            <a:ext cx="4164064" cy="2452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CustomShape 4">
            <a:extLst>
              <a:ext uri="{FF2B5EF4-FFF2-40B4-BE49-F238E27FC236}">
                <a16:creationId xmlns:a16="http://schemas.microsoft.com/office/drawing/2014/main" id="{C272200B-6D48-4C7B-9800-01F534867641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800" b="1" dirty="0" err="1"/>
              <a:t>Function</a:t>
            </a:r>
            <a:r>
              <a:rPr lang="cs-CZ" sz="2800" b="1" dirty="0"/>
              <a:t>:</a:t>
            </a:r>
          </a:p>
          <a:p>
            <a:endParaRPr lang="cs-CZ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Controls exchange of material in and out of cell nutrients, wastes</a:t>
            </a:r>
            <a:r>
              <a:rPr lang="cs-CZ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Selectively permeable</a:t>
            </a:r>
            <a:r>
              <a:rPr lang="cs-CZ" sz="2800" dirty="0"/>
              <a:t> // Semi-</a:t>
            </a:r>
            <a:r>
              <a:rPr lang="cs-CZ" sz="2800" dirty="0" err="1"/>
              <a:t>permeable</a:t>
            </a:r>
            <a:endParaRPr lang="cs-CZ" sz="2800" dirty="0"/>
          </a:p>
          <a:p>
            <a:pPr marL="914400" lvl="3" indent="-457200">
              <a:buFont typeface="Arial" panose="020B0604020202020204" pitchFamily="34" charset="0"/>
              <a:buChar char="•"/>
            </a:pPr>
            <a:r>
              <a:rPr lang="cs-CZ" sz="2000" dirty="0">
                <a:latin typeface="+mj-lt"/>
              </a:rPr>
              <a:t>m</a:t>
            </a:r>
            <a:r>
              <a:rPr lang="en-US" sz="2000" dirty="0" err="1">
                <a:latin typeface="+mj-lt"/>
              </a:rPr>
              <a:t>embrane</a:t>
            </a:r>
            <a:r>
              <a:rPr lang="en-US" sz="2000" dirty="0">
                <a:latin typeface="+mj-lt"/>
              </a:rPr>
              <a:t> allows some substances to pass through easily while other things cannot</a:t>
            </a:r>
          </a:p>
          <a:p>
            <a:pPr lvl="2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</a:rPr>
              <a:t>mainly based on molecule size of the substance</a:t>
            </a:r>
          </a:p>
          <a:p>
            <a:pPr lvl="3" indent="-457200">
              <a:buFont typeface="Arial" panose="020B0604020202020204" pitchFamily="34" charset="0"/>
              <a:buChar char="•"/>
            </a:pPr>
            <a:r>
              <a:rPr lang="cs-CZ" sz="2000" dirty="0">
                <a:latin typeface="+mj-lt"/>
              </a:rPr>
              <a:t>s</a:t>
            </a:r>
            <a:r>
              <a:rPr lang="en-US" sz="2000" dirty="0">
                <a:latin typeface="+mj-lt"/>
              </a:rPr>
              <a:t>mall things: water, glucose, oxygen</a:t>
            </a:r>
          </a:p>
          <a:p>
            <a:pPr lvl="3" indent="-457200">
              <a:buFont typeface="Arial" panose="020B0604020202020204" pitchFamily="34" charset="0"/>
              <a:buChar char="•"/>
            </a:pPr>
            <a:r>
              <a:rPr lang="cs-CZ" sz="2000" dirty="0">
                <a:latin typeface="+mj-lt"/>
              </a:rPr>
              <a:t>l</a:t>
            </a:r>
            <a:r>
              <a:rPr lang="en-US" sz="2000" dirty="0" err="1">
                <a:latin typeface="+mj-lt"/>
              </a:rPr>
              <a:t>arge</a:t>
            </a:r>
            <a:r>
              <a:rPr lang="en-US" sz="2000" dirty="0">
                <a:latin typeface="+mj-lt"/>
              </a:rPr>
              <a:t> things: starch and proteins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50269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C</a:t>
            </a:r>
            <a:r>
              <a:rPr lang="en-US" sz="3600" b="1" strike="noStrike" spc="-1" dirty="0" err="1">
                <a:solidFill>
                  <a:srgbClr val="21A9C0"/>
                </a:solidFill>
                <a:latin typeface="Arial"/>
                <a:ea typeface="DejaVu Sans"/>
              </a:rPr>
              <a:t>oncept</a:t>
            </a:r>
            <a:r>
              <a:rPr lang="en-US" sz="3600" b="1" strike="noStrike" spc="-1" dirty="0">
                <a:solidFill>
                  <a:srgbClr val="21A9C0"/>
                </a:solidFill>
                <a:latin typeface="Arial"/>
                <a:ea typeface="DejaVu Sans"/>
              </a:rPr>
              <a:t> of a computational microscope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4DB3B1-8FC8-4B9F-B320-EDD740EB87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775" y="1189440"/>
            <a:ext cx="8242450" cy="4957969"/>
          </a:xfrm>
          <a:prstGeom prst="rect">
            <a:avLst/>
          </a:prstGeom>
        </p:spPr>
      </p:pic>
      <p:sp>
        <p:nvSpPr>
          <p:cNvPr id="5" name="CustomShape 4">
            <a:extLst>
              <a:ext uri="{FF2B5EF4-FFF2-40B4-BE49-F238E27FC236}">
                <a16:creationId xmlns:a16="http://schemas.microsoft.com/office/drawing/2014/main" id="{AA6F74C4-A992-4BE0-8DF4-36F75A5651B5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491227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3DC6B0-CE8B-4F64-BD65-6A7FC4762A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76730"/>
          <a:stretch/>
        </p:blipFill>
        <p:spPr>
          <a:xfrm>
            <a:off x="1617336" y="1820306"/>
            <a:ext cx="2600525" cy="36962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8B3EAD-68FC-4EF1-AD3D-22419290F9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86" r="59924"/>
          <a:stretch/>
        </p:blipFill>
        <p:spPr>
          <a:xfrm>
            <a:off x="4257870" y="1820306"/>
            <a:ext cx="1798121" cy="36962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0876E13-A0ED-4CDD-B9FE-79AF571D5A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0077" r="38489"/>
          <a:stretch/>
        </p:blipFill>
        <p:spPr>
          <a:xfrm>
            <a:off x="6096000" y="1820305"/>
            <a:ext cx="2395282" cy="36962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AC4D4C-2AA6-41F8-9514-C192AF37F1A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867" r="20122"/>
          <a:stretch/>
        </p:blipFill>
        <p:spPr>
          <a:xfrm>
            <a:off x="8531292" y="1820305"/>
            <a:ext cx="2012724" cy="3696237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A5AB2847-6062-4C5D-B983-730BCCE2D8FA}"/>
              </a:ext>
            </a:extLst>
          </p:cNvPr>
          <p:cNvGrpSpPr/>
          <p:nvPr/>
        </p:nvGrpSpPr>
        <p:grpSpPr>
          <a:xfrm>
            <a:off x="6435787" y="2174032"/>
            <a:ext cx="1763698" cy="3153747"/>
            <a:chOff x="6435787" y="2174032"/>
            <a:chExt cx="1763698" cy="3153747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5499657-1AD4-481F-8A4A-BA9A6FFD68B1}"/>
                </a:ext>
              </a:extLst>
            </p:cNvPr>
            <p:cNvCxnSpPr/>
            <p:nvPr/>
          </p:nvCxnSpPr>
          <p:spPr>
            <a:xfrm flipV="1">
              <a:off x="6435787" y="2174032"/>
              <a:ext cx="1614196" cy="3153747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D888B5-437C-4376-A8AC-F15FE6A8ABDF}"/>
                </a:ext>
              </a:extLst>
            </p:cNvPr>
            <p:cNvCxnSpPr>
              <a:cxnSpLocks/>
            </p:cNvCxnSpPr>
            <p:nvPr/>
          </p:nvCxnSpPr>
          <p:spPr>
            <a:xfrm>
              <a:off x="6585289" y="2174032"/>
              <a:ext cx="1614196" cy="3153747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ustomShape 4">
            <a:extLst>
              <a:ext uri="{FF2B5EF4-FFF2-40B4-BE49-F238E27FC236}">
                <a16:creationId xmlns:a16="http://schemas.microsoft.com/office/drawing/2014/main" id="{14027E27-A3B7-44EE-A5FA-10E385D27B0A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400" dirty="0" err="1"/>
              <a:t>Why</a:t>
            </a:r>
            <a:r>
              <a:rPr lang="cs-CZ" sz="2400" dirty="0"/>
              <a:t> do </a:t>
            </a:r>
            <a:r>
              <a:rPr lang="cs-CZ" sz="2400" dirty="0" err="1"/>
              <a:t>we</a:t>
            </a:r>
            <a:r>
              <a:rPr lang="cs-CZ" sz="2400" dirty="0"/>
              <a:t> </a:t>
            </a:r>
            <a:r>
              <a:rPr lang="cs-CZ" sz="2400" dirty="0" err="1"/>
              <a:t>need</a:t>
            </a:r>
            <a:r>
              <a:rPr lang="cs-CZ" sz="2400" dirty="0"/>
              <a:t> </a:t>
            </a:r>
            <a:r>
              <a:rPr lang="cs-CZ" sz="2400" dirty="0" err="1"/>
              <a:t>them</a:t>
            </a:r>
            <a:r>
              <a:rPr lang="cs-CZ" sz="2400" dirty="0"/>
              <a:t>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110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766499-3099-4C50-A479-8315EA80B689}"/>
              </a:ext>
            </a:extLst>
          </p:cNvPr>
          <p:cNvPicPr/>
          <p:nvPr/>
        </p:nvPicPr>
        <p:blipFill rotWithShape="1">
          <a:blip r:embed="rId2"/>
          <a:srcRect t="8142" b="21591"/>
          <a:stretch/>
        </p:blipFill>
        <p:spPr>
          <a:xfrm>
            <a:off x="10307762" y="5534024"/>
            <a:ext cx="1884237" cy="1323975"/>
          </a:xfrm>
          <a:prstGeom prst="rect">
            <a:avLst/>
          </a:prstGeom>
          <a:ln w="0"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E33243-9304-48D3-A11F-C55CD14429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148" y="1030031"/>
            <a:ext cx="995092" cy="1247182"/>
          </a:xfrm>
          <a:prstGeom prst="rect">
            <a:avLst/>
          </a:prstGeom>
        </p:spPr>
      </p:pic>
      <p:sp>
        <p:nvSpPr>
          <p:cNvPr id="8" name="CustomShape 4">
            <a:extLst>
              <a:ext uri="{FF2B5EF4-FFF2-40B4-BE49-F238E27FC236}">
                <a16:creationId xmlns:a16="http://schemas.microsoft.com/office/drawing/2014/main" id="{6C939B5F-DF0D-4B32-9A7B-19BD13DAD690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/>
              <a:t>Thermostats: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dirty="0"/>
              <a:t>To which variable is temperature related in the molecular systems and how?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sz="2400" dirty="0">
                <a:cs typeface="Courier New" panose="02070309020205020404" pitchFamily="49" charset="0"/>
              </a:rPr>
              <a:t> remember this guy…</a:t>
            </a:r>
            <a:endParaRPr lang="en-US" sz="24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b="1" i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b="1" i="1" dirty="0"/>
              <a:t>TASK</a:t>
            </a:r>
            <a:r>
              <a:rPr lang="cs-CZ" sz="2400" b="1" i="1" dirty="0"/>
              <a:t>2</a:t>
            </a:r>
            <a:r>
              <a:rPr lang="en-US" sz="2400" dirty="0"/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sz="2400" dirty="0"/>
              <a:t> Let’s look at </a:t>
            </a:r>
            <a:r>
              <a:rPr lang="en-US" sz="2400" i="1" dirty="0" err="1"/>
              <a:t>Jupyter</a:t>
            </a:r>
            <a:r>
              <a:rPr lang="en-US" sz="2400" i="1" dirty="0"/>
              <a:t> notebook...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Works by exchanging energy between the system and its environment (</a:t>
            </a:r>
            <a:r>
              <a:rPr lang="en-US" sz="2400" b="1" i="1" dirty="0"/>
              <a:t>heat bath</a:t>
            </a:r>
            <a:r>
              <a:rPr lang="en-US" sz="2400" dirty="0"/>
              <a:t>) in order to maintain a constant temperature.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Achieved by adjusting the kinetic energy of the molecules in the system.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Exchange with the heat bath is defined by it’s temperature (</a:t>
            </a:r>
            <a:r>
              <a:rPr lang="en-US" sz="2400" i="1" dirty="0"/>
              <a:t>ref-t = 310</a:t>
            </a:r>
            <a:r>
              <a:rPr lang="en-US" sz="2400" dirty="0"/>
              <a:t>) and the coupling time constant (</a:t>
            </a:r>
            <a:r>
              <a:rPr lang="en-US" sz="2400" i="1" dirty="0"/>
              <a:t>tau-t = 0.5</a:t>
            </a:r>
            <a:r>
              <a:rPr lang="en-US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79610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44AA31-4FBD-42EB-A4A8-A29F40ABE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62" y="2090737"/>
            <a:ext cx="2143125" cy="7905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4BFC7C-AE86-43A4-87C4-5EF62B3BC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0887" y="2090737"/>
            <a:ext cx="1609725" cy="11239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64C565-12DD-493F-993E-82F96787A2F1}"/>
              </a:ext>
            </a:extLst>
          </p:cNvPr>
          <p:cNvPicPr/>
          <p:nvPr/>
        </p:nvPicPr>
        <p:blipFill rotWithShape="1">
          <a:blip r:embed="rId5"/>
          <a:srcRect t="8142" b="21591"/>
          <a:stretch/>
        </p:blipFill>
        <p:spPr>
          <a:xfrm>
            <a:off x="10307762" y="5534024"/>
            <a:ext cx="1884237" cy="1323975"/>
          </a:xfrm>
          <a:prstGeom prst="rect">
            <a:avLst/>
          </a:prstGeom>
          <a:ln w="0">
            <a:noFill/>
          </a:ln>
        </p:spPr>
      </p:pic>
      <p:sp>
        <p:nvSpPr>
          <p:cNvPr id="9" name="CustomShape 4">
            <a:extLst>
              <a:ext uri="{FF2B5EF4-FFF2-40B4-BE49-F238E27FC236}">
                <a16:creationId xmlns:a16="http://schemas.microsoft.com/office/drawing/2014/main" id="{6FE1FB46-9D2C-424B-8CC0-DFC73F1F9BC2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/>
              <a:t>Thermostats: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b="1" dirty="0" err="1"/>
              <a:t>How</a:t>
            </a:r>
            <a:r>
              <a:rPr lang="cs-CZ" sz="2000" b="1" dirty="0"/>
              <a:t> </a:t>
            </a:r>
            <a:r>
              <a:rPr lang="cs-CZ" sz="2000" b="1" dirty="0" err="1"/>
              <a:t>does</a:t>
            </a:r>
            <a:r>
              <a:rPr lang="cs-CZ" sz="2000" b="1" dirty="0"/>
              <a:t> </a:t>
            </a:r>
            <a:r>
              <a:rPr lang="cs-CZ" sz="2000" b="1" dirty="0" err="1"/>
              <a:t>it</a:t>
            </a:r>
            <a:r>
              <a:rPr lang="cs-CZ" sz="2000" b="1" dirty="0"/>
              <a:t> </a:t>
            </a:r>
            <a:r>
              <a:rPr lang="cs-CZ" sz="2000" b="1" dirty="0" err="1"/>
              <a:t>work</a:t>
            </a:r>
            <a:r>
              <a:rPr lang="cs-CZ" sz="2000" b="1" dirty="0"/>
              <a:t>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0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0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0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0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dirty="0"/>
              <a:t>λ – </a:t>
            </a:r>
            <a:r>
              <a:rPr lang="cs-CZ" sz="2000" dirty="0" err="1"/>
              <a:t>scaling</a:t>
            </a:r>
            <a:r>
              <a:rPr lang="cs-CZ" sz="2000" dirty="0"/>
              <a:t> </a:t>
            </a:r>
            <a:r>
              <a:rPr lang="cs-CZ" sz="2000" dirty="0" err="1"/>
              <a:t>factor</a:t>
            </a:r>
            <a:endParaRPr lang="cs-CZ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dirty="0"/>
              <a:t>G</a:t>
            </a:r>
            <a:r>
              <a:rPr lang="en-US" sz="2000" dirty="0" err="1"/>
              <a:t>eneral</a:t>
            </a:r>
            <a:r>
              <a:rPr lang="en-US" sz="2000" dirty="0"/>
              <a:t> idea behind the </a:t>
            </a:r>
            <a:r>
              <a:rPr lang="en-US" sz="2000" b="1" dirty="0"/>
              <a:t>velocity rescaling</a:t>
            </a:r>
            <a:r>
              <a:rPr lang="en-US" sz="2000" dirty="0"/>
              <a:t> method, the most basic thermostat algorithm</a:t>
            </a:r>
          </a:p>
        </p:txBody>
      </p:sp>
    </p:spTree>
    <p:extLst>
      <p:ext uri="{BB962C8B-B14F-4D97-AF65-F5344CB8AC3E}">
        <p14:creationId xmlns:p14="http://schemas.microsoft.com/office/powerpoint/2010/main" val="42018072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BFD8CB-C608-43D4-80D5-6C425B45DE20}"/>
              </a:ext>
            </a:extLst>
          </p:cNvPr>
          <p:cNvPicPr/>
          <p:nvPr/>
        </p:nvPicPr>
        <p:blipFill rotWithShape="1">
          <a:blip r:embed="rId2"/>
          <a:srcRect t="8142" b="21591"/>
          <a:stretch/>
        </p:blipFill>
        <p:spPr>
          <a:xfrm>
            <a:off x="10307762" y="5534024"/>
            <a:ext cx="1884237" cy="1323975"/>
          </a:xfrm>
          <a:prstGeom prst="rect">
            <a:avLst/>
          </a:prstGeom>
          <a:ln w="0">
            <a:noFill/>
          </a:ln>
        </p:spPr>
      </p:pic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/>
              <a:t>Thermostats:</a:t>
            </a:r>
            <a:endParaRPr lang="cs-CZ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b="1" dirty="0" err="1"/>
              <a:t>Berendsen</a:t>
            </a:r>
            <a:r>
              <a:rPr lang="cs-CZ" sz="2000" b="1" dirty="0"/>
              <a:t> (</a:t>
            </a:r>
            <a:r>
              <a:rPr lang="cs-CZ" sz="2000" b="1" i="1" dirty="0" err="1"/>
              <a:t>tcoupl</a:t>
            </a:r>
            <a:r>
              <a:rPr lang="cs-CZ" sz="2000" b="1" i="1" dirty="0"/>
              <a:t> = </a:t>
            </a:r>
            <a:r>
              <a:rPr lang="cs-CZ" sz="2000" b="1" i="1" dirty="0" err="1"/>
              <a:t>berendsen</a:t>
            </a:r>
            <a:r>
              <a:rPr lang="cs-CZ" sz="2000" b="1" dirty="0"/>
              <a:t>)</a:t>
            </a:r>
            <a:r>
              <a:rPr lang="en-US" sz="2000" b="1" dirty="0"/>
              <a:t> – emulates heat bath by rescaling velocities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Simple, fast, stable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Ensures weak coupling to a heat bath, so the system approaches the desired temperature smoothly.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Doesn't generate a true canonical ensemble. It could result in non-physical behavior in certain systems.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</a:rPr>
              <a:t>It should be avoided for production runs</a:t>
            </a:r>
            <a:endParaRPr lang="cs-CZ" sz="1600" b="1" dirty="0">
              <a:solidFill>
                <a:srgbClr val="FF0000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sz="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65B532-D7A0-4AAD-87A4-DE3288C36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242" y="3161489"/>
            <a:ext cx="5361515" cy="3127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614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BFD8CB-C608-43D4-80D5-6C425B45DE20}"/>
              </a:ext>
            </a:extLst>
          </p:cNvPr>
          <p:cNvPicPr/>
          <p:nvPr/>
        </p:nvPicPr>
        <p:blipFill rotWithShape="1">
          <a:blip r:embed="rId2"/>
          <a:srcRect t="8142" b="21591"/>
          <a:stretch/>
        </p:blipFill>
        <p:spPr>
          <a:xfrm>
            <a:off x="10307762" y="5534024"/>
            <a:ext cx="1884237" cy="1323975"/>
          </a:xfrm>
          <a:prstGeom prst="rect">
            <a:avLst/>
          </a:prstGeom>
          <a:ln w="0">
            <a:noFill/>
          </a:ln>
        </p:spPr>
      </p:pic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/>
              <a:t>Thermostats:</a:t>
            </a:r>
            <a:endParaRPr lang="cs-CZ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cs-CZ" sz="2000" b="1" dirty="0"/>
              <a:t>Nose-</a:t>
            </a:r>
            <a:r>
              <a:rPr lang="cs-CZ" sz="2000" b="1" dirty="0" err="1"/>
              <a:t>Hoover</a:t>
            </a:r>
            <a:r>
              <a:rPr lang="cs-CZ" sz="2000" b="1" dirty="0"/>
              <a:t> (</a:t>
            </a:r>
            <a:r>
              <a:rPr lang="cs-CZ" sz="2000" b="1" i="1" dirty="0" err="1"/>
              <a:t>tcoupl</a:t>
            </a:r>
            <a:r>
              <a:rPr lang="cs-CZ" sz="2000" b="1" i="1" dirty="0"/>
              <a:t> = nose-</a:t>
            </a:r>
            <a:r>
              <a:rPr lang="cs-CZ" sz="2000" b="1" i="1" dirty="0" err="1"/>
              <a:t>hoover</a:t>
            </a:r>
            <a:r>
              <a:rPr lang="cs-CZ" sz="20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NH thermostat belongs to a different class of methods named </a:t>
            </a:r>
            <a:r>
              <a:rPr lang="en-US" sz="1600" b="1" dirty="0"/>
              <a:t>extended system.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Thermal bath is directly incorporated into the system by including an additional degree of freedom in the Hamiltonian operator.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Currently one of the most used thermostats for production runs in CMD.</a:t>
            </a:r>
            <a:endParaRPr lang="en-US" sz="1600" i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i="1" dirty="0">
              <a:solidFill>
                <a:schemeClr val="accent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chemeClr val="accent1"/>
                </a:solidFill>
              </a:rPr>
              <a:t>Nosè</a:t>
            </a:r>
            <a:r>
              <a:rPr lang="en-US" sz="1600" dirty="0">
                <a:solidFill>
                  <a:schemeClr val="accent1"/>
                </a:solidFill>
              </a:rPr>
              <a:t>-Hoover is a suitable option to reproduce the canonical ensemble.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accent1"/>
                </a:solidFill>
              </a:rPr>
              <a:t>Suitable for rigorous studies.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Only works well for systems relatively close to equilibrium.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More computationally demanding.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Might cause instability in some simulations, especially with a poor choice of parameters or initial conditions.</a:t>
            </a:r>
          </a:p>
          <a:p>
            <a:pPr lvl="1"/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cs-CZ" sz="2800" b="1" dirty="0"/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sz="200" b="1" dirty="0"/>
          </a:p>
        </p:txBody>
      </p:sp>
    </p:spTree>
    <p:extLst>
      <p:ext uri="{BB962C8B-B14F-4D97-AF65-F5344CB8AC3E}">
        <p14:creationId xmlns:p14="http://schemas.microsoft.com/office/powerpoint/2010/main" val="3179766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BFD8CB-C608-43D4-80D5-6C425B45DE20}"/>
              </a:ext>
            </a:extLst>
          </p:cNvPr>
          <p:cNvPicPr/>
          <p:nvPr/>
        </p:nvPicPr>
        <p:blipFill rotWithShape="1">
          <a:blip r:embed="rId2"/>
          <a:srcRect t="8142" b="21591"/>
          <a:stretch/>
        </p:blipFill>
        <p:spPr>
          <a:xfrm>
            <a:off x="10307762" y="5534024"/>
            <a:ext cx="1884237" cy="1323975"/>
          </a:xfrm>
          <a:prstGeom prst="rect">
            <a:avLst/>
          </a:prstGeom>
          <a:ln w="0">
            <a:noFill/>
          </a:ln>
        </p:spPr>
      </p:pic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/>
              <a:t>Thermostats:</a:t>
            </a:r>
            <a:endParaRPr lang="cs-CZ" sz="2800" b="1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cs-CZ" sz="2000" b="1" dirty="0">
                <a:solidFill>
                  <a:prstClr val="black"/>
                </a:solidFill>
              </a:rPr>
              <a:t>V-</a:t>
            </a:r>
            <a:r>
              <a:rPr lang="cs-CZ" sz="2000" b="1" dirty="0" err="1">
                <a:solidFill>
                  <a:prstClr val="black"/>
                </a:solidFill>
              </a:rPr>
              <a:t>rescale</a:t>
            </a:r>
            <a:r>
              <a:rPr lang="cs-CZ" sz="2000" b="1" dirty="0">
                <a:solidFill>
                  <a:prstClr val="black"/>
                </a:solidFill>
              </a:rPr>
              <a:t> (</a:t>
            </a:r>
            <a:r>
              <a:rPr lang="cs-CZ" sz="2000" b="1" i="1" dirty="0" err="1">
                <a:solidFill>
                  <a:prstClr val="black"/>
                </a:solidFill>
              </a:rPr>
              <a:t>tcoupl</a:t>
            </a:r>
            <a:r>
              <a:rPr lang="cs-CZ" sz="2000" b="1" i="1" dirty="0">
                <a:solidFill>
                  <a:prstClr val="black"/>
                </a:solidFill>
              </a:rPr>
              <a:t> = v-</a:t>
            </a:r>
            <a:r>
              <a:rPr lang="cs-CZ" sz="2000" b="1" i="1" dirty="0" err="1">
                <a:solidFill>
                  <a:prstClr val="black"/>
                </a:solidFill>
              </a:rPr>
              <a:t>rescale</a:t>
            </a:r>
            <a:r>
              <a:rPr lang="cs-CZ" sz="2000" b="1" dirty="0">
                <a:solidFill>
                  <a:prstClr val="black"/>
                </a:solidFill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Extension of Berendsen thermostat.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Instead of forcing the kinetic energy to be exactly equal to the desired value, the rescaling is done to a kinetic energy value that is stochastically chosen from the canonical equilibrium distribution for the kinetic energy.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other words: A random force is added to ensure the correct kinetic energy distribution.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4472C4"/>
                </a:solidFill>
              </a:rPr>
              <a:t>Allows to properly sample a canonical ensemble.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4472C4"/>
                </a:solidFill>
              </a:rPr>
              <a:t>Exponential relaxation (i.e., good also for start).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Sometimes (crystals) less accurate than </a:t>
            </a:r>
            <a:r>
              <a:rPr lang="en-US" sz="1600" dirty="0" err="1">
                <a:solidFill>
                  <a:srgbClr val="FF0000"/>
                </a:solidFill>
              </a:rPr>
              <a:t>Nosé</a:t>
            </a:r>
            <a:r>
              <a:rPr lang="en-US" sz="1600" dirty="0">
                <a:solidFill>
                  <a:srgbClr val="FF0000"/>
                </a:solidFill>
              </a:rPr>
              <a:t>–Hoover.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endParaRPr lang="en-US" sz="200" b="1" dirty="0"/>
          </a:p>
        </p:txBody>
      </p:sp>
    </p:spTree>
    <p:extLst>
      <p:ext uri="{BB962C8B-B14F-4D97-AF65-F5344CB8AC3E}">
        <p14:creationId xmlns:p14="http://schemas.microsoft.com/office/powerpoint/2010/main" val="6951369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BFD8CB-C608-43D4-80D5-6C425B45DE20}"/>
              </a:ext>
            </a:extLst>
          </p:cNvPr>
          <p:cNvPicPr/>
          <p:nvPr/>
        </p:nvPicPr>
        <p:blipFill rotWithShape="1">
          <a:blip r:embed="rId2"/>
          <a:srcRect t="8142" b="21591"/>
          <a:stretch/>
        </p:blipFill>
        <p:spPr>
          <a:xfrm>
            <a:off x="10307762" y="5534024"/>
            <a:ext cx="1884237" cy="1323975"/>
          </a:xfrm>
          <a:prstGeom prst="rect">
            <a:avLst/>
          </a:prstGeom>
          <a:ln w="0">
            <a:noFill/>
          </a:ln>
        </p:spPr>
      </p:pic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/>
              <a:t>Thermostats: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black"/>
                </a:solidFill>
              </a:rPr>
              <a:t>General tips: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b="1" i="1" dirty="0">
                <a:solidFill>
                  <a:prstClr val="black"/>
                </a:solidFill>
              </a:rPr>
              <a:t>Settings for coupling time: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Aggressive </a:t>
            </a:r>
            <a:r>
              <a:rPr lang="en-US" sz="2000" dirty="0" err="1">
                <a:solidFill>
                  <a:prstClr val="black"/>
                </a:solidFill>
              </a:rPr>
              <a:t>thermostatting</a:t>
            </a:r>
            <a:r>
              <a:rPr lang="en-US" sz="2000" dirty="0">
                <a:solidFill>
                  <a:prstClr val="black"/>
                </a:solidFill>
              </a:rPr>
              <a:t> (low τ) can leads to artifacts: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prstClr val="black"/>
              </a:solidFill>
            </a:endParaRPr>
          </a:p>
          <a:p>
            <a:pPr marL="1828800" lvl="3" indent="-457200">
              <a:buFont typeface="Arial" panose="020B0604020202020204" pitchFamily="34" charset="0"/>
              <a:buChar char="•"/>
            </a:pPr>
            <a:r>
              <a:rPr lang="en-US" sz="2000" i="1" dirty="0">
                <a:solidFill>
                  <a:prstClr val="black"/>
                </a:solidFill>
              </a:rPr>
              <a:t>Berendsen</a:t>
            </a:r>
            <a:r>
              <a:rPr lang="en-US" sz="2000" dirty="0">
                <a:solidFill>
                  <a:prstClr val="black"/>
                </a:solidFill>
              </a:rPr>
              <a:t>: flying ice cube effect (energy pumped into low‐frequency modes)</a:t>
            </a:r>
          </a:p>
          <a:p>
            <a:pPr marL="1828800" lvl="3" indent="-457200">
              <a:buFont typeface="Arial" panose="020B0604020202020204" pitchFamily="34" charset="0"/>
              <a:buChar char="•"/>
            </a:pPr>
            <a:r>
              <a:rPr lang="en-US" sz="2000" i="1" dirty="0" err="1">
                <a:solidFill>
                  <a:prstClr val="black"/>
                </a:solidFill>
              </a:rPr>
              <a:t>Nosé</a:t>
            </a:r>
            <a:r>
              <a:rPr lang="en-US" sz="2000" i="1" dirty="0">
                <a:solidFill>
                  <a:prstClr val="black"/>
                </a:solidFill>
              </a:rPr>
              <a:t>‐Hoover</a:t>
            </a:r>
            <a:r>
              <a:rPr lang="en-US" sz="2000" dirty="0">
                <a:solidFill>
                  <a:prstClr val="black"/>
                </a:solidFill>
              </a:rPr>
              <a:t>: potential non‐ergodicity, inaccurate integration of heat bath </a:t>
            </a:r>
            <a:r>
              <a:rPr lang="en-US" sz="2000" dirty="0" err="1">
                <a:solidFill>
                  <a:prstClr val="black"/>
                </a:solidFill>
              </a:rPr>
              <a:t>DoFs</a:t>
            </a:r>
            <a:r>
              <a:rPr lang="en-US" sz="2000" dirty="0">
                <a:solidFill>
                  <a:prstClr val="black"/>
                </a:solidFill>
              </a:rPr>
              <a:t>.</a:t>
            </a:r>
          </a:p>
          <a:p>
            <a:pPr lvl="3"/>
            <a:endParaRPr lang="en-US" sz="2000" dirty="0">
              <a:solidFill>
                <a:prstClr val="black"/>
              </a:solidFill>
            </a:endParaRP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Time constant of 0.1 </a:t>
            </a:r>
            <a:r>
              <a:rPr lang="en-US" sz="2000" dirty="0" err="1">
                <a:solidFill>
                  <a:prstClr val="black"/>
                </a:solidFill>
              </a:rPr>
              <a:t>ps</a:t>
            </a:r>
            <a:r>
              <a:rPr lang="en-US" sz="2000" dirty="0">
                <a:solidFill>
                  <a:prstClr val="black"/>
                </a:solidFill>
              </a:rPr>
              <a:t> a reasonable lower bound if strong </a:t>
            </a:r>
            <a:r>
              <a:rPr lang="en-US" sz="2000" dirty="0" err="1">
                <a:solidFill>
                  <a:prstClr val="black"/>
                </a:solidFill>
              </a:rPr>
              <a:t>thermostatting</a:t>
            </a:r>
            <a:r>
              <a:rPr lang="en-US" sz="2000" dirty="0">
                <a:solidFill>
                  <a:prstClr val="black"/>
                </a:solidFill>
              </a:rPr>
              <a:t> is required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Any strong </a:t>
            </a:r>
            <a:r>
              <a:rPr lang="en-US" sz="2000" dirty="0" err="1">
                <a:solidFill>
                  <a:prstClr val="black"/>
                </a:solidFill>
              </a:rPr>
              <a:t>thermostatting</a:t>
            </a:r>
            <a:r>
              <a:rPr lang="en-US" sz="2000" dirty="0">
                <a:solidFill>
                  <a:prstClr val="black"/>
                </a:solidFill>
              </a:rPr>
              <a:t> can disturb natural dynamics (viscosity, diffusivity, …)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For </a:t>
            </a:r>
            <a:r>
              <a:rPr lang="en-US" sz="2000" i="1" dirty="0">
                <a:solidFill>
                  <a:prstClr val="black"/>
                </a:solidFill>
              </a:rPr>
              <a:t>equilibrium</a:t>
            </a:r>
            <a:r>
              <a:rPr lang="en-US" sz="2000" dirty="0">
                <a:solidFill>
                  <a:prstClr val="black"/>
                </a:solidFill>
              </a:rPr>
              <a:t> production simulations, use high enough τ, comparable with natural relaxation timescales:</a:t>
            </a:r>
          </a:p>
          <a:p>
            <a:pPr marL="1828800" lvl="3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Liquids: correlation time (2-3 </a:t>
            </a:r>
            <a:r>
              <a:rPr lang="en-US" sz="2000" dirty="0" err="1">
                <a:solidFill>
                  <a:prstClr val="black"/>
                </a:solidFill>
              </a:rPr>
              <a:t>ps</a:t>
            </a:r>
            <a:r>
              <a:rPr lang="en-US" sz="2000" dirty="0">
                <a:solidFill>
                  <a:prstClr val="black"/>
                </a:solidFill>
              </a:rPr>
              <a:t> for water)</a:t>
            </a:r>
          </a:p>
          <a:p>
            <a:pPr marL="1828800" lvl="3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Solids: phonon lifetimes (typically &gt; 0.5 </a:t>
            </a:r>
            <a:r>
              <a:rPr lang="en-US" sz="2000" dirty="0" err="1">
                <a:solidFill>
                  <a:prstClr val="black"/>
                </a:solidFill>
              </a:rPr>
              <a:t>ps</a:t>
            </a:r>
            <a:r>
              <a:rPr lang="en-US" sz="2000" dirty="0">
                <a:solidFill>
                  <a:prstClr val="black"/>
                </a:solidFill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cs-CZ" sz="1600" b="1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000" b="1" dirty="0"/>
              <a:t>TASK3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-&gt;</a:t>
            </a:r>
            <a:r>
              <a:rPr lang="en-US" sz="2000" dirty="0"/>
              <a:t> Let’s look at </a:t>
            </a:r>
            <a:r>
              <a:rPr lang="en-US" sz="2000" i="1" dirty="0" err="1"/>
              <a:t>Jupyter</a:t>
            </a:r>
            <a:r>
              <a:rPr lang="en-US" sz="2000" i="1" dirty="0"/>
              <a:t> notebook...</a:t>
            </a:r>
            <a:endParaRPr lang="cs-CZ" sz="2000" b="1" dirty="0"/>
          </a:p>
          <a:p>
            <a:pPr lvl="3"/>
            <a:endParaRPr lang="en-US" sz="20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9627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BFD8CB-C608-43D4-80D5-6C425B45DE20}"/>
              </a:ext>
            </a:extLst>
          </p:cNvPr>
          <p:cNvPicPr/>
          <p:nvPr/>
        </p:nvPicPr>
        <p:blipFill rotWithShape="1">
          <a:blip r:embed="rId2"/>
          <a:srcRect t="8142" b="21591"/>
          <a:stretch/>
        </p:blipFill>
        <p:spPr>
          <a:xfrm>
            <a:off x="10307762" y="5534024"/>
            <a:ext cx="1884237" cy="1323975"/>
          </a:xfrm>
          <a:prstGeom prst="rect">
            <a:avLst/>
          </a:prstGeom>
          <a:ln w="0">
            <a:noFill/>
          </a:ln>
        </p:spPr>
      </p:pic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/>
              <a:t>Thermostats: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black"/>
                </a:solidFill>
              </a:rPr>
              <a:t>General tips: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b="1" i="1" dirty="0" err="1">
                <a:solidFill>
                  <a:prstClr val="black"/>
                </a:solidFill>
              </a:rPr>
              <a:t>Thermostatting</a:t>
            </a:r>
            <a:r>
              <a:rPr lang="en-US" sz="2000" b="1" i="1" dirty="0">
                <a:solidFill>
                  <a:prstClr val="black"/>
                </a:solidFill>
              </a:rPr>
              <a:t> heterogeneous systems: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prstClr val="black"/>
                </a:solidFill>
              </a:rPr>
              <a:t>Thermostatting</a:t>
            </a:r>
            <a:r>
              <a:rPr lang="en-US" sz="2000" dirty="0">
                <a:solidFill>
                  <a:prstClr val="black"/>
                </a:solidFill>
              </a:rPr>
              <a:t> a heterogeneous system as a whole can create temperature gradients</a:t>
            </a:r>
          </a:p>
          <a:p>
            <a:pPr marL="1828800" lvl="3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“Hot solvent – cold solute problem”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Big protein in water: force errors on water molecules higher than on protein chain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Unequal heating of both parts</a:t>
            </a:r>
          </a:p>
          <a:p>
            <a:pPr marL="2286000" lvl="4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Shared thermostat drains heat from both components at the same rate, undercooling the protein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prstClr val="black"/>
              </a:solidFill>
            </a:endParaRPr>
          </a:p>
          <a:p>
            <a:pPr marL="1828800" lvl="3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Solution</a:t>
            </a:r>
            <a:r>
              <a:rPr lang="en-US" sz="2000" b="1" i="1" dirty="0">
                <a:solidFill>
                  <a:prstClr val="black"/>
                </a:solidFill>
              </a:rPr>
              <a:t>: use separate thermostats for individual components</a:t>
            </a:r>
          </a:p>
        </p:txBody>
      </p:sp>
    </p:spTree>
    <p:extLst>
      <p:ext uri="{BB962C8B-B14F-4D97-AF65-F5344CB8AC3E}">
        <p14:creationId xmlns:p14="http://schemas.microsoft.com/office/powerpoint/2010/main" val="1311454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CE9EDD-EE06-46FD-863F-8BB3A7490F8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3267" y="5127540"/>
            <a:ext cx="953483" cy="17304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21AE2F-609D-4E82-8E95-85E53610D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75" y="3011199"/>
            <a:ext cx="1809750" cy="6572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741B7F-AD2A-44DF-9862-B13586D2A6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5740" y="3011199"/>
            <a:ext cx="1781175" cy="800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F59988-D7CF-4E47-8854-91BFD2E99F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877" y="2993448"/>
            <a:ext cx="2828925" cy="10191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D86970-7731-405E-AA6E-C08629D491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8633" y="2993448"/>
            <a:ext cx="3314700" cy="1076325"/>
          </a:xfrm>
          <a:prstGeom prst="rect">
            <a:avLst/>
          </a:prstGeom>
        </p:spPr>
      </p:pic>
      <p:sp>
        <p:nvSpPr>
          <p:cNvPr id="11" name="CustomShape 4">
            <a:extLst>
              <a:ext uri="{FF2B5EF4-FFF2-40B4-BE49-F238E27FC236}">
                <a16:creationId xmlns:a16="http://schemas.microsoft.com/office/drawing/2014/main" id="{78581FE3-DC50-455A-98A5-F9C76BA28EAA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400" b="1" dirty="0" err="1"/>
              <a:t>Barostats</a:t>
            </a:r>
            <a:r>
              <a:rPr lang="cs-CZ" sz="2400" b="1" dirty="0"/>
              <a:t>: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kumimoji="0" lang="cs-CZ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arostat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algorithms </a:t>
            </a:r>
            <a:r>
              <a:rPr kumimoji="0" lang="cs-CZ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analogous to the one needed for thermostat algorithms</a:t>
            </a:r>
            <a:r>
              <a:rPr lang="cs-CZ" sz="2000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rPr>
              <a:t>.</a:t>
            </a:r>
            <a:endParaRPr kumimoji="0" lang="cs-CZ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kumimoji="0" lang="cs-CZ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 adjust </a:t>
            </a:r>
            <a:r>
              <a:rPr kumimoji="0" lang="cs-CZ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pressure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we need to scale the volume (V) of the simulation box</a:t>
            </a:r>
            <a:r>
              <a:rPr kumimoji="0" lang="cs-CZ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r>
              <a:rPr kumimoji="0" lang="cs-CZ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chieved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by scaling the coordinates of each atom</a:t>
            </a:r>
            <a:r>
              <a:rPr kumimoji="0" lang="cs-CZ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endParaRPr kumimoji="0" lang="cs-CZ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indent="-228600">
              <a:spcBef>
                <a:spcPts val="1000"/>
              </a:spcBef>
              <a:buFont typeface="Arial" panose="020B0604020202020204" pitchFamily="34" charset="0"/>
              <a:buChar char="•"/>
              <a:defRPr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7113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C2642A-874F-4931-B5B5-D9F1A7236D2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3267" y="5127540"/>
            <a:ext cx="953483" cy="1730460"/>
          </a:xfrm>
          <a:prstGeom prst="rect">
            <a:avLst/>
          </a:prstGeom>
        </p:spPr>
      </p:pic>
      <p:sp>
        <p:nvSpPr>
          <p:cNvPr id="9" name="CustomShape 4">
            <a:extLst>
              <a:ext uri="{FF2B5EF4-FFF2-40B4-BE49-F238E27FC236}">
                <a16:creationId xmlns:a16="http://schemas.microsoft.com/office/drawing/2014/main" id="{AFDDA2B3-9E36-4F61-99EF-BBCAEB99CEAD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000" b="1" dirty="0" err="1"/>
              <a:t>Barostats</a:t>
            </a:r>
            <a:r>
              <a:rPr lang="en-US" sz="2000" b="1" dirty="0"/>
              <a:t>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Berendsen (</a:t>
            </a:r>
            <a:r>
              <a:rPr kumimoji="0" lang="en-US" sz="2000" b="1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pcoupl</a:t>
            </a:r>
            <a:r>
              <a:rPr lang="en-US" sz="2000" b="1" i="1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rPr>
              <a:t> = </a:t>
            </a:r>
            <a:r>
              <a:rPr lang="en-US" sz="2000" b="1" i="1" dirty="0" err="1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rPr>
              <a:t>berendsen</a:t>
            </a:r>
            <a:r>
              <a:rPr lang="en-US" sz="2000" b="1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rPr>
              <a:t>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Similar principles as Berendsen thermostat.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Useful for the equilibration phase while it is not good for the production run</a:t>
            </a:r>
          </a:p>
          <a:p>
            <a:pPr lvl="1"/>
            <a:endParaRPr lang="en-US" sz="1600" dirty="0">
              <a:solidFill>
                <a:srgbClr val="4472C4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4472C4"/>
                </a:solidFill>
              </a:rPr>
              <a:t>We can adjust the strength of the coupling between the system and the pressure bath.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It does not correctly sample from the NPT ensemble</a:t>
            </a:r>
            <a:endParaRPr lang="en-US" sz="2000" b="1" dirty="0"/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Parrinello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-Rahman (</a:t>
            </a:r>
            <a:r>
              <a:rPr kumimoji="0" lang="en-US" sz="2000" b="1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pcoupl</a:t>
            </a:r>
            <a:r>
              <a:rPr lang="en-US" sz="2000" b="1" i="1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rPr>
              <a:t> = </a:t>
            </a:r>
            <a:r>
              <a:rPr lang="en-US" sz="2000" b="1" i="1" dirty="0">
                <a:solidFill>
                  <a:prstClr val="black"/>
                </a:solidFill>
                <a:latin typeface="Calibri" panose="020F0502020204030204"/>
              </a:rPr>
              <a:t>p</a:t>
            </a:r>
            <a:r>
              <a:rPr kumimoji="0" lang="en-US" sz="2000" b="1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arrinello-rahman</a:t>
            </a:r>
            <a:r>
              <a:rPr lang="en-US" sz="2000" b="1" dirty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rPr>
              <a:t>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1600" dirty="0"/>
              <a:t>P-R </a:t>
            </a:r>
            <a:r>
              <a:rPr lang="en-US" sz="1600" dirty="0"/>
              <a:t>is an </a:t>
            </a:r>
            <a:r>
              <a:rPr lang="en-US" sz="1600" b="1" dirty="0"/>
              <a:t>extended system</a:t>
            </a:r>
            <a:r>
              <a:rPr lang="en-US" sz="1600" dirty="0"/>
              <a:t> method</a:t>
            </a:r>
            <a:endParaRPr lang="cs-CZ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1600" dirty="0"/>
              <a:t>T</a:t>
            </a:r>
            <a:r>
              <a:rPr lang="en-US" sz="1600" dirty="0"/>
              <a:t>he system is coupled to a pressure bath</a:t>
            </a:r>
            <a:endParaRPr lang="cs-CZ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1600" dirty="0"/>
              <a:t>C</a:t>
            </a:r>
            <a:r>
              <a:rPr lang="en-US" sz="1600" dirty="0" err="1"/>
              <a:t>oupling</a:t>
            </a:r>
            <a:r>
              <a:rPr lang="en-US" sz="1600" dirty="0"/>
              <a:t> is achieved by including an additional degree of freedom in the equations of motion.</a:t>
            </a:r>
            <a:endParaRPr lang="cs-CZ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1600" dirty="0"/>
              <a:t>C</a:t>
            </a:r>
            <a:r>
              <a:rPr lang="en-US" sz="1600" dirty="0" err="1"/>
              <a:t>urrently</a:t>
            </a:r>
            <a:r>
              <a:rPr lang="en-US" sz="1600" dirty="0"/>
              <a:t> the most employed </a:t>
            </a:r>
            <a:r>
              <a:rPr lang="en-US" sz="1600" dirty="0" err="1"/>
              <a:t>barostat</a:t>
            </a:r>
            <a:r>
              <a:rPr lang="en-US" sz="1600" dirty="0"/>
              <a:t> algorithm in MD.</a:t>
            </a:r>
            <a:endParaRPr lang="cs-CZ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cs-CZ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1600" dirty="0">
                <a:solidFill>
                  <a:srgbClr val="4472C4"/>
                </a:solidFill>
              </a:rPr>
              <a:t>P-R </a:t>
            </a:r>
            <a:r>
              <a:rPr lang="en-US" sz="1600" dirty="0" err="1">
                <a:solidFill>
                  <a:srgbClr val="4472C4"/>
                </a:solidFill>
              </a:rPr>
              <a:t>barostat</a:t>
            </a:r>
            <a:r>
              <a:rPr lang="en-US" sz="1600" dirty="0">
                <a:solidFill>
                  <a:srgbClr val="4472C4"/>
                </a:solidFill>
              </a:rPr>
              <a:t> does sample from the NPT ensemble.</a:t>
            </a:r>
            <a:endParaRPr lang="cs-CZ" sz="1600" dirty="0">
              <a:solidFill>
                <a:srgbClr val="4472C4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cs-CZ" sz="1600" dirty="0">
                <a:solidFill>
                  <a:srgbClr val="4472C4"/>
                </a:solidFill>
              </a:rPr>
              <a:t>It </a:t>
            </a:r>
            <a:r>
              <a:rPr lang="en-US" sz="1600" dirty="0">
                <a:solidFill>
                  <a:srgbClr val="4472C4"/>
                </a:solidFill>
              </a:rPr>
              <a:t>can be coupled to a thermostat to perform an NPT production run.</a:t>
            </a:r>
            <a:endParaRPr lang="cs-CZ" sz="1600" dirty="0">
              <a:solidFill>
                <a:srgbClr val="4472C4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cs-CZ" sz="1600" dirty="0">
              <a:solidFill>
                <a:srgbClr val="4472C4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154283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Thermostats and </a:t>
            </a:r>
            <a:r>
              <a:rPr lang="en-US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barostats</a:t>
            </a:r>
            <a:r>
              <a:rPr lang="en-US" sz="3600" b="1" spc="-1" dirty="0">
                <a:solidFill>
                  <a:srgbClr val="21A9C0"/>
                </a:solidFill>
                <a:latin typeface="Arial"/>
                <a:ea typeface="DejaVu Sans"/>
              </a:rPr>
              <a:t>: what shall we know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en-US" sz="2800" b="1" dirty="0" err="1"/>
              <a:t>Barostats</a:t>
            </a:r>
            <a:r>
              <a:rPr lang="en-US" sz="2800" b="1" dirty="0"/>
              <a:t>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prstClr val="black"/>
                </a:solidFill>
              </a:rPr>
              <a:t>General tips: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Like for thermostats, use high enough τ to minimize disturbance to system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prstClr val="black"/>
                </a:solidFill>
              </a:rPr>
              <a:t>Barostat</a:t>
            </a:r>
            <a:r>
              <a:rPr lang="en-US" sz="2000" dirty="0">
                <a:solidFill>
                  <a:prstClr val="black"/>
                </a:solidFill>
              </a:rPr>
              <a:t> should work on a several times slower timescale than thermostat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Otherwise </a:t>
            </a:r>
            <a:r>
              <a:rPr lang="en-US" sz="2000" dirty="0" err="1">
                <a:solidFill>
                  <a:prstClr val="black"/>
                </a:solidFill>
              </a:rPr>
              <a:t>barostat</a:t>
            </a:r>
            <a:r>
              <a:rPr lang="en-US" sz="2000" dirty="0">
                <a:solidFill>
                  <a:prstClr val="black"/>
                </a:solidFill>
              </a:rPr>
              <a:t> will compress/expand system to heat/cool it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During initial equilibration of a newly prepared system, run NVT first (no </a:t>
            </a:r>
            <a:r>
              <a:rPr lang="en-US" sz="2000" dirty="0" err="1">
                <a:solidFill>
                  <a:prstClr val="black"/>
                </a:solidFill>
              </a:rPr>
              <a:t>barostat</a:t>
            </a:r>
            <a:r>
              <a:rPr lang="en-US" sz="2000" dirty="0">
                <a:solidFill>
                  <a:prstClr val="black"/>
                </a:solidFill>
              </a:rPr>
              <a:t>) and only add a </a:t>
            </a:r>
            <a:r>
              <a:rPr lang="en-US" sz="2000" dirty="0" err="1">
                <a:solidFill>
                  <a:prstClr val="black"/>
                </a:solidFill>
              </a:rPr>
              <a:t>barostat</a:t>
            </a:r>
            <a:r>
              <a:rPr lang="en-US" sz="2000" dirty="0">
                <a:solidFill>
                  <a:prstClr val="black"/>
                </a:solidFill>
              </a:rPr>
              <a:t> once temperature is sufficiently close to target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prstClr val="black"/>
                </a:solidFill>
              </a:rPr>
              <a:t>For membranes </a:t>
            </a:r>
            <a:r>
              <a:rPr lang="en-US" sz="2000" dirty="0" err="1">
                <a:solidFill>
                  <a:prstClr val="black"/>
                </a:solidFill>
              </a:rPr>
              <a:t>semiisotropic</a:t>
            </a:r>
            <a:r>
              <a:rPr lang="en-US" sz="2000" dirty="0">
                <a:solidFill>
                  <a:prstClr val="black"/>
                </a:solidFill>
              </a:rPr>
              <a:t> </a:t>
            </a:r>
            <a:r>
              <a:rPr lang="en-US" sz="2000" dirty="0" err="1">
                <a:solidFill>
                  <a:prstClr val="black"/>
                </a:solidFill>
              </a:rPr>
              <a:t>barostating</a:t>
            </a:r>
            <a:r>
              <a:rPr lang="en-US" sz="2000" dirty="0">
                <a:solidFill>
                  <a:prstClr val="black"/>
                </a:solidFill>
              </a:rPr>
              <a:t> is necessary!!!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prstClr val="black"/>
              </a:solidFill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s-CZ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TASK4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 -&gt;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rPr>
              <a:t> Let’s look at </a:t>
            </a:r>
            <a:r>
              <a:rPr kumimoji="0" lang="en-US" sz="20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rPr>
              <a:t>Jupyter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rPr>
              <a:t> notebook...</a:t>
            </a:r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1"/>
            <a:endParaRPr lang="cs-CZ" sz="2000" dirty="0">
              <a:solidFill>
                <a:prstClr val="black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DEB7DE-C6A3-42EE-93FD-304D7543A1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3267" y="5127540"/>
            <a:ext cx="953483" cy="173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644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Back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 to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the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fu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…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membranes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800" dirty="0"/>
              <a:t>OK! </a:t>
            </a:r>
            <a:r>
              <a:rPr lang="en-US" sz="2800" dirty="0"/>
              <a:t>Let’s (total) recall week03 slides:</a:t>
            </a:r>
            <a:r>
              <a:rPr lang="en-US" sz="2800" b="1" dirty="0"/>
              <a:t> </a:t>
            </a:r>
            <a:endParaRPr lang="cs-CZ" sz="2000" dirty="0">
              <a:solidFill>
                <a:prstClr val="black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79B8FE-02E3-4990-9838-49170B8A4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716" y="1832490"/>
            <a:ext cx="7916567" cy="445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33755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Back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 to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the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fu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…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membranes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r>
              <a:rPr lang="cs-CZ" sz="2800" dirty="0"/>
              <a:t>OK! </a:t>
            </a:r>
            <a:r>
              <a:rPr lang="en-US" sz="2800" dirty="0"/>
              <a:t>Let’s (total) recall week03 slides:</a:t>
            </a:r>
            <a:r>
              <a:rPr lang="en-US" sz="2800" b="1" dirty="0"/>
              <a:t> </a:t>
            </a:r>
            <a:endParaRPr lang="cs-CZ" sz="2000" dirty="0">
              <a:solidFill>
                <a:prstClr val="black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prstClr val="black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6FFDED-DAA6-4623-8E96-29962E1A9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406" y="1736495"/>
            <a:ext cx="8042411" cy="4552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3782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1"/>
          <p:cNvSpPr/>
          <p:nvPr/>
        </p:nvSpPr>
        <p:spPr>
          <a:xfrm>
            <a:off x="466560" y="365040"/>
            <a:ext cx="11257560" cy="8244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Back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 to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the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fu</a:t>
            </a:r>
            <a:r>
              <a:rPr lang="cs-CZ" sz="3600" b="1" spc="-1" dirty="0">
                <a:solidFill>
                  <a:srgbClr val="21A9C0"/>
                </a:solidFill>
                <a:latin typeface="Arial"/>
                <a:ea typeface="DejaVu Sans"/>
              </a:rPr>
              <a:t>… </a:t>
            </a:r>
            <a:r>
              <a:rPr lang="cs-CZ" sz="3600" b="1" spc="-1" dirty="0" err="1">
                <a:solidFill>
                  <a:srgbClr val="21A9C0"/>
                </a:solidFill>
                <a:latin typeface="Arial"/>
                <a:ea typeface="DejaVu Sans"/>
              </a:rPr>
              <a:t>membranes</a:t>
            </a:r>
            <a:endParaRPr lang="en-US" sz="3600" b="1" strike="noStrike" spc="-1" dirty="0">
              <a:solidFill>
                <a:srgbClr val="21A9C0"/>
              </a:solidFill>
              <a:latin typeface="Arial"/>
              <a:ea typeface="DejaVu Sans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0EEBD5EC-1D9C-401E-A84E-E5637C2A9CEF}"/>
              </a:ext>
            </a:extLst>
          </p:cNvPr>
          <p:cNvSpPr/>
          <p:nvPr/>
        </p:nvSpPr>
        <p:spPr>
          <a:xfrm>
            <a:off x="466560" y="1189440"/>
            <a:ext cx="11257560" cy="50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s-CZ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TASK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rPr>
              <a:t> -&gt;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rPr>
              <a:t> Let’s look at </a:t>
            </a:r>
            <a:r>
              <a:rPr kumimoji="0" lang="en-US" sz="20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rPr>
              <a:t>Jupyter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rPr>
              <a:t> notebook...</a:t>
            </a:r>
            <a:endParaRPr kumimoji="0" lang="cs-CZ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41380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CustomShape 1"/>
          <p:cNvSpPr/>
          <p:nvPr/>
        </p:nvSpPr>
        <p:spPr>
          <a:xfrm>
            <a:off x="466560" y="747000"/>
            <a:ext cx="11257920" cy="51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3600" b="1" strike="noStrike" spc="-1" dirty="0">
                <a:solidFill>
                  <a:srgbClr val="21A9C0"/>
                </a:solidFill>
                <a:latin typeface="Arial"/>
              </a:rPr>
              <a:t>Break!</a:t>
            </a:r>
            <a:br>
              <a:rPr dirty="0"/>
            </a:br>
            <a:br>
              <a:rPr dirty="0"/>
            </a:br>
            <a:r>
              <a:rPr lang="en-US" sz="3600" b="0" strike="noStrike" spc="-1" dirty="0">
                <a:solidFill>
                  <a:srgbClr val="21A9C0"/>
                </a:solidFill>
                <a:latin typeface="Arial"/>
              </a:rPr>
              <a:t>Get ready for practical session!</a:t>
            </a:r>
            <a:br>
              <a:rPr dirty="0"/>
            </a:br>
            <a:br>
              <a:rPr dirty="0"/>
            </a:br>
            <a:r>
              <a:rPr lang="en-US" sz="3600" b="0" strike="noStrike" spc="-1" dirty="0">
                <a:solidFill>
                  <a:srgbClr val="21A9C0"/>
                </a:solidFill>
                <a:latin typeface="Courier New"/>
              </a:rPr>
              <a:t>cd survival_guide_simulations_c9555/</a:t>
            </a:r>
            <a:br>
              <a:rPr dirty="0"/>
            </a:br>
            <a:br>
              <a:rPr dirty="0"/>
            </a:br>
            <a:r>
              <a:rPr lang="en-US" sz="3600" b="0" strike="noStrike" spc="-1" dirty="0">
                <a:solidFill>
                  <a:srgbClr val="21A9C0"/>
                </a:solidFill>
                <a:latin typeface="Courier New"/>
              </a:rPr>
              <a:t>cd week0</a:t>
            </a:r>
            <a:r>
              <a:rPr lang="cs-CZ" sz="3600" b="0" strike="noStrike" spc="-1" dirty="0">
                <a:solidFill>
                  <a:srgbClr val="21A9C0"/>
                </a:solidFill>
                <a:latin typeface="Courier New"/>
              </a:rPr>
              <a:t>5</a:t>
            </a:r>
            <a:r>
              <a:rPr lang="en-US" sz="3600" b="0" strike="noStrike" spc="-1" dirty="0">
                <a:solidFill>
                  <a:srgbClr val="21A9C0"/>
                </a:solidFill>
                <a:latin typeface="Courier New"/>
              </a:rPr>
              <a:t>/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3333960" y="6408360"/>
            <a:ext cx="788652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00" b="0" strike="noStrike" spc="-1">
                <a:solidFill>
                  <a:srgbClr val="7AC143"/>
                </a:solidFill>
                <a:latin typeface="Arial"/>
              </a:rPr>
              <a:t>CEITEC at Masaryk University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7" name="CustomShape 3"/>
          <p:cNvSpPr/>
          <p:nvPr/>
        </p:nvSpPr>
        <p:spPr>
          <a:xfrm>
            <a:off x="11221200" y="6408360"/>
            <a:ext cx="5032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7631F74E-FC8C-4CE4-91DA-5B213D874427}" type="slidenum">
              <a:rPr lang="en-US" sz="1200" b="1" strike="noStrike" spc="-1">
                <a:solidFill>
                  <a:srgbClr val="7AC143"/>
                </a:solidFill>
                <a:latin typeface="Arial"/>
              </a:rPr>
              <a:t>32</a:t>
            </a:fld>
            <a:endParaRPr lang="en-US" sz="1200" b="0" strike="noStrike" spc="-1"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35433</TotalTime>
  <Words>1845</Words>
  <Application>Microsoft Office PowerPoint</Application>
  <PresentationFormat>Widescreen</PresentationFormat>
  <Paragraphs>275</Paragraphs>
  <Slides>32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Office Theme</vt:lpstr>
      <vt:lpstr>PowerPoint Presentation</vt:lpstr>
      <vt:lpstr>PowerPoint Presentation</vt:lpstr>
      <vt:lpstr>Get ready for practical session</vt:lpstr>
      <vt:lpstr>Get ready for practical session</vt:lpstr>
      <vt:lpstr>Get ready for practical session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Michaela Palata</dc:creator>
  <dc:description/>
  <cp:lastModifiedBy>Ondra Kroutil</cp:lastModifiedBy>
  <cp:revision>416</cp:revision>
  <cp:lastPrinted>2017-09-20T07:48:49Z</cp:lastPrinted>
  <dcterms:created xsi:type="dcterms:W3CDTF">2017-09-06T10:48:47Z</dcterms:created>
  <dcterms:modified xsi:type="dcterms:W3CDTF">2023-10-26T07:20:18Z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26</vt:i4>
  </property>
  <property fmtid="{D5CDD505-2E9C-101B-9397-08002B2CF9AE}" pid="8" name="PresentationFormat">
    <vt:lpwstr>Širokoúhlá obrazovka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26</vt:i4>
  </property>
</Properties>
</file>