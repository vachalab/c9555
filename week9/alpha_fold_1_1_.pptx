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7" r:id="rId2"/>
    <p:sldId id="810" r:id="rId3"/>
    <p:sldId id="831" r:id="rId4"/>
    <p:sldId id="836" r:id="rId5"/>
    <p:sldId id="834" r:id="rId6"/>
    <p:sldId id="823" r:id="rId7"/>
    <p:sldId id="811" r:id="rId8"/>
    <p:sldId id="822" r:id="rId9"/>
    <p:sldId id="833" r:id="rId10"/>
    <p:sldId id="828" r:id="rId11"/>
    <p:sldId id="825" r:id="rId12"/>
    <p:sldId id="826" r:id="rId13"/>
    <p:sldId id="829" r:id="rId14"/>
    <p:sldId id="827" r:id="rId15"/>
    <p:sldId id="830" r:id="rId16"/>
    <p:sldId id="835" r:id="rId17"/>
  </p:sldIdLst>
  <p:sldSz cx="12192000" cy="6858000"/>
  <p:notesSz cx="6865938" cy="99964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C143"/>
    <a:srgbClr val="21A9C0"/>
    <a:srgbClr val="39464A"/>
    <a:srgbClr val="62BB46"/>
    <a:srgbClr val="F6F7F7"/>
    <a:srgbClr val="EBECED"/>
    <a:srgbClr val="F0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46DE74-F67D-4747-8274-D6AA2A3FF42F}" v="45" dt="2023-09-18T08:47:12.022"/>
    <p1510:client id="{C05653FF-E00C-1C6C-6FF8-0BBDAA994EE2}" v="953" dt="2023-09-19T09:57:17.003"/>
    <p1510:client id="{C078B6D0-C756-861D-476D-035113A1C101}" v="33" dt="2023-09-19T09:58:45.578"/>
    <p1510:client id="{C466FF33-9758-6E46-3882-CFB104EB85F8}" v="465" dt="2023-09-18T14:40:58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512" autoAdjust="0"/>
  </p:normalViewPr>
  <p:slideViewPr>
    <p:cSldViewPr snapToGrid="0" showGuides="1">
      <p:cViewPr varScale="1">
        <p:scale>
          <a:sx n="137" d="100"/>
          <a:sy n="137" d="100"/>
        </p:scale>
        <p:origin x="1146" y="132"/>
      </p:cViewPr>
      <p:guideLst>
        <p:guide orient="horz" pos="2136"/>
        <p:guide pos="381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28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879682-766A-4EC9-9AB4-6B05D94CFB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EE19B-11B0-4020-A52B-9F88D94D7A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00A26804-296B-4572-A0F9-372DDB81CE0C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C4B6D-059E-45D0-AFA3-0D9EA856C1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24AFA-A144-419F-8FDA-EB926EDC5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23F7E358-18BC-4B0A-BB40-FB7A647C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53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560"/>
          </a:xfrm>
          <a:prstGeom prst="rect">
            <a:avLst/>
          </a:prstGeom>
        </p:spPr>
        <p:txBody>
          <a:bodyPr vert="horz" lIns="96350" tIns="48175" rIns="96350" bIns="48175" rtlCol="0"/>
          <a:lstStyle>
            <a:lvl1pPr algn="r">
              <a:defRPr sz="1300"/>
            </a:lvl1pPr>
          </a:lstStyle>
          <a:p>
            <a:fld id="{DD6D46A3-849D-4409-B0D0-71D3CF0B43A8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0" tIns="48175" rIns="96350" bIns="4817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810810"/>
            <a:ext cx="5492750" cy="3936117"/>
          </a:xfrm>
          <a:prstGeom prst="rect">
            <a:avLst/>
          </a:prstGeom>
        </p:spPr>
        <p:txBody>
          <a:bodyPr vert="horz" lIns="96350" tIns="48175" rIns="96350" bIns="4817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9494929"/>
            <a:ext cx="2975240" cy="501559"/>
          </a:xfrm>
          <a:prstGeom prst="rect">
            <a:avLst/>
          </a:prstGeom>
        </p:spPr>
        <p:txBody>
          <a:bodyPr vert="horz" lIns="96350" tIns="48175" rIns="96350" bIns="48175" rtlCol="0" anchor="b"/>
          <a:lstStyle>
            <a:lvl1pPr algn="r">
              <a:defRPr sz="1300"/>
            </a:lvl1pPr>
          </a:lstStyle>
          <a:p>
            <a:fld id="{934B23C0-22E8-4F3C-9489-1582CADF8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102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Zástupný symbol pro obrázek snímku 1">
            <a:extLst>
              <a:ext uri="{FF2B5EF4-FFF2-40B4-BE49-F238E27FC236}">
                <a16:creationId xmlns:a16="http://schemas.microsoft.com/office/drawing/2014/main" id="{38BA96DA-4AED-4D58-84B8-34CF840B3C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Zástupný symbol pro poznámky 2">
            <a:extLst>
              <a:ext uri="{FF2B5EF4-FFF2-40B4-BE49-F238E27FC236}">
                <a16:creationId xmlns:a16="http://schemas.microsoft.com/office/drawing/2014/main" id="{F662795C-91AB-43C4-BA8F-96DF9EA60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cs-CZ" dirty="0">
              <a:latin typeface="Arial" panose="020B0604020202020204" pitchFamily="34" charset="0"/>
            </a:endParaRPr>
          </a:p>
        </p:txBody>
      </p:sp>
      <p:sp>
        <p:nvSpPr>
          <p:cNvPr id="24580" name="Zástupný symbol pro číslo snímku 3">
            <a:extLst>
              <a:ext uri="{FF2B5EF4-FFF2-40B4-BE49-F238E27FC236}">
                <a16:creationId xmlns:a16="http://schemas.microsoft.com/office/drawing/2014/main" id="{868B11F0-8907-433A-80EB-551E64857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2846" indent="-30109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4379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86131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67882" indent="-240876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49634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31386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13137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94889" indent="-240876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278E9E-F237-4B5E-8E23-061410CD0F9A}" type="slidenum">
              <a:rPr lang="cs-CZ" altLang="en-US" smtClean="0"/>
              <a:pPr/>
              <a:t>1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27885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tif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9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0847581D-BF1F-49D3-8CFA-5B02D626EF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" y="0"/>
            <a:ext cx="121919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7706" y="2562224"/>
            <a:ext cx="10796588" cy="23479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706" y="5105399"/>
            <a:ext cx="10796588" cy="971551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26D5F3CA-36BC-4D5C-8C42-8CED5BE448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78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M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E0E3403-9337-4A39-8B2D-87B1289DA3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265" y="696566"/>
            <a:ext cx="2280168" cy="64997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882B0-7EFB-A55A-5C7E-712BBACC99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0337-37EF-4DF1-BD49-2A9123506A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42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V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9F17AD4-BF40-4CDC-AF09-240A8C46A2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B285C7-5CA1-4CCD-B525-B2018194D5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5149" y="3794257"/>
            <a:ext cx="7642460" cy="2624672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41EFE-777F-4A56-8927-46C0E64FDE0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5149" y="2759384"/>
            <a:ext cx="4882564" cy="1034873"/>
          </a:xfrm>
        </p:spPr>
        <p:txBody>
          <a:bodyPr anchor="ctr"/>
          <a:lstStyle>
            <a:lvl1pPr marL="0" indent="0" algn="l">
              <a:buNone/>
              <a:defRPr sz="2400">
                <a:solidFill>
                  <a:srgbClr val="39464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/ </a:t>
            </a:r>
            <a:r>
              <a:rPr lang="cs-CZ" dirty="0" err="1"/>
              <a:t>Date</a:t>
            </a:r>
            <a:r>
              <a:rPr lang="cs-CZ" dirty="0"/>
              <a:t> / </a:t>
            </a:r>
            <a:r>
              <a:rPr lang="cs-CZ" dirty="0" err="1"/>
              <a:t>etc</a:t>
            </a:r>
            <a:r>
              <a:rPr lang="cs-CZ" dirty="0"/>
              <a:t>.</a:t>
            </a:r>
            <a:endParaRPr lang="en-US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FC790552-49A7-425E-93B6-614B6C390F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1146" y="634882"/>
            <a:ext cx="2453146" cy="78434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2759ED6C-1EB3-4712-BF5C-70DCD3AAE8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61" y="508644"/>
            <a:ext cx="3810330" cy="109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8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E6604-08F1-4707-8B60-4EB32C7D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341947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6D9DB-552C-437D-8CD9-3FB1FDF8A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3975101"/>
            <a:ext cx="11258550" cy="18097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9AAEBC2-CD82-476B-9F09-93700AEF63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1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and </a:t>
            </a:r>
            <a:r>
              <a:rPr lang="cs-CZ" dirty="0" err="1"/>
              <a:t>contact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07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1 + Ma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12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0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319AF6D-F060-4957-9980-5C58B744B4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DA5B2AE9-8589-4FDB-86BF-795C977B00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100" y="2752825"/>
            <a:ext cx="2911241" cy="2685875"/>
          </a:xfrm>
        </p:spPr>
        <p:txBody>
          <a:bodyPr anchor="ctr">
            <a:normAutofit/>
          </a:bodyPr>
          <a:lstStyle>
            <a:lvl1pPr marL="0" indent="0">
              <a:buNone/>
              <a:defRPr sz="2200" b="0"/>
            </a:lvl1pPr>
          </a:lstStyle>
          <a:p>
            <a:pPr lvl="0"/>
            <a:r>
              <a:rPr lang="cs-CZ" dirty="0"/>
              <a:t>Name of </a:t>
            </a:r>
            <a:r>
              <a:rPr lang="cs-CZ" dirty="0" err="1"/>
              <a:t>the</a:t>
            </a:r>
            <a:r>
              <a:rPr lang="cs-CZ" dirty="0"/>
              <a:t> </a:t>
            </a:r>
            <a:r>
              <a:rPr lang="cs-CZ" dirty="0" err="1"/>
              <a:t>presenter</a:t>
            </a:r>
            <a:r>
              <a:rPr lang="cs-CZ" dirty="0"/>
              <a:t> and </a:t>
            </a:r>
            <a:r>
              <a:rPr lang="cs-CZ" dirty="0" err="1"/>
              <a:t>contact</a:t>
            </a: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2008874-79A5-4DE1-BCF0-36751DC0A1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531" y="941772"/>
            <a:ext cx="705133" cy="704925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052C0C8B-E6B3-44D0-A48A-7295275649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1526" y="3743299"/>
            <a:ext cx="654514" cy="704925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3181E908-6745-4219-BA55-1589016E203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52440" y="3752924"/>
            <a:ext cx="823313" cy="597410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B5586552-65C1-4EC7-9AB9-DC4F19DD0CB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2185" y="5217319"/>
            <a:ext cx="470509" cy="704925"/>
          </a:xfrm>
          <a:prstGeom prst="rect">
            <a:avLst/>
          </a:prstGeom>
        </p:spPr>
      </p:pic>
      <p:pic>
        <p:nvPicPr>
          <p:cNvPr id="16" name="Obrázek 15">
            <a:extLst>
              <a:ext uri="{FF2B5EF4-FFF2-40B4-BE49-F238E27FC236}">
                <a16:creationId xmlns:a16="http://schemas.microsoft.com/office/drawing/2014/main" id="{7A7C1077-A523-46E1-8E41-85BCF30F7B3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4111" y="2501473"/>
            <a:ext cx="806659" cy="502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544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9898-7198-401D-B3BC-3FDCD0A3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3CC8-3D58-4CC9-9980-7B6494CB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E952B-CD96-4622-A77D-60AFBF8CF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665D-584B-488A-A8B7-BB61BBA1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5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89CAB-B78F-4547-932E-9B52A5186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7B3D8-C8FD-4695-9AED-29B11F411C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725" y="1523999"/>
            <a:ext cx="5553075" cy="436245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E075E-B249-44D9-B1FB-63F9B35A8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23999"/>
            <a:ext cx="5553075" cy="43624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01AEE-DAAA-4A1F-B4D5-C1D7F373D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55FF9-EAF5-495E-B1E1-C394C4CA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2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E032-3DB1-4A87-8AE3-C0F98583F7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6725" y="365126"/>
            <a:ext cx="11258549" cy="825500"/>
          </a:xfrm>
        </p:spPr>
        <p:txBody>
          <a:bodyPr anchor="ctr"/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DB929-F940-434E-A2F5-04BDA1A51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24519"/>
            <a:ext cx="6542086" cy="4361932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82815-0A5C-47DC-B1C0-50CE63A0A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6726" y="1523999"/>
            <a:ext cx="4305300" cy="4344989"/>
          </a:xfrm>
        </p:spPr>
        <p:txBody>
          <a:bodyPr/>
          <a:lstStyle>
            <a:lvl1pPr marL="0" indent="0">
              <a:buNone/>
              <a:defRPr sz="1600">
                <a:solidFill>
                  <a:srgbClr val="21A9C0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4B685-CFA1-4464-8529-905FEFC6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47864-7B38-4FF5-A909-FCBDE435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4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15CF-2973-4EFE-89BA-8E59AE0F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99087-1842-44DB-BB79-81977A08B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9022D-9CCE-4F2C-9FAC-85753E6ED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19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593CE-C65C-430F-BAA7-1712F387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CD5F8-EC74-418B-94C9-EFF8FDD95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28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E2BC1-A033-4DE0-B239-698661E50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365126"/>
            <a:ext cx="11258550" cy="8255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D50F1-72F9-4DD3-93B1-AC146414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5" y="1523999"/>
            <a:ext cx="11258550" cy="43624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F2A22-6712-4C0F-85B7-FFFB9E80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3919" y="6408258"/>
            <a:ext cx="7887356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rgbClr val="7AC143"/>
                </a:solidFill>
              </a:defRPr>
            </a:lvl1pPr>
          </a:lstStyle>
          <a:p>
            <a:r>
              <a:rPr lang="en-US"/>
              <a:t>CEITEC at Masaryk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891C1-86C2-4C30-A8CF-AC3354D3C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1275" y="6408258"/>
            <a:ext cx="504000" cy="216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 b="1">
                <a:solidFill>
                  <a:srgbClr val="7AC143"/>
                </a:solidFill>
              </a:defRPr>
            </a:lvl1pPr>
          </a:lstStyle>
          <a:p>
            <a:fld id="{AFE3D702-57F1-4CB0-B451-B14F76DC041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1B9B6A7-7477-4E45-A58A-5FA0ADD26247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39" y="6423535"/>
            <a:ext cx="1661620" cy="21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67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60" r:id="rId3"/>
    <p:sldLayoutId id="2147483651" r:id="rId4"/>
    <p:sldLayoutId id="2147483657" r:id="rId5"/>
    <p:sldLayoutId id="2147483662" r:id="rId6"/>
    <p:sldLayoutId id="2147483661" r:id="rId7"/>
    <p:sldLayoutId id="2147483650" r:id="rId8"/>
    <p:sldLayoutId id="2147483652" r:id="rId9"/>
    <p:sldLayoutId id="2147483656" r:id="rId10"/>
    <p:sldLayoutId id="2147483654" r:id="rId11"/>
    <p:sldLayoutId id="2147483655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A9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1A9C0"/>
        </a:buClr>
        <a:buFont typeface="Arial" panose="020B0604020202020204" pitchFamily="34" charset="0"/>
        <a:buChar char="•"/>
        <a:defRPr sz="2400" kern="1200">
          <a:solidFill>
            <a:srgbClr val="39464A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2000" kern="1200">
          <a:solidFill>
            <a:srgbClr val="39464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800" kern="1200">
          <a:solidFill>
            <a:srgbClr val="39464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1A9C0"/>
        </a:buClr>
        <a:buFont typeface="Arial" panose="020B0604020202020204" pitchFamily="34" charset="0"/>
        <a:buChar char="•"/>
        <a:defRPr sz="1600" kern="1200">
          <a:solidFill>
            <a:srgbClr val="39464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dnadpis 1">
            <a:extLst>
              <a:ext uri="{FF2B5EF4-FFF2-40B4-BE49-F238E27FC236}">
                <a16:creationId xmlns:a16="http://schemas.microsoft.com/office/drawing/2014/main" id="{E38636A8-6216-4BCE-8A5E-6572CEFC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04" y="6291445"/>
            <a:ext cx="4480036" cy="566555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7AC143"/>
                </a:solidFill>
              </a:rPr>
              <a:t>William Morton– </a:t>
            </a:r>
            <a:r>
              <a:rPr lang="fr-FR" dirty="0" err="1">
                <a:solidFill>
                  <a:srgbClr val="7AC143"/>
                </a:solidFill>
              </a:rPr>
              <a:t>Nov</a:t>
            </a:r>
            <a:r>
              <a:rPr lang="fr-FR" dirty="0">
                <a:solidFill>
                  <a:srgbClr val="7AC143"/>
                </a:solidFill>
              </a:rPr>
              <a:t> 23rd, 2023</a:t>
            </a: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B1D9170C-9B46-4288-9A83-9C9E72152AC7}"/>
              </a:ext>
            </a:extLst>
          </p:cNvPr>
          <p:cNvSpPr/>
          <p:nvPr/>
        </p:nvSpPr>
        <p:spPr>
          <a:xfrm>
            <a:off x="762000" y="1066800"/>
            <a:ext cx="3825240" cy="548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769A61-85EE-391F-AD6B-C212B8E41E75}"/>
              </a:ext>
            </a:extLst>
          </p:cNvPr>
          <p:cNvSpPr txBox="1">
            <a:spLocks noChangeArrowheads="1"/>
          </p:cNvSpPr>
          <p:nvPr/>
        </p:nvSpPr>
        <p:spPr>
          <a:xfrm>
            <a:off x="206177" y="4408238"/>
            <a:ext cx="2966039" cy="78012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21A9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cs-CZ" sz="4000" cap="small" dirty="0"/>
              <a:t>Week 9</a:t>
            </a:r>
            <a:endParaRPr lang="cs-CZ" altLang="cs-CZ" sz="4000" cap="small" dirty="0"/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E4B30EF6-4641-45F0-9275-01C71BCFFE6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6177" y="1783566"/>
            <a:ext cx="6259507" cy="2624672"/>
          </a:xfrm>
        </p:spPr>
        <p:txBody>
          <a:bodyPr/>
          <a:lstStyle/>
          <a:p>
            <a:pPr eaLnBrk="1" hangingPunct="1"/>
            <a:r>
              <a:rPr lang="en-US" altLang="cs-CZ" dirty="0"/>
              <a:t>C9555: </a:t>
            </a:r>
            <a:br>
              <a:rPr lang="en-US" altLang="cs-CZ" dirty="0"/>
            </a:br>
            <a:r>
              <a:rPr lang="en-US" altLang="cs-CZ" dirty="0"/>
              <a:t>A survival guide</a:t>
            </a:r>
            <a:br>
              <a:rPr lang="en-US" altLang="cs-CZ" dirty="0"/>
            </a:br>
            <a:r>
              <a:rPr lang="en-US" altLang="cs-CZ" dirty="0"/>
              <a:t>to simulations</a:t>
            </a:r>
            <a:endParaRPr lang="cs-CZ" altLang="cs-CZ" dirty="0"/>
          </a:p>
        </p:txBody>
      </p:sp>
    </p:spTree>
    <p:extLst>
      <p:ext uri="{BB962C8B-B14F-4D97-AF65-F5344CB8AC3E}">
        <p14:creationId xmlns:p14="http://schemas.microsoft.com/office/powerpoint/2010/main" val="2147597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  <a:endParaRPr lang="cs-CZ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738817F-2B33-4C4B-71CC-C42BB896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When</a:t>
            </a:r>
            <a:r>
              <a:rPr lang="cs-CZ" dirty="0">
                <a:cs typeface="Arial"/>
              </a:rPr>
              <a:t> to use </a:t>
            </a:r>
            <a:r>
              <a:rPr lang="cs-CZ" dirty="0" err="1">
                <a:cs typeface="Arial"/>
              </a:rPr>
              <a:t>coarse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graining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Algorithms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used</a:t>
            </a:r>
            <a:r>
              <a:rPr lang="cs-CZ" dirty="0">
                <a:cs typeface="Arial"/>
              </a:rPr>
              <a:t> to </a:t>
            </a:r>
            <a:r>
              <a:rPr lang="cs-CZ" dirty="0" err="1">
                <a:cs typeface="Arial"/>
              </a:rPr>
              <a:t>describe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accuracy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predictions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does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Alpha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predict</a:t>
            </a:r>
            <a:r>
              <a:rPr lang="cs-CZ" dirty="0">
                <a:cs typeface="Arial"/>
              </a:rPr>
              <a:t> a protein </a:t>
            </a:r>
            <a:r>
              <a:rPr lang="cs-CZ" dirty="0" err="1">
                <a:cs typeface="Arial"/>
              </a:rPr>
              <a:t>structure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Move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proteins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Alpha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Fold</a:t>
            </a:r>
            <a:r>
              <a:rPr lang="cs-CZ" dirty="0">
                <a:cs typeface="Arial"/>
              </a:rPr>
              <a:t> to MD</a:t>
            </a:r>
          </a:p>
          <a:p>
            <a:pPr marL="457200" indent="-457200">
              <a:buAutoNum type="arabicPeriod"/>
            </a:pPr>
            <a:endParaRPr lang="cs-CZ" dirty="0">
              <a:cs typeface="Arial"/>
            </a:endParaRPr>
          </a:p>
          <a:p>
            <a:pPr marL="457200" indent="-457200">
              <a:buAutoNum type="arabicPeriod"/>
            </a:pPr>
            <a:r>
              <a:rPr lang="cs-CZ" dirty="0" err="1">
                <a:cs typeface="Arial"/>
              </a:rPr>
              <a:t>Determine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translatable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properties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experiment to MD</a:t>
            </a:r>
          </a:p>
          <a:p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08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Coarse Grained Simulations</a:t>
            </a:r>
            <a:endParaRPr lang="cs-CZ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7738817F-2B33-4C4B-71CC-C42BB8962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457200" indent="-457200">
              <a:lnSpc>
                <a:spcPct val="200000"/>
              </a:lnSpc>
            </a:pPr>
            <a:r>
              <a:rPr lang="cs-CZ" err="1">
                <a:cs typeface="Arial"/>
              </a:rPr>
              <a:t>How</a:t>
            </a:r>
            <a:r>
              <a:rPr lang="cs-CZ" dirty="0">
                <a:cs typeface="Arial"/>
              </a:rPr>
              <a:t> long </a:t>
            </a:r>
            <a:r>
              <a:rPr lang="cs-CZ" err="1">
                <a:cs typeface="Arial"/>
              </a:rPr>
              <a:t>does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it</a:t>
            </a:r>
            <a:r>
              <a:rPr lang="cs-CZ" dirty="0">
                <a:cs typeface="Arial"/>
              </a:rPr>
              <a:t> také to </a:t>
            </a:r>
            <a:r>
              <a:rPr lang="cs-CZ" err="1">
                <a:cs typeface="Arial"/>
              </a:rPr>
              <a:t>see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effects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you'd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like</a:t>
            </a:r>
            <a:r>
              <a:rPr lang="cs-CZ" dirty="0">
                <a:cs typeface="Arial"/>
              </a:rPr>
              <a:t> to study?</a:t>
            </a:r>
            <a:endParaRPr lang="cs-CZ">
              <a:cs typeface="Arial"/>
            </a:endParaRPr>
          </a:p>
          <a:p>
            <a:pPr marL="457200" indent="-457200">
              <a:lnSpc>
                <a:spcPct val="200000"/>
              </a:lnSpc>
            </a:pPr>
            <a:r>
              <a:rPr lang="cs-CZ" err="1">
                <a:cs typeface="Arial"/>
              </a:rPr>
              <a:t>How</a:t>
            </a:r>
            <a:r>
              <a:rPr lang="cs-CZ" dirty="0">
                <a:cs typeface="Arial"/>
              </a:rPr>
              <a:t> much </a:t>
            </a:r>
            <a:r>
              <a:rPr lang="cs-CZ" err="1">
                <a:cs typeface="Arial"/>
              </a:rPr>
              <a:t>sampling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will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need</a:t>
            </a:r>
            <a:r>
              <a:rPr lang="cs-CZ" dirty="0">
                <a:cs typeface="Arial"/>
              </a:rPr>
              <a:t> in/</a:t>
            </a:r>
            <a:r>
              <a:rPr lang="cs-CZ" err="1">
                <a:cs typeface="Arial"/>
              </a:rPr>
              <a:t>around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that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state</a:t>
            </a:r>
            <a:r>
              <a:rPr lang="cs-CZ" dirty="0">
                <a:cs typeface="Arial"/>
              </a:rPr>
              <a:t>?</a:t>
            </a:r>
          </a:p>
          <a:p>
            <a:pPr marL="457200" indent="-457200">
              <a:lnSpc>
                <a:spcPct val="200000"/>
              </a:lnSpc>
            </a:pPr>
            <a:r>
              <a:rPr lang="cs-CZ" err="1">
                <a:cs typeface="Arial"/>
              </a:rPr>
              <a:t>Will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need</a:t>
            </a:r>
            <a:r>
              <a:rPr lang="cs-CZ" dirty="0">
                <a:cs typeface="Arial"/>
              </a:rPr>
              <a:t> to </a:t>
            </a:r>
            <a:r>
              <a:rPr lang="cs-CZ" err="1">
                <a:cs typeface="Arial"/>
              </a:rPr>
              <a:t>understand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effect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water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or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ions</a:t>
            </a:r>
            <a:r>
              <a:rPr lang="cs-CZ" dirty="0">
                <a:cs typeface="Arial"/>
              </a:rPr>
              <a:t>?</a:t>
            </a:r>
          </a:p>
          <a:p>
            <a:pPr marL="457200" indent="-457200">
              <a:lnSpc>
                <a:spcPct val="200000"/>
              </a:lnSpc>
            </a:pPr>
            <a:r>
              <a:rPr lang="cs-CZ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resolution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need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for</a:t>
            </a:r>
            <a:r>
              <a:rPr lang="cs-CZ" dirty="0">
                <a:cs typeface="Arial"/>
              </a:rPr>
              <a:t> a </a:t>
            </a:r>
            <a:r>
              <a:rPr lang="cs-CZ" err="1">
                <a:cs typeface="Arial"/>
              </a:rPr>
              <a:t>scientific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finding</a:t>
            </a:r>
            <a:r>
              <a:rPr lang="cs-CZ" dirty="0">
                <a:cs typeface="Arial"/>
              </a:rPr>
              <a:t>?</a:t>
            </a:r>
          </a:p>
          <a:p>
            <a:endParaRPr lang="cs-CZ" dirty="0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61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72C222-C111-8EE9-4067-A278BBFD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Coarse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Grained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Simulations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3BD5CA-2FAF-97F7-B79A-3FFC50BE3FA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dirty="0">
                <a:cs typeface="Arial"/>
              </a:rPr>
              <a:t>Video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spike</a:t>
            </a:r>
            <a:r>
              <a:rPr lang="cs-CZ" dirty="0">
                <a:cs typeface="Arial"/>
              </a:rPr>
              <a:t> protein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FD1D124-7360-3991-DF3B-0CA4F39BC3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dirty="0">
                <a:cs typeface="Arial"/>
              </a:rPr>
              <a:t>Video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capsid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rupture</a:t>
            </a:r>
            <a:endParaRPr lang="cs-CZ" dirty="0" err="1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08A0AEC-05DB-A603-2DC4-0503BDE27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C31B4A9-2B95-916E-DC8D-7656A39DD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85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Coarse Grained Simulations</a:t>
            </a:r>
            <a:endParaRPr lang="cs-CZ" dirty="0"/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02D08E7B-9337-408F-813C-6E484579C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579" y="1523999"/>
            <a:ext cx="11263695" cy="4362452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err="1">
                <a:cs typeface="Arial"/>
              </a:rPr>
              <a:t>Water</a:t>
            </a:r>
            <a:endParaRPr lang="cs-CZ">
              <a:cs typeface="Arial"/>
            </a:endParaRPr>
          </a:p>
          <a:p>
            <a:pPr lvl="1"/>
            <a:r>
              <a:rPr lang="cs-CZ" dirty="0" err="1">
                <a:cs typeface="Arial"/>
              </a:rPr>
              <a:t>Treated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explicitly</a:t>
            </a:r>
            <a:r>
              <a:rPr lang="cs-CZ" dirty="0">
                <a:cs typeface="Arial"/>
              </a:rPr>
              <a:t> – to transfer </a:t>
            </a:r>
            <a:r>
              <a:rPr lang="cs-CZ" dirty="0" err="1">
                <a:cs typeface="Arial"/>
              </a:rPr>
              <a:t>heat</a:t>
            </a:r>
            <a:r>
              <a:rPr lang="cs-CZ" dirty="0">
                <a:cs typeface="Arial"/>
              </a:rPr>
              <a:t> and </a:t>
            </a:r>
            <a:r>
              <a:rPr lang="cs-CZ" dirty="0" err="1">
                <a:cs typeface="Arial"/>
              </a:rPr>
              <a:t>introduce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brownian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motion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add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random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forces</a:t>
            </a:r>
          </a:p>
          <a:p>
            <a:pPr lvl="1"/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Atoms</a:t>
            </a:r>
          </a:p>
          <a:p>
            <a:pPr lvl="1"/>
            <a:r>
              <a:rPr lang="cs-CZ" dirty="0">
                <a:cs typeface="Arial"/>
              </a:rPr>
              <a:t>Group </a:t>
            </a:r>
            <a:r>
              <a:rPr lang="cs-CZ" dirty="0" err="1">
                <a:cs typeface="Arial"/>
              </a:rPr>
              <a:t>their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movement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together</a:t>
            </a:r>
            <a:r>
              <a:rPr lang="cs-CZ" dirty="0">
                <a:cs typeface="Arial"/>
              </a:rPr>
              <a:t>, </a:t>
            </a:r>
            <a:r>
              <a:rPr lang="cs-CZ" dirty="0" err="1">
                <a:cs typeface="Arial"/>
              </a:rPr>
              <a:t>smoothing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surface</a:t>
            </a:r>
            <a:r>
              <a:rPr lang="cs-CZ" dirty="0">
                <a:cs typeface="Arial"/>
              </a:rPr>
              <a:t> (</a:t>
            </a:r>
            <a:r>
              <a:rPr lang="cs-CZ" dirty="0" err="1">
                <a:cs typeface="Arial"/>
              </a:rPr>
              <a:t>atoms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become</a:t>
            </a:r>
            <a:r>
              <a:rPr lang="cs-CZ" dirty="0">
                <a:cs typeface="Arial"/>
              </a:rPr>
              <a:t> '</a:t>
            </a:r>
            <a:r>
              <a:rPr lang="cs-CZ" dirty="0" err="1">
                <a:cs typeface="Arial"/>
              </a:rPr>
              <a:t>beads</a:t>
            </a:r>
            <a:r>
              <a:rPr lang="cs-CZ" dirty="0">
                <a:cs typeface="Arial"/>
              </a:rPr>
              <a:t>')</a:t>
            </a:r>
          </a:p>
          <a:p>
            <a:pPr lvl="1"/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Force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Field</a:t>
            </a:r>
          </a:p>
          <a:p>
            <a:pPr lvl="1"/>
            <a:r>
              <a:rPr lang="cs-CZ" dirty="0" err="1">
                <a:cs typeface="Arial"/>
              </a:rPr>
              <a:t>Ensure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interaction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between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beads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representative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desired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interaction</a:t>
            </a:r>
          </a:p>
          <a:p>
            <a:pPr marL="457200" lvl="1" indent="0">
              <a:buNone/>
            </a:pPr>
            <a:endParaRPr lang="cs-CZ" dirty="0">
              <a:cs typeface="Arial"/>
            </a:endParaRPr>
          </a:p>
          <a:p>
            <a:pPr marL="457200" lvl="1" indent="0">
              <a:buNone/>
            </a:pPr>
            <a:endParaRPr lang="cs-CZ" dirty="0">
              <a:cs typeface="Arial"/>
            </a:endParaRPr>
          </a:p>
          <a:p>
            <a:pPr marL="0">
              <a:buNone/>
            </a:pPr>
            <a:r>
              <a:rPr lang="cs-CZ" dirty="0" err="1">
                <a:cs typeface="Arial"/>
              </a:rPr>
              <a:t>Will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cover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more in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practical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5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Fold Prediction Accuracy</a:t>
            </a:r>
            <a:endParaRPr lang="cs-CZ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7331A95-49F9-86F2-737B-F13B5CBF8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6651516" cy="4362451"/>
          </a:xfrm>
        </p:spPr>
        <p:txBody>
          <a:bodyPr vert="horz" lIns="0" tIns="0" rIns="0" bIns="0" rtlCol="0" anchor="t"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cs-CZ" err="1">
                <a:cs typeface="Arial"/>
              </a:rPr>
              <a:t>Predicted</a:t>
            </a:r>
            <a:r>
              <a:rPr lang="cs-CZ" dirty="0">
                <a:cs typeface="Arial"/>
              </a:rPr>
              <a:t> LLDT</a:t>
            </a:r>
            <a:endParaRPr lang="cs-CZ"/>
          </a:p>
          <a:p>
            <a:pPr lvl="1">
              <a:lnSpc>
                <a:spcPct val="200000"/>
              </a:lnSpc>
            </a:pPr>
            <a:r>
              <a:rPr lang="cs-CZ" err="1">
                <a:cs typeface="Arial"/>
              </a:rPr>
              <a:t>Determines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accuracy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u="sng" err="1">
                <a:cs typeface="Arial"/>
              </a:rPr>
              <a:t>local</a:t>
            </a:r>
            <a:r>
              <a:rPr lang="cs-CZ" u="sng" dirty="0">
                <a:cs typeface="Arial"/>
              </a:rPr>
              <a:t> </a:t>
            </a:r>
            <a:r>
              <a:rPr lang="cs-CZ" err="1">
                <a:cs typeface="Arial"/>
              </a:rPr>
              <a:t>structures</a:t>
            </a:r>
            <a:endParaRPr lang="cs-CZ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Recquires</a:t>
            </a:r>
            <a:r>
              <a:rPr lang="cs-CZ" dirty="0">
                <a:cs typeface="Arial"/>
              </a:rPr>
              <a:t> a reference model</a:t>
            </a:r>
          </a:p>
          <a:p>
            <a:pPr>
              <a:lnSpc>
                <a:spcPct val="200000"/>
              </a:lnSpc>
            </a:pPr>
            <a:r>
              <a:rPr lang="cs-CZ" dirty="0" err="1">
                <a:cs typeface="Arial"/>
              </a:rPr>
              <a:t>Predicted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Aligned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Error</a:t>
            </a:r>
            <a:endParaRPr lang="en-US" dirty="0" err="1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Determines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accuracy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relative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position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between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pairs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of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residues</a:t>
            </a:r>
            <a:endParaRPr lang="cs-CZ" dirty="0">
              <a:cs typeface="Arial"/>
            </a:endParaRPr>
          </a:p>
          <a:p>
            <a:pPr lvl="1">
              <a:lnSpc>
                <a:spcPct val="200000"/>
              </a:lnSpc>
            </a:pPr>
            <a:r>
              <a:rPr lang="cs-CZ" dirty="0" err="1">
                <a:cs typeface="Arial"/>
              </a:rPr>
              <a:t>Good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exploring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residues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same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domain</a:t>
            </a:r>
            <a:endParaRPr lang="cs-CZ" dirty="0">
              <a:cs typeface="Arial"/>
            </a:endParaRPr>
          </a:p>
          <a:p>
            <a:pPr lvl="1"/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6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Arial"/>
            </a:endParaRPr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21D7AE98-7B27-4FED-84E8-65B4FC94032B}"/>
              </a:ext>
            </a:extLst>
          </p:cNvPr>
          <p:cNvGrpSpPr/>
          <p:nvPr/>
        </p:nvGrpSpPr>
        <p:grpSpPr>
          <a:xfrm>
            <a:off x="6576772" y="1525310"/>
            <a:ext cx="5403125" cy="2009146"/>
            <a:chOff x="6570483" y="2348845"/>
            <a:chExt cx="5403125" cy="2009146"/>
          </a:xfrm>
        </p:grpSpPr>
        <p:pic>
          <p:nvPicPr>
            <p:cNvPr id="7" name="Obrázek 6" descr="Obsah obrázku snímek obrazovky, kreslené&#10;&#10;Popis se vygeneroval automaticky.">
              <a:extLst>
                <a:ext uri="{FF2B5EF4-FFF2-40B4-BE49-F238E27FC236}">
                  <a16:creationId xmlns:a16="http://schemas.microsoft.com/office/drawing/2014/main" id="{ECAF7298-EF15-2AD5-EDA9-B6ACC5D54B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35" t="-493" r="-232" b="-395"/>
            <a:stretch/>
          </p:blipFill>
          <p:spPr>
            <a:xfrm>
              <a:off x="6570483" y="2348845"/>
              <a:ext cx="5403125" cy="2009146"/>
            </a:xfrm>
            <a:prstGeom prst="rect">
              <a:avLst/>
            </a:prstGeom>
          </p:spPr>
        </p:pic>
        <p:sp>
          <p:nvSpPr>
            <p:cNvPr id="8" name="Obdélník 7">
              <a:extLst>
                <a:ext uri="{FF2B5EF4-FFF2-40B4-BE49-F238E27FC236}">
                  <a16:creationId xmlns:a16="http://schemas.microsoft.com/office/drawing/2014/main" id="{6E215413-0C64-13BD-F047-F10D7CBDC746}"/>
                </a:ext>
              </a:extLst>
            </p:cNvPr>
            <p:cNvSpPr/>
            <p:nvPr/>
          </p:nvSpPr>
          <p:spPr>
            <a:xfrm>
              <a:off x="9002597" y="2348845"/>
              <a:ext cx="2969443" cy="416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pic>
        <p:nvPicPr>
          <p:cNvPr id="10" name="Obrázek 9" descr="Obsah obrázku text, diagram, Písmo&#10;&#10;Popis se vygeneroval automaticky.">
            <a:extLst>
              <a:ext uri="{FF2B5EF4-FFF2-40B4-BE49-F238E27FC236}">
                <a16:creationId xmlns:a16="http://schemas.microsoft.com/office/drawing/2014/main" id="{9B8D38B7-A3A3-62C7-11C6-3C574281AD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504" r="45998" b="388"/>
          <a:stretch/>
        </p:blipFill>
        <p:spPr>
          <a:xfrm>
            <a:off x="7676056" y="4138876"/>
            <a:ext cx="4196329" cy="189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6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Fold V1</a:t>
            </a:r>
            <a:endParaRPr lang="cs-CZ" dirty="0"/>
          </a:p>
        </p:txBody>
      </p:sp>
      <p:sp>
        <p:nvSpPr>
          <p:cNvPr id="8" name="Zástupný obsah 7">
            <a:extLst>
              <a:ext uri="{FF2B5EF4-FFF2-40B4-BE49-F238E27FC236}">
                <a16:creationId xmlns:a16="http://schemas.microsoft.com/office/drawing/2014/main" id="{CE25E6E4-DE65-6918-BD5E-98F9001D9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The</a:t>
            </a:r>
            <a:r>
              <a:rPr lang="cs-CZ" dirty="0">
                <a:cs typeface="Arial"/>
              </a:rPr>
              <a:t> big </a:t>
            </a:r>
            <a:r>
              <a:rPr lang="cs-CZ" dirty="0" err="1">
                <a:cs typeface="Arial"/>
              </a:rPr>
              <a:t>deal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undergo</a:t>
            </a:r>
            <a:r>
              <a:rPr lang="cs-CZ" dirty="0">
                <a:cs typeface="Arial"/>
              </a:rPr>
              <a:t> a </a:t>
            </a:r>
            <a:r>
              <a:rPr lang="cs-CZ" dirty="0" err="1">
                <a:cs typeface="Arial"/>
              </a:rPr>
              <a:t>transformation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text to 3D </a:t>
            </a:r>
            <a:r>
              <a:rPr lang="cs-CZ" dirty="0" err="1">
                <a:cs typeface="Arial"/>
              </a:rPr>
              <a:t>positions</a:t>
            </a:r>
          </a:p>
          <a:p>
            <a:pPr marL="0" indent="0">
              <a:buNone/>
            </a:pPr>
            <a:endParaRPr lang="cs-CZ" dirty="0">
              <a:cs typeface="Arial"/>
            </a:endParaRPr>
          </a:p>
          <a:p>
            <a:pPr marL="0" indent="0" algn="ctr">
              <a:buNone/>
            </a:pPr>
            <a:r>
              <a:rPr lang="cs-CZ" b="1" dirty="0">
                <a:ea typeface="+mn-lt"/>
                <a:cs typeface="+mn-lt"/>
              </a:rPr>
              <a:t>MAVVKGNKDVFVCMPTGAGKSLCYQLPALLAKGITIVVSPLIALIQ...</a:t>
            </a:r>
          </a:p>
          <a:p>
            <a:pPr marL="0" indent="0">
              <a:buNone/>
            </a:pPr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Look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'</a:t>
            </a:r>
            <a:r>
              <a:rPr lang="cs-CZ" dirty="0" err="1">
                <a:cs typeface="Arial"/>
              </a:rPr>
              <a:t>templates</a:t>
            </a:r>
            <a:r>
              <a:rPr lang="cs-CZ" dirty="0">
                <a:cs typeface="Arial"/>
              </a:rPr>
              <a:t>' (</a:t>
            </a:r>
            <a:r>
              <a:rPr lang="cs-CZ" dirty="0" err="1">
                <a:cs typeface="Arial"/>
              </a:rPr>
              <a:t>similar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proteins</a:t>
            </a:r>
            <a:r>
              <a:rPr lang="cs-CZ" dirty="0">
                <a:cs typeface="Arial"/>
              </a:rPr>
              <a:t>) and </a:t>
            </a:r>
            <a:r>
              <a:rPr lang="cs-CZ" dirty="0" err="1">
                <a:cs typeface="Arial"/>
              </a:rPr>
              <a:t>create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similar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structures</a:t>
            </a:r>
            <a:endParaRPr lang="cs-CZ">
              <a:cs typeface="Arial"/>
            </a:endParaRPr>
          </a:p>
          <a:p>
            <a:endParaRPr lang="cs-CZ" dirty="0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7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489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Fold V2</a:t>
            </a:r>
            <a:endParaRPr lang="cs-CZ" dirty="0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17331A95-49F9-86F2-737B-F13B5CBF8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cs-CZ" err="1">
                <a:cs typeface="Arial"/>
              </a:rPr>
              <a:t>Multiple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Sequence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Alignment</a:t>
            </a:r>
            <a:r>
              <a:rPr lang="cs-CZ" dirty="0">
                <a:cs typeface="Arial"/>
              </a:rPr>
              <a:t> (MSA)</a:t>
            </a:r>
            <a:endParaRPr lang="cs-CZ"/>
          </a:p>
          <a:p>
            <a:pPr lvl="1">
              <a:lnSpc>
                <a:spcPct val="150000"/>
              </a:lnSpc>
            </a:pPr>
            <a:r>
              <a:rPr lang="cs-CZ" dirty="0" err="1">
                <a:cs typeface="Arial"/>
              </a:rPr>
              <a:t>Form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required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function</a:t>
            </a:r>
          </a:p>
          <a:p>
            <a:pPr lvl="1">
              <a:lnSpc>
                <a:spcPct val="150000"/>
              </a:lnSpc>
            </a:pPr>
            <a:r>
              <a:rPr lang="cs-CZ" dirty="0" err="1">
                <a:cs typeface="Arial"/>
              </a:rPr>
              <a:t>Evolution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highly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conserved</a:t>
            </a:r>
          </a:p>
          <a:p>
            <a:pPr lvl="1">
              <a:lnSpc>
                <a:spcPct val="150000"/>
              </a:lnSpc>
            </a:pPr>
            <a:r>
              <a:rPr lang="cs-CZ" dirty="0" err="1">
                <a:cs typeface="Arial"/>
              </a:rPr>
              <a:t>Sequencing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comparatively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inexpensive</a:t>
            </a:r>
            <a:r>
              <a:rPr lang="cs-CZ" dirty="0">
                <a:cs typeface="Arial"/>
              </a:rPr>
              <a:t>, fast, and robust</a:t>
            </a:r>
          </a:p>
          <a:p>
            <a:pPr>
              <a:lnSpc>
                <a:spcPct val="150000"/>
              </a:lnSpc>
            </a:pPr>
            <a:r>
              <a:rPr lang="cs-CZ" err="1">
                <a:cs typeface="Arial"/>
              </a:rPr>
              <a:t>Templates</a:t>
            </a:r>
            <a:r>
              <a:rPr lang="cs-CZ" dirty="0">
                <a:cs typeface="Arial"/>
              </a:rPr>
              <a:t> are </a:t>
            </a:r>
            <a:r>
              <a:rPr lang="cs-CZ" err="1">
                <a:cs typeface="Arial"/>
              </a:rPr>
              <a:t>ignored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unless</a:t>
            </a:r>
            <a:r>
              <a:rPr lang="cs-CZ" dirty="0">
                <a:cs typeface="Arial"/>
              </a:rPr>
              <a:t> MSA </a:t>
            </a:r>
            <a:r>
              <a:rPr lang="cs-CZ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small</a:t>
            </a:r>
            <a:endParaRPr lang="cs-CZ"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8</a:t>
            </a:fld>
            <a:endParaRPr lang="en-US"/>
          </a:p>
        </p:txBody>
      </p:sp>
      <p:sp>
        <p:nvSpPr>
          <p:cNvPr id="6" name="Zástupný symbol pro obsah 2">
            <a:extLst>
              <a:ext uri="{FF2B5EF4-FFF2-40B4-BE49-F238E27FC236}">
                <a16:creationId xmlns:a16="http://schemas.microsoft.com/office/drawing/2014/main" id="{782BC35F-08AA-31D1-85C5-EBB19719269E}"/>
              </a:ext>
            </a:extLst>
          </p:cNvPr>
          <p:cNvSpPr txBox="1">
            <a:spLocks/>
          </p:cNvSpPr>
          <p:nvPr/>
        </p:nvSpPr>
        <p:spPr>
          <a:xfrm>
            <a:off x="466725" y="1274158"/>
            <a:ext cx="4244878" cy="51341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4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20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8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1A9C0"/>
              </a:buClr>
              <a:buFont typeface="Arial" panose="020B0604020202020204" pitchFamily="34" charset="0"/>
              <a:buChar char="•"/>
              <a:defRPr sz="1600" kern="1200">
                <a:solidFill>
                  <a:srgbClr val="39464A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cs typeface="Arial"/>
            </a:endParaRPr>
          </a:p>
        </p:txBody>
      </p:sp>
      <p:pic>
        <p:nvPicPr>
          <p:cNvPr id="7" name="Obrázek 6" descr="Obsah obrázku text, diagram, Písmo&#10;&#10;Popis se vygeneroval automaticky.">
            <a:extLst>
              <a:ext uri="{FF2B5EF4-FFF2-40B4-BE49-F238E27FC236}">
                <a16:creationId xmlns:a16="http://schemas.microsoft.com/office/drawing/2014/main" id="{D386800C-DEF9-464D-FA5C-E8231F7F9E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155" b="251"/>
          <a:stretch/>
        </p:blipFill>
        <p:spPr>
          <a:xfrm>
            <a:off x="8000349" y="1593973"/>
            <a:ext cx="3771419" cy="35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6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463A8D-398C-4EBC-83EA-1CDA46CFF3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9</a:t>
            </a:fld>
            <a:endParaRPr lang="en-US"/>
          </a:p>
        </p:txBody>
      </p:sp>
      <p:pic>
        <p:nvPicPr>
          <p:cNvPr id="5" name="Obrázek 4" descr="Obsah obrázku text, diagram, mapa&#10;&#10;Popis se vygeneroval automaticky.">
            <a:extLst>
              <a:ext uri="{FF2B5EF4-FFF2-40B4-BE49-F238E27FC236}">
                <a16:creationId xmlns:a16="http://schemas.microsoft.com/office/drawing/2014/main" id="{5888C914-C75F-CC6E-3615-FC0BF0ADC1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221" r="45561" b="46915"/>
          <a:stretch/>
        </p:blipFill>
        <p:spPr>
          <a:xfrm>
            <a:off x="2896007" y="899633"/>
            <a:ext cx="6396062" cy="5056606"/>
          </a:xfrm>
          <a:prstGeom prst="rect">
            <a:avLst/>
          </a:prstGeom>
        </p:spPr>
      </p:pic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957BC74F-7540-65F3-8640-C48BD0A154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Nadpis 8">
            <a:extLst>
              <a:ext uri="{FF2B5EF4-FFF2-40B4-BE49-F238E27FC236}">
                <a16:creationId xmlns:a16="http://schemas.microsoft.com/office/drawing/2014/main" id="{D9498C75-4462-0BBF-50FA-9353331F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4574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 10">
            <a:extLst>
              <a:ext uri="{FF2B5EF4-FFF2-40B4-BE49-F238E27FC236}">
                <a16:creationId xmlns:a16="http://schemas.microsoft.com/office/drawing/2014/main" id="{FE286D62-A999-455F-8BB7-CF840368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>
                <a:cs typeface="Arial"/>
              </a:rPr>
              <a:t>Disorder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is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common</a:t>
            </a:r>
            <a:endParaRPr lang="cs-CZ" dirty="0" err="1"/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FBF91D4A-4F56-2AA0-8C47-FBE3831B4D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cs-CZ" err="1">
                <a:cs typeface="Arial"/>
              </a:rPr>
              <a:t>Fully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solved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structures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have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few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disordered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regions</a:t>
            </a:r>
            <a:endParaRPr lang="cs-CZ" dirty="0" err="1">
              <a:cs typeface="Arial"/>
            </a:endParaRPr>
          </a:p>
          <a:p>
            <a:endParaRPr lang="cs-CZ" dirty="0">
              <a:cs typeface="Arial"/>
            </a:endParaRPr>
          </a:p>
          <a:p>
            <a:r>
              <a:rPr lang="cs-CZ" dirty="0" err="1">
                <a:cs typeface="Arial"/>
              </a:rPr>
              <a:t>Intrinsic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bias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reports</a:t>
            </a:r>
            <a:r>
              <a:rPr lang="cs-CZ" dirty="0">
                <a:cs typeface="Arial"/>
              </a:rPr>
              <a:t>/</a:t>
            </a:r>
            <a:r>
              <a:rPr lang="cs-CZ" dirty="0" err="1">
                <a:cs typeface="Arial"/>
              </a:rPr>
              <a:t>studies</a:t>
            </a:r>
          </a:p>
          <a:p>
            <a:endParaRPr lang="cs-CZ" dirty="0">
              <a:cs typeface="Arial"/>
            </a:endParaRPr>
          </a:p>
          <a:p>
            <a:r>
              <a:rPr lang="cs-CZ" dirty="0">
                <a:cs typeface="Arial"/>
              </a:rPr>
              <a:t>AF </a:t>
            </a:r>
            <a:r>
              <a:rPr lang="cs-CZ" dirty="0" err="1">
                <a:cs typeface="Arial"/>
              </a:rPr>
              <a:t>predicts</a:t>
            </a:r>
            <a:r>
              <a:rPr lang="cs-CZ" dirty="0">
                <a:cs typeface="Arial"/>
              </a:rPr>
              <a:t> these </a:t>
            </a:r>
            <a:r>
              <a:rPr lang="cs-CZ" dirty="0" err="1">
                <a:cs typeface="Arial"/>
              </a:rPr>
              <a:t>extremely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well</a:t>
            </a:r>
            <a:endParaRPr lang="cs-CZ" dirty="0">
              <a:cs typeface="Arial"/>
            </a:endParaRPr>
          </a:p>
          <a:p>
            <a:pPr marL="0" indent="0">
              <a:buNone/>
            </a:pPr>
            <a:r>
              <a:rPr lang="cs-CZ" dirty="0">
                <a:cs typeface="Arial"/>
              </a:rPr>
              <a:t>                         Or</a:t>
            </a:r>
          </a:p>
          <a:p>
            <a:r>
              <a:rPr lang="cs-CZ" dirty="0" err="1">
                <a:cs typeface="Arial"/>
              </a:rPr>
              <a:t>Regions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that</a:t>
            </a:r>
            <a:r>
              <a:rPr lang="cs-CZ" dirty="0">
                <a:cs typeface="Arial"/>
              </a:rPr>
              <a:t> are </a:t>
            </a:r>
            <a:r>
              <a:rPr lang="cs-CZ" dirty="0" err="1">
                <a:cs typeface="Arial"/>
              </a:rPr>
              <a:t>ordered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complexes</a:t>
            </a:r>
            <a:endParaRPr lang="cs-CZ" dirty="0">
              <a:cs typeface="Arial"/>
            </a:endParaRP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A463A8D-398C-4EBC-83EA-1CDA46CFF3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10</a:t>
            </a:fld>
            <a:endParaRPr lang="en-US"/>
          </a:p>
        </p:txBody>
      </p:sp>
      <p:pic>
        <p:nvPicPr>
          <p:cNvPr id="5" name="Obrázek 4" descr="Obsah obrázku text, diagram, mapa&#10;&#10;Popis se vygeneroval automaticky.">
            <a:extLst>
              <a:ext uri="{FF2B5EF4-FFF2-40B4-BE49-F238E27FC236}">
                <a16:creationId xmlns:a16="http://schemas.microsoft.com/office/drawing/2014/main" id="{5888C914-C75F-CC6E-3615-FC0BF0ADC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7987" y="1153633"/>
            <a:ext cx="5577084" cy="45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14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D08AE-0F0A-D8E1-33B1-B481B10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0A16F-E8D9-C64A-B1D0-63EAE8C5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0E159-A100-DF61-E190-8F781D4F11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009900"/>
            <a:ext cx="11258550" cy="825500"/>
          </a:xfrm>
        </p:spPr>
        <p:txBody>
          <a:bodyPr/>
          <a:lstStyle/>
          <a:p>
            <a:pPr algn="ctr"/>
            <a:r>
              <a:rPr lang="en-US" dirty="0"/>
              <a:t>What is the relevance for MD?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97292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>
            <a:extLst>
              <a:ext uri="{FF2B5EF4-FFF2-40B4-BE49-F238E27FC236}">
                <a16:creationId xmlns:a16="http://schemas.microsoft.com/office/drawing/2014/main" id="{652FC087-844A-D832-ABDB-0A091AEF6846}"/>
              </a:ext>
            </a:extLst>
          </p:cNvPr>
          <p:cNvSpPr/>
          <p:nvPr/>
        </p:nvSpPr>
        <p:spPr>
          <a:xfrm>
            <a:off x="5378083" y="648644"/>
            <a:ext cx="6505338" cy="5459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FE286D62-A999-455F-8BB7-CF840368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Protein </a:t>
            </a:r>
            <a:r>
              <a:rPr lang="cs-CZ" dirty="0" err="1"/>
              <a:t>CbrA</a:t>
            </a:r>
            <a:endParaRPr lang="cs-CZ" dirty="0" err="1">
              <a:cs typeface="Arial"/>
            </a:endParaRPr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FBF91D4A-4F56-2AA0-8C47-FBE3831B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4745607" cy="436245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transfer </a:t>
            </a:r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to MD?</a:t>
            </a:r>
          </a:p>
          <a:p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see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all</a:t>
            </a:r>
            <a:r>
              <a:rPr lang="cs-CZ" dirty="0">
                <a:cs typeface="Arial"/>
              </a:rPr>
              <a:t> atom </a:t>
            </a:r>
            <a:r>
              <a:rPr lang="cs-CZ" dirty="0" err="1">
                <a:cs typeface="Arial"/>
              </a:rPr>
              <a:t>simulation</a:t>
            </a:r>
            <a:r>
              <a:rPr lang="cs-CZ" dirty="0">
                <a:cs typeface="Arial"/>
              </a:rPr>
              <a:t>?</a:t>
            </a: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12</a:t>
            </a:fld>
            <a:endParaRPr lang="en-US"/>
          </a:p>
        </p:txBody>
      </p:sp>
      <p:pic>
        <p:nvPicPr>
          <p:cNvPr id="7" name="Obrázek 6" descr="Obsah obrázku Grafika, umění, grafický design, design&#10;&#10;Popis se vygeneroval automaticky.">
            <a:extLst>
              <a:ext uri="{FF2B5EF4-FFF2-40B4-BE49-F238E27FC236}">
                <a16:creationId xmlns:a16="http://schemas.microsoft.com/office/drawing/2014/main" id="{8997FB94-7A89-A370-6E86-3E1678A7B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632" y="273337"/>
            <a:ext cx="3480056" cy="5753818"/>
          </a:xfrm>
          <a:prstGeom prst="rect">
            <a:avLst/>
          </a:prstGeom>
        </p:spPr>
      </p:pic>
      <p:pic>
        <p:nvPicPr>
          <p:cNvPr id="8" name="Obrázek 7" descr="Obsah obrázku text, snímek obrazovky, zelené, Barevnost&#10;&#10;Popis se vygeneroval automaticky.">
            <a:extLst>
              <a:ext uri="{FF2B5EF4-FFF2-40B4-BE49-F238E27FC236}">
                <a16:creationId xmlns:a16="http://schemas.microsoft.com/office/drawing/2014/main" id="{5995286A-3C3A-7960-E889-7C66038AF6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22" r="33461" b="214"/>
          <a:stretch/>
        </p:blipFill>
        <p:spPr>
          <a:xfrm>
            <a:off x="5782384" y="2692988"/>
            <a:ext cx="2419648" cy="2939355"/>
          </a:xfrm>
          <a:prstGeom prst="rect">
            <a:avLst/>
          </a:prstGeom>
        </p:spPr>
      </p:pic>
      <p:pic>
        <p:nvPicPr>
          <p:cNvPr id="9" name="Obrázek 8" descr="Obsah obrázku text, snímek obrazovky, Písmo&#10;&#10;Popis se vygeneroval automaticky.">
            <a:extLst>
              <a:ext uri="{FF2B5EF4-FFF2-40B4-BE49-F238E27FC236}">
                <a16:creationId xmlns:a16="http://schemas.microsoft.com/office/drawing/2014/main" id="{09776CAB-AEC8-26C4-2CA3-C271B09B1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11" y="1041699"/>
            <a:ext cx="2743200" cy="143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82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>
            <a:extLst>
              <a:ext uri="{FF2B5EF4-FFF2-40B4-BE49-F238E27FC236}">
                <a16:creationId xmlns:a16="http://schemas.microsoft.com/office/drawing/2014/main" id="{652FC087-844A-D832-ABDB-0A091AEF6846}"/>
              </a:ext>
            </a:extLst>
          </p:cNvPr>
          <p:cNvSpPr/>
          <p:nvPr/>
        </p:nvSpPr>
        <p:spPr>
          <a:xfrm>
            <a:off x="5378083" y="648644"/>
            <a:ext cx="6505338" cy="5459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FE286D62-A999-455F-8BB7-CF840368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Protein </a:t>
            </a:r>
            <a:r>
              <a:rPr lang="cs-CZ" dirty="0"/>
              <a:t>FUS</a:t>
            </a:r>
            <a:endParaRPr lang="cs-CZ" dirty="0" err="1">
              <a:cs typeface="Arial"/>
            </a:endParaRPr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FBF91D4A-4F56-2AA0-8C47-FBE3831B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4745607" cy="436245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transfer </a:t>
            </a:r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to MD?</a:t>
            </a:r>
          </a:p>
          <a:p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see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all</a:t>
            </a:r>
            <a:r>
              <a:rPr lang="cs-CZ" dirty="0">
                <a:cs typeface="Arial"/>
              </a:rPr>
              <a:t> atom </a:t>
            </a:r>
            <a:r>
              <a:rPr lang="cs-CZ" dirty="0" err="1">
                <a:cs typeface="Arial"/>
              </a:rPr>
              <a:t>simulation</a:t>
            </a:r>
            <a:r>
              <a:rPr lang="cs-CZ" dirty="0">
                <a:cs typeface="Arial"/>
              </a:rPr>
              <a:t>?</a:t>
            </a: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13</a:t>
            </a:fld>
            <a:endParaRPr lang="en-US"/>
          </a:p>
        </p:txBody>
      </p:sp>
      <p:pic>
        <p:nvPicPr>
          <p:cNvPr id="5" name="Obrázek 4" descr="Obsah obrázku text, snímek obrazovky, řada/pruh, diagram&#10;&#10;Popis se vygeneroval automaticky.">
            <a:extLst>
              <a:ext uri="{FF2B5EF4-FFF2-40B4-BE49-F238E27FC236}">
                <a16:creationId xmlns:a16="http://schemas.microsoft.com/office/drawing/2014/main" id="{1D00C4A5-FE81-1151-6F8A-DF60F286E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438" y="2709596"/>
            <a:ext cx="2743200" cy="2905298"/>
          </a:xfrm>
          <a:prstGeom prst="rect">
            <a:avLst/>
          </a:prstGeom>
        </p:spPr>
      </p:pic>
      <p:pic>
        <p:nvPicPr>
          <p:cNvPr id="9" name="Obrázek 8" descr="Obsah obrázku text, snímek obrazovky, Písmo&#10;&#10;Popis se vygeneroval automaticky.">
            <a:extLst>
              <a:ext uri="{FF2B5EF4-FFF2-40B4-BE49-F238E27FC236}">
                <a16:creationId xmlns:a16="http://schemas.microsoft.com/office/drawing/2014/main" id="{09776CAB-AEC8-26C4-2CA3-C271B09B1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11" y="1041699"/>
            <a:ext cx="2743200" cy="1436914"/>
          </a:xfrm>
          <a:prstGeom prst="rect">
            <a:avLst/>
          </a:prstGeom>
        </p:spPr>
      </p:pic>
      <p:pic>
        <p:nvPicPr>
          <p:cNvPr id="4" name="Obrázek 3" descr="Obsah obrázku umění, Grafika&#10;&#10;Popis se vygeneroval automaticky.">
            <a:extLst>
              <a:ext uri="{FF2B5EF4-FFF2-40B4-BE49-F238E27FC236}">
                <a16:creationId xmlns:a16="http://schemas.microsoft.com/office/drawing/2014/main" id="{B1515669-C854-ADC9-F077-0907C193B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900000">
            <a:off x="7700513" y="1358179"/>
            <a:ext cx="4712898" cy="38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959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>
            <a:extLst>
              <a:ext uri="{FF2B5EF4-FFF2-40B4-BE49-F238E27FC236}">
                <a16:creationId xmlns:a16="http://schemas.microsoft.com/office/drawing/2014/main" id="{652FC087-844A-D832-ABDB-0A091AEF6846}"/>
              </a:ext>
            </a:extLst>
          </p:cNvPr>
          <p:cNvSpPr/>
          <p:nvPr/>
        </p:nvSpPr>
        <p:spPr>
          <a:xfrm>
            <a:off x="5378083" y="648644"/>
            <a:ext cx="6505338" cy="5459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Nadpis 10">
            <a:extLst>
              <a:ext uri="{FF2B5EF4-FFF2-40B4-BE49-F238E27FC236}">
                <a16:creationId xmlns:a16="http://schemas.microsoft.com/office/drawing/2014/main" id="{FE286D62-A999-455F-8BB7-CF840368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Protein </a:t>
            </a:r>
            <a:r>
              <a:rPr lang="cs-CZ" dirty="0"/>
              <a:t>RECQL5</a:t>
            </a:r>
            <a:endParaRPr lang="cs-CZ" dirty="0">
              <a:cs typeface="Arial"/>
            </a:endParaRPr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FBF91D4A-4F56-2AA0-8C47-FBE3831B4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5" y="1523999"/>
            <a:ext cx="4745607" cy="4362451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 err="1">
                <a:cs typeface="Arial"/>
              </a:rPr>
              <a:t>How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transfer </a:t>
            </a:r>
            <a:r>
              <a:rPr lang="cs-CZ" dirty="0" err="1">
                <a:cs typeface="Arial"/>
              </a:rPr>
              <a:t>this</a:t>
            </a:r>
            <a:r>
              <a:rPr lang="cs-CZ" dirty="0">
                <a:cs typeface="Arial"/>
              </a:rPr>
              <a:t> to MD?</a:t>
            </a:r>
          </a:p>
          <a:p>
            <a:r>
              <a:rPr lang="cs-CZ" dirty="0" err="1">
                <a:cs typeface="Arial"/>
              </a:rPr>
              <a:t>What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would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we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see</a:t>
            </a:r>
            <a:r>
              <a:rPr lang="cs-CZ" dirty="0">
                <a:cs typeface="Arial"/>
              </a:rPr>
              <a:t> in </a:t>
            </a:r>
            <a:r>
              <a:rPr lang="cs-CZ" dirty="0" err="1">
                <a:cs typeface="Arial"/>
              </a:rPr>
              <a:t>an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all</a:t>
            </a:r>
            <a:r>
              <a:rPr lang="cs-CZ" dirty="0">
                <a:cs typeface="Arial"/>
              </a:rPr>
              <a:t> atom </a:t>
            </a:r>
            <a:r>
              <a:rPr lang="cs-CZ" dirty="0" err="1">
                <a:cs typeface="Arial"/>
              </a:rPr>
              <a:t>simulation</a:t>
            </a:r>
            <a:r>
              <a:rPr lang="cs-CZ" dirty="0">
                <a:cs typeface="Arial"/>
              </a:rPr>
              <a:t>?</a:t>
            </a: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14</a:t>
            </a:fld>
            <a:endParaRPr lang="en-US"/>
          </a:p>
        </p:txBody>
      </p:sp>
      <p:pic>
        <p:nvPicPr>
          <p:cNvPr id="9" name="Obrázek 8" descr="Obsah obrázku text, snímek obrazovky, Písmo&#10;&#10;Popis se vygeneroval automaticky.">
            <a:extLst>
              <a:ext uri="{FF2B5EF4-FFF2-40B4-BE49-F238E27FC236}">
                <a16:creationId xmlns:a16="http://schemas.microsoft.com/office/drawing/2014/main" id="{09776CAB-AEC8-26C4-2CA3-C271B09B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111" y="1041699"/>
            <a:ext cx="2743200" cy="1436914"/>
          </a:xfrm>
          <a:prstGeom prst="rect">
            <a:avLst/>
          </a:prstGeom>
        </p:spPr>
      </p:pic>
      <p:pic>
        <p:nvPicPr>
          <p:cNvPr id="6" name="Obrázek 5" descr="Obsah obrázku mapa, umění, Grafika&#10;&#10;Popis se vygeneroval automaticky.">
            <a:extLst>
              <a:ext uri="{FF2B5EF4-FFF2-40B4-BE49-F238E27FC236}">
                <a16:creationId xmlns:a16="http://schemas.microsoft.com/office/drawing/2014/main" id="{AB7EDCBE-0F70-91F4-B184-F4F138134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63" y="1197694"/>
            <a:ext cx="3735237" cy="4275706"/>
          </a:xfrm>
          <a:prstGeom prst="rect">
            <a:avLst/>
          </a:prstGeom>
        </p:spPr>
      </p:pic>
      <p:pic>
        <p:nvPicPr>
          <p:cNvPr id="7" name="Obrázek 6" descr="Obsah obrázku snímek obrazovky, text, řada/pruh, diagram&#10;&#10;Popis se vygeneroval automaticky.">
            <a:extLst>
              <a:ext uri="{FF2B5EF4-FFF2-40B4-BE49-F238E27FC236}">
                <a16:creationId xmlns:a16="http://schemas.microsoft.com/office/drawing/2014/main" id="{2472307C-55F9-2222-4BFF-2AB699FDE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437" y="2781483"/>
            <a:ext cx="2743200" cy="290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24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 10">
            <a:extLst>
              <a:ext uri="{FF2B5EF4-FFF2-40B4-BE49-F238E27FC236}">
                <a16:creationId xmlns:a16="http://schemas.microsoft.com/office/drawing/2014/main" id="{FE286D62-A999-455F-8BB7-CF8403682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Protein </a:t>
            </a:r>
            <a:r>
              <a:rPr lang="cs-CZ" dirty="0"/>
              <a:t>RECQL</a:t>
            </a:r>
            <a:endParaRPr lang="cs-CZ" dirty="0">
              <a:cs typeface="Arial"/>
            </a:endParaRP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B7D702D-E437-85F7-DF08-B8ADF9E1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080F232-8001-91DD-3EE5-4ABA6689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15</a:t>
            </a:fld>
            <a:endParaRPr lang="en-US"/>
          </a:p>
        </p:txBody>
      </p:sp>
      <p:pic>
        <p:nvPicPr>
          <p:cNvPr id="7" name="Obrázek 6" descr="Obsah obrázku snímek obrazovky, text, řada/pruh, diagram&#10;&#10;Popis se vygeneroval automaticky.">
            <a:extLst>
              <a:ext uri="{FF2B5EF4-FFF2-40B4-BE49-F238E27FC236}">
                <a16:creationId xmlns:a16="http://schemas.microsoft.com/office/drawing/2014/main" id="{2472307C-55F9-2222-4BFF-2AB699FDE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859" y="1515062"/>
            <a:ext cx="4481847" cy="4751269"/>
          </a:xfrm>
          <a:prstGeom prst="rect">
            <a:avLst/>
          </a:prstGeom>
        </p:spPr>
      </p:pic>
      <p:cxnSp>
        <p:nvCxnSpPr>
          <p:cNvPr id="8" name="Přímá spojnice se šipkou 7">
            <a:extLst>
              <a:ext uri="{FF2B5EF4-FFF2-40B4-BE49-F238E27FC236}">
                <a16:creationId xmlns:a16="http://schemas.microsoft.com/office/drawing/2014/main" id="{6DCEBDE8-9F04-0250-CF13-3F5B1B95911A}"/>
              </a:ext>
            </a:extLst>
          </p:cNvPr>
          <p:cNvCxnSpPr/>
          <p:nvPr/>
        </p:nvCxnSpPr>
        <p:spPr>
          <a:xfrm flipH="1">
            <a:off x="5243848" y="1394138"/>
            <a:ext cx="8586" cy="40804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nice se šipkou 12">
            <a:extLst>
              <a:ext uri="{FF2B5EF4-FFF2-40B4-BE49-F238E27FC236}">
                <a16:creationId xmlns:a16="http://schemas.microsoft.com/office/drawing/2014/main" id="{3719F109-C45D-8C07-C7A6-871C4CFA3D1B}"/>
              </a:ext>
            </a:extLst>
          </p:cNvPr>
          <p:cNvCxnSpPr>
            <a:cxnSpLocks/>
          </p:cNvCxnSpPr>
          <p:nvPr/>
        </p:nvCxnSpPr>
        <p:spPr>
          <a:xfrm flipH="1">
            <a:off x="6027313" y="1394138"/>
            <a:ext cx="8586" cy="40804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nice se šipkou 13">
            <a:extLst>
              <a:ext uri="{FF2B5EF4-FFF2-40B4-BE49-F238E27FC236}">
                <a16:creationId xmlns:a16="http://schemas.microsoft.com/office/drawing/2014/main" id="{93E61338-4DF3-9F7F-5668-44EEBD4D716E}"/>
              </a:ext>
            </a:extLst>
          </p:cNvPr>
          <p:cNvCxnSpPr>
            <a:cxnSpLocks/>
          </p:cNvCxnSpPr>
          <p:nvPr/>
        </p:nvCxnSpPr>
        <p:spPr>
          <a:xfrm flipH="1">
            <a:off x="6231228" y="1394138"/>
            <a:ext cx="8586" cy="40804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nice se šipkou 14">
            <a:extLst>
              <a:ext uri="{FF2B5EF4-FFF2-40B4-BE49-F238E27FC236}">
                <a16:creationId xmlns:a16="http://schemas.microsoft.com/office/drawing/2014/main" id="{3B621C14-1F74-3060-C623-13CE088E012C}"/>
              </a:ext>
            </a:extLst>
          </p:cNvPr>
          <p:cNvCxnSpPr>
            <a:cxnSpLocks/>
          </p:cNvCxnSpPr>
          <p:nvPr/>
        </p:nvCxnSpPr>
        <p:spPr>
          <a:xfrm flipH="1">
            <a:off x="6628327" y="1394138"/>
            <a:ext cx="8586" cy="40804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nice se šipkou 15">
            <a:extLst>
              <a:ext uri="{FF2B5EF4-FFF2-40B4-BE49-F238E27FC236}">
                <a16:creationId xmlns:a16="http://schemas.microsoft.com/office/drawing/2014/main" id="{4165F14B-0A7E-2FD8-185E-1CC799494811}"/>
              </a:ext>
            </a:extLst>
          </p:cNvPr>
          <p:cNvCxnSpPr>
            <a:cxnSpLocks/>
          </p:cNvCxnSpPr>
          <p:nvPr/>
        </p:nvCxnSpPr>
        <p:spPr>
          <a:xfrm flipH="1">
            <a:off x="7529848" y="1394138"/>
            <a:ext cx="8586" cy="4080456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41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F088C-277C-9200-380A-7A1700C8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Arial"/>
              </a:rPr>
              <a:t>In </a:t>
            </a:r>
            <a:r>
              <a:rPr lang="cs-CZ" dirty="0" err="1">
                <a:cs typeface="Arial"/>
              </a:rPr>
              <a:t>today's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practical</a:t>
            </a:r>
            <a:r>
              <a:rPr lang="cs-CZ" dirty="0">
                <a:cs typeface="Arial"/>
              </a:rPr>
              <a:t>...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C57AC02-DAE3-85C2-F4F3-1618C5BF5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cs-CZ" err="1">
                <a:cs typeface="Arial"/>
              </a:rPr>
              <a:t>Analyze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proteins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using</a:t>
            </a:r>
            <a:r>
              <a:rPr lang="cs-CZ" dirty="0">
                <a:cs typeface="Arial"/>
              </a:rPr>
              <a:t> online </a:t>
            </a:r>
            <a:r>
              <a:rPr lang="cs-CZ" err="1">
                <a:cs typeface="Arial"/>
              </a:rPr>
              <a:t>databases</a:t>
            </a:r>
            <a:endParaRPr lang="cs-CZ"/>
          </a:p>
          <a:p>
            <a:pPr>
              <a:lnSpc>
                <a:spcPct val="150000"/>
              </a:lnSpc>
            </a:pPr>
            <a:r>
              <a:rPr lang="cs-CZ" err="1">
                <a:cs typeface="Arial"/>
              </a:rPr>
              <a:t>Download</a:t>
            </a:r>
            <a:r>
              <a:rPr lang="cs-CZ" dirty="0">
                <a:cs typeface="Arial"/>
              </a:rPr>
              <a:t> a protein </a:t>
            </a:r>
            <a:r>
              <a:rPr lang="cs-CZ" err="1">
                <a:cs typeface="Arial"/>
              </a:rPr>
              <a:t>structure</a:t>
            </a:r>
            <a:r>
              <a:rPr lang="cs-CZ" dirty="0">
                <a:cs typeface="Arial"/>
              </a:rPr>
              <a:t> (</a:t>
            </a:r>
            <a:r>
              <a:rPr lang="cs-CZ" err="1">
                <a:cs typeface="Arial"/>
              </a:rPr>
              <a:t>you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decide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from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where</a:t>
            </a:r>
            <a:r>
              <a:rPr lang="cs-CZ" dirty="0">
                <a:cs typeface="Arial"/>
              </a:rPr>
              <a:t>!)</a:t>
            </a:r>
          </a:p>
          <a:p>
            <a:pPr>
              <a:lnSpc>
                <a:spcPct val="150000"/>
              </a:lnSpc>
            </a:pPr>
            <a:r>
              <a:rPr lang="cs-CZ" err="1">
                <a:cs typeface="Arial"/>
              </a:rPr>
              <a:t>Simulate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your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multi-domain</a:t>
            </a:r>
            <a:r>
              <a:rPr lang="cs-CZ" dirty="0">
                <a:cs typeface="Arial"/>
              </a:rPr>
              <a:t> protein </a:t>
            </a:r>
            <a:r>
              <a:rPr lang="cs-CZ" err="1">
                <a:cs typeface="Arial"/>
              </a:rPr>
              <a:t>with</a:t>
            </a:r>
            <a:r>
              <a:rPr lang="cs-CZ" dirty="0">
                <a:cs typeface="Arial"/>
              </a:rPr>
              <a:t> and </a:t>
            </a:r>
            <a:r>
              <a:rPr lang="cs-CZ" err="1">
                <a:cs typeface="Arial"/>
              </a:rPr>
              <a:t>without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rigid</a:t>
            </a:r>
            <a:r>
              <a:rPr lang="cs-CZ" dirty="0">
                <a:cs typeface="Arial"/>
              </a:rPr>
              <a:t> </a:t>
            </a:r>
            <a:r>
              <a:rPr lang="cs-CZ" err="1">
                <a:cs typeface="Arial"/>
              </a:rPr>
              <a:t>bodies</a:t>
            </a:r>
            <a:endParaRPr lang="cs-CZ">
              <a:cs typeface="Arial"/>
            </a:endParaRPr>
          </a:p>
          <a:p>
            <a:pPr>
              <a:lnSpc>
                <a:spcPct val="150000"/>
              </a:lnSpc>
            </a:pPr>
            <a:r>
              <a:rPr lang="cs-CZ" dirty="0" err="1">
                <a:cs typeface="Arial"/>
              </a:rPr>
              <a:t>Compare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given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datasets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from</a:t>
            </a:r>
            <a:r>
              <a:rPr lang="cs-CZ" dirty="0">
                <a:cs typeface="Arial"/>
              </a:rPr>
              <a:t> modelling </a:t>
            </a:r>
            <a:r>
              <a:rPr lang="cs-CZ" dirty="0" err="1">
                <a:cs typeface="Arial"/>
              </a:rPr>
              <a:t>with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multiple</a:t>
            </a:r>
            <a:r>
              <a:rPr lang="cs-CZ" dirty="0">
                <a:cs typeface="Arial"/>
              </a:rPr>
              <a:t> </a:t>
            </a:r>
            <a:r>
              <a:rPr lang="cs-CZ" dirty="0" err="1">
                <a:cs typeface="Arial"/>
              </a:rPr>
              <a:t>forcefields</a:t>
            </a:r>
          </a:p>
          <a:p>
            <a:endParaRPr lang="cs-CZ" dirty="0">
              <a:cs typeface="Arial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DF2287D-EFB1-696E-CD72-BE927BBC2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CEITEC at Masaryk University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58C7B7F-D61D-817F-1520-E635E916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3D702-57F1-4CB0-B451-B14F76DC04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32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5247</TotalTime>
  <Words>1797</Words>
  <Application>Microsoft Office PowerPoint</Application>
  <PresentationFormat>Širokoúhlá obrazovka</PresentationFormat>
  <Paragraphs>472</Paragraphs>
  <Slides>16</Slides>
  <Notes>1</Notes>
  <HiddenSlides>0</HiddenSlides>
  <MMClips>3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17" baseType="lpstr">
      <vt:lpstr>Office Theme</vt:lpstr>
      <vt:lpstr>C9555:  A survival guide to simulations</vt:lpstr>
      <vt:lpstr>Learning Objectives</vt:lpstr>
      <vt:lpstr>Coarse Grained Simulations</vt:lpstr>
      <vt:lpstr>Coarse Grained Simulations</vt:lpstr>
      <vt:lpstr>Coarse Grained Simulations</vt:lpstr>
      <vt:lpstr>Alpha Fold Prediction Accuracy</vt:lpstr>
      <vt:lpstr>Alpha Fold V1</vt:lpstr>
      <vt:lpstr>Alpha Fold V2</vt:lpstr>
      <vt:lpstr>Prezentace aplikace PowerPoint</vt:lpstr>
      <vt:lpstr>Disorder is common</vt:lpstr>
      <vt:lpstr>What is the relevance for MD?</vt:lpstr>
      <vt:lpstr>Protein CbrA</vt:lpstr>
      <vt:lpstr>Protein FUS</vt:lpstr>
      <vt:lpstr>Protein RECQL5</vt:lpstr>
      <vt:lpstr>Protein RECQL</vt:lpstr>
      <vt:lpstr>In today's practical...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Michaela Palata</dc:creator>
  <cp:lastModifiedBy>Timothée Emmanuel J. Rivel</cp:lastModifiedBy>
  <cp:revision>733</cp:revision>
  <cp:lastPrinted>2017-09-20T07:48:49Z</cp:lastPrinted>
  <dcterms:created xsi:type="dcterms:W3CDTF">2017-09-06T10:48:47Z</dcterms:created>
  <dcterms:modified xsi:type="dcterms:W3CDTF">2023-09-19T10:02:53Z</dcterms:modified>
</cp:coreProperties>
</file>