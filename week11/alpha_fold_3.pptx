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7" r:id="rId2"/>
    <p:sldId id="810" r:id="rId3"/>
    <p:sldId id="856" r:id="rId4"/>
    <p:sldId id="858" r:id="rId5"/>
    <p:sldId id="857" r:id="rId6"/>
    <p:sldId id="811" r:id="rId7"/>
    <p:sldId id="859" r:id="rId8"/>
    <p:sldId id="860" r:id="rId9"/>
    <p:sldId id="850" r:id="rId10"/>
    <p:sldId id="861" r:id="rId11"/>
    <p:sldId id="847" r:id="rId12"/>
    <p:sldId id="863" r:id="rId13"/>
    <p:sldId id="864" r:id="rId14"/>
    <p:sldId id="835" r:id="rId15"/>
    <p:sldId id="862" r:id="rId16"/>
  </p:sldIdLst>
  <p:sldSz cx="12192000" cy="6858000"/>
  <p:notesSz cx="6865938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2D"/>
    <a:srgbClr val="6478ED"/>
    <a:srgbClr val="4CED2D"/>
    <a:srgbClr val="ED7D31"/>
    <a:srgbClr val="7AC143"/>
    <a:srgbClr val="21A9C0"/>
    <a:srgbClr val="39464A"/>
    <a:srgbClr val="62BB46"/>
    <a:srgbClr val="F6F7F7"/>
    <a:srgbClr val="EB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62831-1909-5C63-6D03-6205BA46B83A}" v="334" dt="2023-11-29T15:46:05.476"/>
    <p1510:client id="{363A186A-7D36-6ED7-E863-9A965A51FF60}" v="51" dt="2023-11-29T14:23:52.382"/>
    <p1510:client id="{3FF02134-07DC-ACBD-4BFB-0CC78CB75D4E}" v="2" dt="2023-11-20T07:55:27.933"/>
    <p1510:client id="{4EBB36A3-513E-2DD9-F55A-335ADBEAB1D0}" v="58" dt="2023-10-31T12:02:24.766"/>
    <p1510:client id="{52BAD143-A802-2065-E1D1-96994DB2CC59}" v="16" dt="2023-11-30T08:46:43.203"/>
    <p1510:client id="{880253BB-16DD-A0A6-FDD3-CE6FC4916EE9}" v="464" dt="2023-11-29T13:17:46.787"/>
    <p1510:client id="{9646DE74-F67D-4747-8274-D6AA2A3FF42F}" v="45" dt="2023-09-18T08:47:12.022"/>
    <p1510:client id="{C05653FF-E00C-1C6C-6FF8-0BBDAA994EE2}" v="953" dt="2023-09-19T09:57:17.003"/>
    <p1510:client id="{C078B6D0-C756-861D-476D-035113A1C101}" v="33" dt="2023-09-19T09:58:45.578"/>
    <p1510:client id="{C466FF33-9758-6E46-3882-CFB104EB85F8}" v="465" dt="2023-09-18T14:40:58.454"/>
    <p1510:client id="{CEC7F0CF-7712-41B5-5E62-83E6E2866E5B}" v="837" dt="2023-11-21T14:54:22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58"/>
  </p:normalViewPr>
  <p:slideViewPr>
    <p:cSldViewPr snapToGrid="0">
      <p:cViewPr>
        <p:scale>
          <a:sx n="140" d="100"/>
          <a:sy n="140" d="100"/>
        </p:scale>
        <p:origin x="80" y="-16"/>
      </p:cViewPr>
      <p:guideLst>
        <p:guide orient="horz" pos="2136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879682-766A-4EC9-9AB4-6B05D94CF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EE19B-11B0-4020-A52B-9F88D94D7A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00A26804-296B-4572-A0F9-372DDB81CE0C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C4B6D-059E-45D0-AFA3-0D9EA856C1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24AFA-A144-419F-8FDA-EB926EDC5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23F7E358-18BC-4B0A-BB40-FB7A647C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5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DD6D46A3-849D-4409-B0D0-71D3CF0B43A8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810810"/>
            <a:ext cx="5492750" cy="3936117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34B23C0-22E8-4F3C-9489-1582CADF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10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Zástupný symbol pro obrázek snímku 1">
            <a:extLst>
              <a:ext uri="{FF2B5EF4-FFF2-40B4-BE49-F238E27FC236}">
                <a16:creationId xmlns:a16="http://schemas.microsoft.com/office/drawing/2014/main" id="{38BA96DA-4AED-4D58-84B8-34CF840B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Zástupný symbol pro poznámky 2">
            <a:extLst>
              <a:ext uri="{FF2B5EF4-FFF2-40B4-BE49-F238E27FC236}">
                <a16:creationId xmlns:a16="http://schemas.microsoft.com/office/drawing/2014/main" id="{F662795C-91AB-43C4-BA8F-96DF9EA6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cs-CZ">
              <a:latin typeface="Arial" panose="020B0604020202020204" pitchFamily="34" charset="0"/>
            </a:endParaRPr>
          </a:p>
        </p:txBody>
      </p:sp>
      <p:sp>
        <p:nvSpPr>
          <p:cNvPr id="24580" name="Zástupný symbol pro číslo snímku 3">
            <a:extLst>
              <a:ext uri="{FF2B5EF4-FFF2-40B4-BE49-F238E27FC236}">
                <a16:creationId xmlns:a16="http://schemas.microsoft.com/office/drawing/2014/main" id="{868B11F0-8907-433A-80EB-551E64857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2846" indent="-30109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4379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6131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67882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49634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31386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13137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94889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78E9E-F237-4B5E-8E23-061410CD0F9A}" type="slidenum">
              <a:rPr lang="cs-CZ" altLang="en-US" smtClean="0"/>
              <a:pPr/>
              <a:t>1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2788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23C0-22E8-4F3C-9489-1582CADF85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1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tif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9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847581D-BF1F-49D3-8CFA-5B02D626EF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" y="0"/>
            <a:ext cx="121919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06" y="2562224"/>
            <a:ext cx="10796588" cy="23479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706" y="5105399"/>
            <a:ext cx="10796588" cy="971551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6D5F3CA-36BC-4D5C-8C42-8CED5BE448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M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0E3403-9337-4A39-8B2D-87B1289DA3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65" y="696566"/>
            <a:ext cx="2280168" cy="64997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82B0-7EFB-A55A-5C7E-712BBACC99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0337-37EF-4DF1-BD49-2A9123506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V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/ </a:t>
            </a:r>
            <a:r>
              <a:rPr lang="cs-CZ" err="1"/>
              <a:t>Date</a:t>
            </a:r>
            <a:r>
              <a:rPr lang="cs-CZ"/>
              <a:t> / </a:t>
            </a:r>
            <a:r>
              <a:rPr lang="cs-CZ" err="1"/>
              <a:t>etc</a:t>
            </a:r>
            <a:r>
              <a:rPr lang="cs-CZ"/>
              <a:t>.</a:t>
            </a:r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C790552-49A7-425E-93B6-614B6C390F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1146" y="634882"/>
            <a:ext cx="2453146" cy="78434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759ED6C-1EB3-4712-BF5C-70DCD3AAE8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6604-08F1-4707-8B60-4EB32C7D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341947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D9DB-552C-437D-8CD9-3FB1FDF8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3975101"/>
            <a:ext cx="11258550" cy="18097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AAEBC2-CD82-476B-9F09-93700AEF63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and </a:t>
            </a:r>
            <a:r>
              <a:rPr lang="cs-CZ" err="1"/>
              <a:t>contact</a:t>
            </a:r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7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 + Ma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12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/>
              <a:t>Name of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presenter</a:t>
            </a:r>
            <a:r>
              <a:rPr lang="cs-CZ"/>
              <a:t> and </a:t>
            </a:r>
            <a:r>
              <a:rPr lang="cs-CZ" err="1"/>
              <a:t>contact</a:t>
            </a:r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54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9898-7198-401D-B3BC-3FDCD0A3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3CC8-3D58-4CC9-9980-7B6494CB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E952B-CD96-4622-A77D-60AFBF8C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665D-584B-488A-A8B7-BB61BBA1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9CAB-B78F-4547-932E-9B52A518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B3D8-C8FD-4695-9AED-29B11F411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725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E075E-B249-44D9-B1FB-63F9B35A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01AEE-DAAA-4A1F-B4D5-C1D7F373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55FF9-EAF5-495E-B1E1-C394C4CA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E032-3DB1-4A87-8AE3-C0F98583F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725" y="365126"/>
            <a:ext cx="11258549" cy="825500"/>
          </a:xfrm>
        </p:spPr>
        <p:txBody>
          <a:bodyPr anchor="ctr"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B929-F940-434E-A2F5-04BDA1A5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24519"/>
            <a:ext cx="6542086" cy="436193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2815-0A5C-47DC-B1C0-50CE63A0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6726" y="1523999"/>
            <a:ext cx="4305300" cy="4344989"/>
          </a:xfrm>
        </p:spPr>
        <p:txBody>
          <a:bodyPr/>
          <a:lstStyle>
            <a:lvl1pPr marL="0" indent="0">
              <a:buNone/>
              <a:defRPr sz="1600">
                <a:solidFill>
                  <a:srgbClr val="21A9C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4B685-CFA1-4464-8529-905FEFC6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47864-7B38-4FF5-A909-FCBDE435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4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5CF-2973-4EFE-89BA-8E59AE0F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99087-1842-44DB-BB79-81977A08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9022D-9CCE-4F2C-9FAC-85753E6E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593CE-C65C-430F-BAA7-1712F387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CD5F8-EC74-418B-94C9-EFF8FDD9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8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E2BC1-A033-4DE0-B239-698661E5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825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50F1-72F9-4DD3-93B1-AC146414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1523999"/>
            <a:ext cx="11258550" cy="43624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2A22-6712-4C0F-85B7-FFFB9E80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919" y="6408258"/>
            <a:ext cx="7887356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rgbClr val="7AC143"/>
                </a:solidFill>
              </a:defRPr>
            </a:lvl1pPr>
          </a:lstStyle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891C1-86C2-4C30-A8CF-AC3354D3C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>
                <a:solidFill>
                  <a:srgbClr val="7AC143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1B9B6A7-7477-4E45-A58A-5FA0ADD2624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6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60" r:id="rId3"/>
    <p:sldLayoutId id="2147483651" r:id="rId4"/>
    <p:sldLayoutId id="2147483657" r:id="rId5"/>
    <p:sldLayoutId id="2147483662" r:id="rId6"/>
    <p:sldLayoutId id="2147483661" r:id="rId7"/>
    <p:sldLayoutId id="2147483650" r:id="rId8"/>
    <p:sldLayoutId id="2147483652" r:id="rId9"/>
    <p:sldLayoutId id="2147483656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A9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1A9C0"/>
        </a:buClr>
        <a:buFont typeface="Arial" panose="020B0604020202020204" pitchFamily="34" charset="0"/>
        <a:buChar char="•"/>
        <a:defRPr sz="2400" kern="1200">
          <a:solidFill>
            <a:srgbClr val="3946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2000" kern="1200">
          <a:solidFill>
            <a:srgbClr val="3946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800" kern="1200">
          <a:solidFill>
            <a:srgbClr val="3946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dpis 1">
            <a:extLst>
              <a:ext uri="{FF2B5EF4-FFF2-40B4-BE49-F238E27FC236}">
                <a16:creationId xmlns:a16="http://schemas.microsoft.com/office/drawing/2014/main" id="{E38636A8-6216-4BCE-8A5E-6572CEFC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04" y="6291445"/>
            <a:ext cx="4480036" cy="566555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7AC143"/>
                </a:solidFill>
              </a:rPr>
              <a:t>William Morton– </a:t>
            </a:r>
            <a:r>
              <a:rPr lang="fr-FR" dirty="0" err="1">
                <a:solidFill>
                  <a:srgbClr val="7AC143"/>
                </a:solidFill>
              </a:rPr>
              <a:t>Dec</a:t>
            </a:r>
            <a:r>
              <a:rPr lang="fr-FR" dirty="0">
                <a:solidFill>
                  <a:srgbClr val="7AC143"/>
                </a:solidFill>
              </a:rPr>
              <a:t> 7th, 2023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B1D9170C-9B46-4288-9A83-9C9E72152AC7}"/>
              </a:ext>
            </a:extLst>
          </p:cNvPr>
          <p:cNvSpPr/>
          <p:nvPr/>
        </p:nvSpPr>
        <p:spPr>
          <a:xfrm>
            <a:off x="762000" y="1066800"/>
            <a:ext cx="38252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769A61-85EE-391F-AD6B-C212B8E41E75}"/>
              </a:ext>
            </a:extLst>
          </p:cNvPr>
          <p:cNvSpPr txBox="1">
            <a:spLocks noChangeArrowheads="1"/>
          </p:cNvSpPr>
          <p:nvPr/>
        </p:nvSpPr>
        <p:spPr>
          <a:xfrm>
            <a:off x="206177" y="4408238"/>
            <a:ext cx="2966039" cy="78012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21A9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cs-CZ" sz="4000" cap="small" dirty="0"/>
              <a:t>Week 11</a:t>
            </a:r>
            <a:endParaRPr lang="cs-CZ" altLang="cs-CZ" sz="4000" cap="small" dirty="0"/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E4B30EF6-4641-45F0-9275-01C71BCFF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6177" y="1783566"/>
            <a:ext cx="6259507" cy="2624672"/>
          </a:xfrm>
        </p:spPr>
        <p:txBody>
          <a:bodyPr/>
          <a:lstStyle/>
          <a:p>
            <a:pPr eaLnBrk="1" hangingPunct="1"/>
            <a:r>
              <a:rPr lang="en-US" altLang="cs-CZ"/>
              <a:t>C9555: </a:t>
            </a:r>
            <a:br>
              <a:rPr lang="en-US" altLang="cs-CZ"/>
            </a:br>
            <a:r>
              <a:rPr lang="en-US" altLang="cs-CZ"/>
              <a:t>A survival guide</a:t>
            </a:r>
            <a:br>
              <a:rPr lang="en-US" altLang="cs-CZ"/>
            </a:br>
            <a:r>
              <a:rPr lang="en-US" altLang="cs-CZ"/>
              <a:t>to simulations</a:t>
            </a:r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14759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  <a:endParaRPr lang="cs-CZ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738817F-2B33-4C4B-71CC-C42BB896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Recap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last </a:t>
            </a:r>
            <a:r>
              <a:rPr lang="cs-CZ" dirty="0" err="1">
                <a:cs typeface="Arial"/>
              </a:rPr>
              <a:t>week</a:t>
            </a: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Force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fields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again</a:t>
            </a:r>
            <a:r>
              <a:rPr lang="cs-CZ" dirty="0">
                <a:cs typeface="Arial"/>
              </a:rPr>
              <a:t>?!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Splitting</a:t>
            </a:r>
            <a:r>
              <a:rPr lang="cs-CZ" dirty="0">
                <a:cs typeface="Arial"/>
              </a:rPr>
              <a:t> Performance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>
                <a:cs typeface="Arial"/>
              </a:rPr>
              <a:t>Benchmarking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>
              <a:buAutoNum type="arabicPeriod"/>
            </a:pPr>
            <a:endParaRPr lang="cs-CZ" dirty="0">
              <a:cs typeface="Arial"/>
            </a:endParaRPr>
          </a:p>
          <a:p>
            <a:pPr>
              <a:buAutoNum type="arabicPeriod"/>
            </a:pPr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8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Do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actually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want</a:t>
            </a:r>
            <a:r>
              <a:rPr lang="cs-CZ" dirty="0">
                <a:cs typeface="Arial"/>
              </a:rPr>
              <a:t> long </a:t>
            </a:r>
            <a:r>
              <a:rPr lang="cs-CZ" dirty="0" err="1">
                <a:cs typeface="Arial"/>
              </a:rPr>
              <a:t>timescales</a:t>
            </a:r>
            <a:r>
              <a:rPr lang="cs-CZ" dirty="0">
                <a:cs typeface="Arial"/>
              </a:rPr>
              <a:t>?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549DE8-D590-4D0A-898F-06AC3E247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3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Do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actually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want</a:t>
            </a:r>
            <a:r>
              <a:rPr lang="cs-CZ" dirty="0">
                <a:cs typeface="Arial"/>
              </a:rPr>
              <a:t> long </a:t>
            </a:r>
            <a:r>
              <a:rPr lang="cs-CZ" dirty="0" err="1">
                <a:cs typeface="Arial"/>
              </a:rPr>
              <a:t>timescales</a:t>
            </a:r>
            <a:r>
              <a:rPr lang="cs-CZ" dirty="0">
                <a:cs typeface="Arial"/>
              </a:rPr>
              <a:t>?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8ABE2AF5-B3FE-02D2-523F-974572FA50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452" b="35250"/>
          <a:stretch/>
        </p:blipFill>
        <p:spPr>
          <a:xfrm>
            <a:off x="7277597" y="1523999"/>
            <a:ext cx="3928161" cy="387061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3CA45-2BF1-EFC5-0121-3B6FF6FE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2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Do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actually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want</a:t>
            </a:r>
            <a:r>
              <a:rPr lang="cs-CZ" dirty="0">
                <a:cs typeface="Arial"/>
              </a:rPr>
              <a:t> long </a:t>
            </a:r>
            <a:r>
              <a:rPr lang="cs-CZ" dirty="0" err="1">
                <a:cs typeface="Arial"/>
              </a:rPr>
              <a:t>timescales</a:t>
            </a:r>
            <a:r>
              <a:rPr lang="cs-CZ" dirty="0">
                <a:cs typeface="Arial"/>
              </a:rPr>
              <a:t>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1C490B-39C3-6083-A23D-B49F92C4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pPr marL="0" indent="0">
              <a:buNone/>
            </a:pPr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Umbrella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Sampling</a:t>
            </a: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Hierarchial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Chain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Growth</a:t>
            </a: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Parallel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Tempering</a:t>
            </a: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Coarse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Graining</a:t>
            </a: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Alchemical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Mutations</a:t>
            </a:r>
            <a:r>
              <a:rPr lang="cs-CZ" dirty="0">
                <a:cs typeface="Arial"/>
              </a:rPr>
              <a:t> (not </a:t>
            </a:r>
            <a:r>
              <a:rPr lang="cs-CZ" dirty="0" err="1">
                <a:cs typeface="Arial"/>
              </a:rPr>
              <a:t>covered</a:t>
            </a:r>
            <a:r>
              <a:rPr lang="cs-CZ" dirty="0">
                <a:cs typeface="Arial"/>
              </a:rPr>
              <a:t>)</a:t>
            </a:r>
          </a:p>
          <a:p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8ABE2AF5-B3FE-02D2-523F-974572FA50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452" b="35250"/>
          <a:stretch/>
        </p:blipFill>
        <p:spPr>
          <a:xfrm>
            <a:off x="7277597" y="1523999"/>
            <a:ext cx="3928161" cy="387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58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Introduction to Martini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6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37B4EB-4187-7321-D389-291294ADC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get in a fight with someone, model with Martini</a:t>
            </a:r>
          </a:p>
        </p:txBody>
      </p:sp>
    </p:spTree>
    <p:extLst>
      <p:ext uri="{BB962C8B-B14F-4D97-AF65-F5344CB8AC3E}">
        <p14:creationId xmlns:p14="http://schemas.microsoft.com/office/powerpoint/2010/main" val="1154892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Introduction to Martini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7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83A52A-922F-D4E6-7079-AED236650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etails are in the caption following the image">
            <a:extLst>
              <a:ext uri="{FF2B5EF4-FFF2-40B4-BE49-F238E27FC236}">
                <a16:creationId xmlns:a16="http://schemas.microsoft.com/office/drawing/2014/main" id="{CF8F504A-5A58-F469-1F6E-D81E20F72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143" y="1523999"/>
            <a:ext cx="5291713" cy="419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2F77A8-19FB-D16E-455F-DCF3E3B971DC}"/>
              </a:ext>
            </a:extLst>
          </p:cNvPr>
          <p:cNvSpPr txBox="1"/>
          <p:nvPr/>
        </p:nvSpPr>
        <p:spPr>
          <a:xfrm>
            <a:off x="2007750" y="5771088"/>
            <a:ext cx="9043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Two decades of Martini: Better beads, broader scope</a:t>
            </a:r>
          </a:p>
          <a:p>
            <a:r>
              <a:rPr lang="en-US" sz="1200" dirty="0"/>
              <a:t>Siewert</a:t>
            </a:r>
            <a:r>
              <a:rPr lang="en-US" sz="1200" b="1" dirty="0"/>
              <a:t> </a:t>
            </a:r>
            <a:r>
              <a:rPr lang="en-US" sz="1200" dirty="0"/>
              <a:t>J. </a:t>
            </a:r>
            <a:r>
              <a:rPr lang="en-US" sz="1200" dirty="0" err="1"/>
              <a:t>Marrink</a:t>
            </a:r>
            <a:r>
              <a:rPr lang="en-US" sz="1200" dirty="0"/>
              <a:t>,  Luca </a:t>
            </a:r>
            <a:r>
              <a:rPr lang="en-US" sz="1200" dirty="0" err="1"/>
              <a:t>Monticelli</a:t>
            </a:r>
            <a:r>
              <a:rPr lang="en-US" sz="1200" dirty="0"/>
              <a:t>,  Manuel N. Melo,  Riccardo </a:t>
            </a:r>
            <a:r>
              <a:rPr lang="en-US" sz="1200" dirty="0" err="1"/>
              <a:t>Alessandri</a:t>
            </a:r>
            <a:r>
              <a:rPr lang="en-US" sz="1200" dirty="0"/>
              <a:t>,  D. Peter Tieleman,  Paulo C. T. Souza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0633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Introduction to Martini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8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37B4EB-4187-7321-D389-291294ADC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get in a fight with someone, model with Martini</a:t>
            </a:r>
          </a:p>
          <a:p>
            <a:endParaRPr lang="en-US" dirty="0"/>
          </a:p>
          <a:p>
            <a:r>
              <a:rPr lang="en-US" dirty="0"/>
              <a:t>“small chemical fragments can be represented by specific CG bead types (the building blocks), irrespective of the molecule to which the fragment belongs”</a:t>
            </a:r>
          </a:p>
          <a:p>
            <a:pPr lvl="1"/>
            <a:r>
              <a:rPr lang="en-US" dirty="0"/>
              <a:t>Is this true from a molecular orbital point of view?</a:t>
            </a:r>
          </a:p>
          <a:p>
            <a:pPr lvl="1"/>
            <a:endParaRPr lang="en-US" dirty="0"/>
          </a:p>
          <a:p>
            <a:r>
              <a:rPr lang="en-US" dirty="0"/>
              <a:t>Martini 3 </a:t>
            </a:r>
            <a:r>
              <a:rPr lang="en-US" dirty="0" err="1"/>
              <a:t>reparameterized</a:t>
            </a:r>
            <a:r>
              <a:rPr lang="en-US" dirty="0"/>
              <a:t> beads, and added new species to the list – expanding the library</a:t>
            </a:r>
          </a:p>
          <a:p>
            <a:pPr lvl="1"/>
            <a:r>
              <a:rPr lang="en-US" dirty="0"/>
              <a:t>When we make something more general, we make it less specific</a:t>
            </a:r>
          </a:p>
          <a:p>
            <a:pPr lvl="1"/>
            <a:r>
              <a:rPr lang="en-US" dirty="0"/>
              <a:t>Martini and Marini 2 were made more specifically for lipids</a:t>
            </a:r>
          </a:p>
        </p:txBody>
      </p:sp>
    </p:spTree>
    <p:extLst>
      <p:ext uri="{BB962C8B-B14F-4D97-AF65-F5344CB8AC3E}">
        <p14:creationId xmlns:p14="http://schemas.microsoft.com/office/powerpoint/2010/main" val="414439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Paramaterization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1C490B-39C3-6083-A23D-B49F92C47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11258550" cy="128320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Parameterization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bonds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was</a:t>
            </a:r>
            <a:r>
              <a:rPr lang="cs-CZ" dirty="0">
                <a:cs typeface="Arial"/>
              </a:rPr>
              <a:t> done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all</a:t>
            </a:r>
            <a:r>
              <a:rPr lang="cs-CZ" dirty="0">
                <a:cs typeface="Arial"/>
              </a:rPr>
              <a:t>-atom </a:t>
            </a:r>
            <a:r>
              <a:rPr lang="cs-CZ" dirty="0" err="1">
                <a:cs typeface="Arial"/>
              </a:rPr>
              <a:t>simulations</a:t>
            </a:r>
            <a:r>
              <a:rPr lang="cs-CZ" dirty="0">
                <a:cs typeface="Arial"/>
              </a:rPr>
              <a:t> (</a:t>
            </a:r>
            <a:r>
              <a:rPr lang="cs-CZ" dirty="0" err="1">
                <a:cs typeface="Arial"/>
              </a:rPr>
              <a:t>bottom</a:t>
            </a:r>
            <a:r>
              <a:rPr lang="cs-CZ" dirty="0">
                <a:cs typeface="Arial"/>
              </a:rPr>
              <a:t> up)</a:t>
            </a:r>
          </a:p>
          <a:p>
            <a:r>
              <a:rPr lang="cs-CZ" dirty="0" err="1">
                <a:cs typeface="Arial"/>
              </a:rPr>
              <a:t>Parameterization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non-</a:t>
            </a:r>
            <a:r>
              <a:rPr lang="cs-CZ" dirty="0" err="1">
                <a:cs typeface="Arial"/>
              </a:rPr>
              <a:t>bonded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interaction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experiment (top </a:t>
            </a:r>
            <a:r>
              <a:rPr lang="cs-CZ" dirty="0" err="1">
                <a:cs typeface="Arial"/>
              </a:rPr>
              <a:t>down</a:t>
            </a:r>
            <a:r>
              <a:rPr lang="cs-CZ" dirty="0">
                <a:cs typeface="Arial"/>
              </a:rPr>
              <a:t>)</a:t>
            </a:r>
          </a:p>
          <a:p>
            <a:pPr lvl="1"/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our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favourite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potential</a:t>
            </a:r>
            <a:r>
              <a:rPr lang="cs-CZ" dirty="0">
                <a:cs typeface="Arial"/>
              </a:rPr>
              <a:t>…</a:t>
            </a:r>
          </a:p>
          <a:p>
            <a:pPr marL="0" indent="0">
              <a:buNone/>
            </a:pPr>
            <a:endParaRPr lang="cs-CZ" dirty="0">
              <a:cs typeface="Arial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3E2534-D318-A1D2-C3CE-902E13FA0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832" y="2807208"/>
            <a:ext cx="5736336" cy="302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7CC2F-0C6D-C5CB-79B4-AA06BDA3FB6F}"/>
              </a:ext>
            </a:extLst>
          </p:cNvPr>
          <p:cNvSpPr txBox="1"/>
          <p:nvPr/>
        </p:nvSpPr>
        <p:spPr>
          <a:xfrm>
            <a:off x="3305115" y="5887170"/>
            <a:ext cx="5581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Martini straight: Boosting performance using a shorter cutoff and GPUs,</a:t>
            </a:r>
          </a:p>
          <a:p>
            <a:r>
              <a:rPr lang="en-US" sz="1200" dirty="0" err="1"/>
              <a:t>Djurre</a:t>
            </a:r>
            <a:r>
              <a:rPr lang="en-US" sz="1200" dirty="0"/>
              <a:t> H. de Jong, Svetlana </a:t>
            </a:r>
            <a:r>
              <a:rPr lang="en-US" sz="1200" dirty="0" err="1"/>
              <a:t>Baoukina</a:t>
            </a:r>
            <a:r>
              <a:rPr lang="en-US" sz="1200" dirty="0"/>
              <a:t>, Helgi I. </a:t>
            </a:r>
            <a:r>
              <a:rPr lang="en-US" sz="1200" dirty="0" err="1"/>
              <a:t>Ingólfsson</a:t>
            </a:r>
            <a:r>
              <a:rPr lang="en-US" sz="1200" dirty="0"/>
              <a:t>, Siewert J. </a:t>
            </a:r>
            <a:r>
              <a:rPr lang="en-US" sz="1200" dirty="0" err="1"/>
              <a:t>Marrink</a:t>
            </a:r>
            <a:r>
              <a:rPr lang="en-US" sz="1200" dirty="0"/>
              <a:t>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0DD8E-3C2C-4324-7DC3-26BC74F536F2}"/>
              </a:ext>
            </a:extLst>
          </p:cNvPr>
          <p:cNvSpPr txBox="1"/>
          <p:nvPr/>
        </p:nvSpPr>
        <p:spPr>
          <a:xfrm>
            <a:off x="9159945" y="2866631"/>
            <a:ext cx="1584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What are those??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37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E79F68-98FF-1231-71F3-3C0FEBD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Paramaterization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1C490B-39C3-6083-A23D-B49F92C47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11258550" cy="128320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Parameterization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bonds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was</a:t>
            </a:r>
            <a:r>
              <a:rPr lang="cs-CZ" dirty="0">
                <a:cs typeface="Arial"/>
              </a:rPr>
              <a:t> done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all</a:t>
            </a:r>
            <a:r>
              <a:rPr lang="cs-CZ" dirty="0">
                <a:cs typeface="Arial"/>
              </a:rPr>
              <a:t>-atom </a:t>
            </a:r>
            <a:r>
              <a:rPr lang="cs-CZ" dirty="0" err="1">
                <a:cs typeface="Arial"/>
              </a:rPr>
              <a:t>simulations</a:t>
            </a:r>
            <a:r>
              <a:rPr lang="cs-CZ" dirty="0">
                <a:cs typeface="Arial"/>
              </a:rPr>
              <a:t> (</a:t>
            </a:r>
            <a:r>
              <a:rPr lang="cs-CZ" dirty="0" err="1">
                <a:cs typeface="Arial"/>
              </a:rPr>
              <a:t>bottom</a:t>
            </a:r>
            <a:r>
              <a:rPr lang="cs-CZ" dirty="0">
                <a:cs typeface="Arial"/>
              </a:rPr>
              <a:t> up)</a:t>
            </a:r>
          </a:p>
          <a:p>
            <a:r>
              <a:rPr lang="cs-CZ" dirty="0" err="1">
                <a:cs typeface="Arial"/>
              </a:rPr>
              <a:t>Parameterization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non-</a:t>
            </a:r>
            <a:r>
              <a:rPr lang="cs-CZ" dirty="0" err="1">
                <a:cs typeface="Arial"/>
              </a:rPr>
              <a:t>bonded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interaction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was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experiment (top </a:t>
            </a:r>
            <a:r>
              <a:rPr lang="cs-CZ" dirty="0" err="1">
                <a:cs typeface="Arial"/>
              </a:rPr>
              <a:t>down</a:t>
            </a:r>
            <a:r>
              <a:rPr lang="cs-CZ" dirty="0">
                <a:cs typeface="Arial"/>
              </a:rPr>
              <a:t>)</a:t>
            </a:r>
          </a:p>
          <a:p>
            <a:pPr lvl="1"/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our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favourite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potential</a:t>
            </a:r>
            <a:r>
              <a:rPr lang="cs-CZ" dirty="0">
                <a:cs typeface="Arial"/>
              </a:rPr>
              <a:t>…</a:t>
            </a:r>
          </a:p>
          <a:p>
            <a:pPr marL="0" indent="0">
              <a:buNone/>
            </a:pPr>
            <a:endParaRPr lang="cs-CZ" dirty="0">
              <a:cs typeface="Arial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ED29CE0-7D69-09C6-C1F1-5F977B5D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4B50DA-73FE-B72F-041E-7C9E32EA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7CC2F-0C6D-C5CB-79B4-AA06BDA3FB6F}"/>
              </a:ext>
            </a:extLst>
          </p:cNvPr>
          <p:cNvSpPr txBox="1"/>
          <p:nvPr/>
        </p:nvSpPr>
        <p:spPr>
          <a:xfrm>
            <a:off x="3305115" y="5887170"/>
            <a:ext cx="5581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Martini straight: Boosting performance using a shorter cutoff and GPUs,</a:t>
            </a:r>
          </a:p>
          <a:p>
            <a:r>
              <a:rPr lang="en-US" sz="1200" dirty="0" err="1"/>
              <a:t>Djurre</a:t>
            </a:r>
            <a:r>
              <a:rPr lang="en-US" sz="1200" dirty="0"/>
              <a:t> H. de Jong, Svetlana </a:t>
            </a:r>
            <a:r>
              <a:rPr lang="en-US" sz="1200" dirty="0" err="1"/>
              <a:t>Baoukina</a:t>
            </a:r>
            <a:r>
              <a:rPr lang="en-US" sz="1200" dirty="0"/>
              <a:t>, Helgi I. </a:t>
            </a:r>
            <a:r>
              <a:rPr lang="en-US" sz="1200" dirty="0" err="1"/>
              <a:t>Ingólfsson</a:t>
            </a:r>
            <a:r>
              <a:rPr lang="en-US" sz="1200" dirty="0"/>
              <a:t>, Siewert J. </a:t>
            </a:r>
            <a:r>
              <a:rPr lang="en-US" sz="1200" dirty="0" err="1"/>
              <a:t>Marrink</a:t>
            </a:r>
            <a:r>
              <a:rPr lang="en-US" sz="1200" dirty="0"/>
              <a:t>,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6F3E108-7B82-B89C-8931-1F0F77785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024" y="2999232"/>
            <a:ext cx="3977951" cy="282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17354A-94F5-72E3-C30B-28C38696F304}"/>
              </a:ext>
            </a:extLst>
          </p:cNvPr>
          <p:cNvSpPr txBox="1"/>
          <p:nvPr/>
        </p:nvSpPr>
        <p:spPr>
          <a:xfrm>
            <a:off x="8172393" y="4136490"/>
            <a:ext cx="1584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Old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0F6C4-792F-9258-04F9-3004983378DB}"/>
              </a:ext>
            </a:extLst>
          </p:cNvPr>
          <p:cNvSpPr txBox="1"/>
          <p:nvPr/>
        </p:nvSpPr>
        <p:spPr>
          <a:xfrm>
            <a:off x="8172393" y="2984151"/>
            <a:ext cx="1584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New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2680C-143A-5C06-5AB7-668C61AE785A}"/>
              </a:ext>
            </a:extLst>
          </p:cNvPr>
          <p:cNvSpPr txBox="1"/>
          <p:nvPr/>
        </p:nvSpPr>
        <p:spPr>
          <a:xfrm>
            <a:off x="4923225" y="2866631"/>
            <a:ext cx="1971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Large DPPC Bilayer (183,296 beads)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008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MD engine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CE25E6E4-DE65-6918-BD5E-98F9001D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calculated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each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timestep</a:t>
            </a:r>
            <a:r>
              <a:rPr lang="cs-CZ" dirty="0">
                <a:cs typeface="Arial"/>
              </a:rPr>
              <a:t>?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Where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does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calculation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take</a:t>
            </a:r>
            <a:r>
              <a:rPr lang="cs-CZ" dirty="0">
                <a:cs typeface="Arial"/>
              </a:rPr>
              <a:t> place? (CPU/GPU)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information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transfered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one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other</a:t>
            </a:r>
            <a:r>
              <a:rPr lang="cs-CZ" dirty="0">
                <a:cs typeface="Arial"/>
              </a:rPr>
              <a:t>?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OpenMP</a:t>
            </a:r>
            <a:r>
              <a:rPr lang="cs-CZ" dirty="0">
                <a:cs typeface="Arial"/>
              </a:rPr>
              <a:t> vs MPI</a:t>
            </a:r>
          </a:p>
          <a:p>
            <a:pPr lvl="1"/>
            <a:r>
              <a:rPr lang="cs-CZ" dirty="0" err="1">
                <a:cs typeface="Arial"/>
              </a:rPr>
              <a:t>Working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together</a:t>
            </a:r>
            <a:r>
              <a:rPr lang="cs-CZ" dirty="0">
                <a:cs typeface="Arial"/>
              </a:rPr>
              <a:t> vs </a:t>
            </a:r>
            <a:r>
              <a:rPr lang="cs-CZ" dirty="0" err="1">
                <a:cs typeface="Arial"/>
              </a:rPr>
              <a:t>splitting</a:t>
            </a:r>
            <a:r>
              <a:rPr lang="cs-CZ" dirty="0">
                <a:cs typeface="Arial"/>
              </a:rPr>
              <a:t> up hard </a:t>
            </a:r>
            <a:r>
              <a:rPr lang="cs-CZ" dirty="0" err="1">
                <a:cs typeface="Arial"/>
              </a:rPr>
              <a:t>tasks</a:t>
            </a:r>
            <a:endParaRPr lang="cs-CZ" dirty="0">
              <a:cs typeface="Arial"/>
            </a:endParaRPr>
          </a:p>
          <a:p>
            <a:pPr lvl="1"/>
            <a:endParaRPr lang="cs-CZ" dirty="0">
              <a:cs typeface="Arial"/>
            </a:endParaRPr>
          </a:p>
          <a:p>
            <a:pPr marL="0" indent="0">
              <a:buNone/>
            </a:pP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11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30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E83C9E9-0806-1A7C-3855-C65DDE46C70B}"/>
              </a:ext>
            </a:extLst>
          </p:cNvPr>
          <p:cNvSpPr/>
          <p:nvPr/>
        </p:nvSpPr>
        <p:spPr>
          <a:xfrm>
            <a:off x="399355" y="1505015"/>
            <a:ext cx="3685030" cy="3744417"/>
          </a:xfrm>
          <a:prstGeom prst="rect">
            <a:avLst/>
          </a:prstGeom>
          <a:solidFill>
            <a:srgbClr val="ED7D31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E933B5-9198-7584-1E70-2C74E345275D}"/>
              </a:ext>
            </a:extLst>
          </p:cNvPr>
          <p:cNvSpPr/>
          <p:nvPr/>
        </p:nvSpPr>
        <p:spPr>
          <a:xfrm>
            <a:off x="8064895" y="1497422"/>
            <a:ext cx="1879092" cy="3760912"/>
          </a:xfrm>
          <a:prstGeom prst="rect">
            <a:avLst/>
          </a:prstGeom>
          <a:solidFill>
            <a:srgbClr val="ED7D31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88131B5-8D2B-F7A0-A73A-299B65AB9BE8}"/>
              </a:ext>
            </a:extLst>
          </p:cNvPr>
          <p:cNvSpPr/>
          <p:nvPr/>
        </p:nvSpPr>
        <p:spPr>
          <a:xfrm>
            <a:off x="9943740" y="1499616"/>
            <a:ext cx="1806299" cy="3773152"/>
          </a:xfrm>
          <a:prstGeom prst="rect">
            <a:avLst/>
          </a:prstGeom>
          <a:solidFill>
            <a:srgbClr val="E9ED2D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52F6BA-9AE8-219D-0E25-2F01A90AE1FB}"/>
              </a:ext>
            </a:extLst>
          </p:cNvPr>
          <p:cNvSpPr/>
          <p:nvPr/>
        </p:nvSpPr>
        <p:spPr>
          <a:xfrm>
            <a:off x="4233672" y="1499616"/>
            <a:ext cx="1879092" cy="1970532"/>
          </a:xfrm>
          <a:prstGeom prst="rect">
            <a:avLst/>
          </a:prstGeom>
          <a:solidFill>
            <a:srgbClr val="ED7D31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515873-14A2-413C-706B-BCD1E03F963F}"/>
              </a:ext>
            </a:extLst>
          </p:cNvPr>
          <p:cNvSpPr/>
          <p:nvPr/>
        </p:nvSpPr>
        <p:spPr>
          <a:xfrm>
            <a:off x="4233425" y="3478758"/>
            <a:ext cx="1879092" cy="1779576"/>
          </a:xfrm>
          <a:prstGeom prst="rect">
            <a:avLst/>
          </a:prstGeom>
          <a:solidFill>
            <a:srgbClr val="4CED2D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3363EE-6708-C496-F6E0-AEF47C5761B8}"/>
              </a:ext>
            </a:extLst>
          </p:cNvPr>
          <p:cNvSpPr/>
          <p:nvPr/>
        </p:nvSpPr>
        <p:spPr>
          <a:xfrm>
            <a:off x="6112517" y="1501810"/>
            <a:ext cx="1806299" cy="1976945"/>
          </a:xfrm>
          <a:prstGeom prst="rect">
            <a:avLst/>
          </a:prstGeom>
          <a:solidFill>
            <a:srgbClr val="E9ED2D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8C093A-A599-034B-2764-D95436366F1A}"/>
              </a:ext>
            </a:extLst>
          </p:cNvPr>
          <p:cNvSpPr/>
          <p:nvPr/>
        </p:nvSpPr>
        <p:spPr>
          <a:xfrm>
            <a:off x="6112404" y="3478757"/>
            <a:ext cx="1806299" cy="1779577"/>
          </a:xfrm>
          <a:prstGeom prst="rect">
            <a:avLst/>
          </a:prstGeom>
          <a:solidFill>
            <a:srgbClr val="6478ED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MD engine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12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C095A7ED-44D2-2969-E345-CC9F45C81DE9}"/>
              </a:ext>
            </a:extLst>
          </p:cNvPr>
          <p:cNvSpPr/>
          <p:nvPr/>
        </p:nvSpPr>
        <p:spPr>
          <a:xfrm>
            <a:off x="402336" y="1499616"/>
            <a:ext cx="3685032" cy="3767328"/>
          </a:xfrm>
          <a:prstGeom prst="frame">
            <a:avLst>
              <a:gd name="adj1" fmla="val 33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976DF470-46BE-442F-91B0-3EB51600E2D2}"/>
              </a:ext>
            </a:extLst>
          </p:cNvPr>
          <p:cNvSpPr/>
          <p:nvPr/>
        </p:nvSpPr>
        <p:spPr>
          <a:xfrm>
            <a:off x="4233672" y="1499616"/>
            <a:ext cx="3685032" cy="3767328"/>
          </a:xfrm>
          <a:prstGeom prst="frame">
            <a:avLst>
              <a:gd name="adj1" fmla="val 40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6113C718-10DB-2EBF-A528-C5DD762EC054}"/>
              </a:ext>
            </a:extLst>
          </p:cNvPr>
          <p:cNvSpPr/>
          <p:nvPr/>
        </p:nvSpPr>
        <p:spPr>
          <a:xfrm>
            <a:off x="8065008" y="1499616"/>
            <a:ext cx="3685032" cy="3767328"/>
          </a:xfrm>
          <a:prstGeom prst="frame">
            <a:avLst>
              <a:gd name="adj1" fmla="val 33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58B008-39FB-8F4C-E220-F074D06797C6}"/>
              </a:ext>
            </a:extLst>
          </p:cNvPr>
          <p:cNvSpPr/>
          <p:nvPr/>
        </p:nvSpPr>
        <p:spPr>
          <a:xfrm>
            <a:off x="884839" y="205740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573C84-EDC9-02C4-AE99-124D47A289E2}"/>
              </a:ext>
            </a:extLst>
          </p:cNvPr>
          <p:cNvSpPr/>
          <p:nvPr/>
        </p:nvSpPr>
        <p:spPr>
          <a:xfrm>
            <a:off x="1966274" y="219913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75F0BD-61E2-87A0-3788-B02EDC0813CB}"/>
              </a:ext>
            </a:extLst>
          </p:cNvPr>
          <p:cNvSpPr/>
          <p:nvPr/>
        </p:nvSpPr>
        <p:spPr>
          <a:xfrm>
            <a:off x="1424335" y="3538728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F5A677-2E7B-9961-29F1-515AC4E8B51D}"/>
              </a:ext>
            </a:extLst>
          </p:cNvPr>
          <p:cNvSpPr/>
          <p:nvPr/>
        </p:nvSpPr>
        <p:spPr>
          <a:xfrm>
            <a:off x="2530759" y="405993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F7DE5C-D9C5-B191-E981-439E2A44693A}"/>
              </a:ext>
            </a:extLst>
          </p:cNvPr>
          <p:cNvSpPr/>
          <p:nvPr/>
        </p:nvSpPr>
        <p:spPr>
          <a:xfrm>
            <a:off x="2960527" y="329184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BC2803-C4D4-2D53-4DEA-F55927033295}"/>
              </a:ext>
            </a:extLst>
          </p:cNvPr>
          <p:cNvSpPr/>
          <p:nvPr/>
        </p:nvSpPr>
        <p:spPr>
          <a:xfrm>
            <a:off x="3143407" y="222199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808E13-FBA4-A399-3836-955D1B14D614}"/>
              </a:ext>
            </a:extLst>
          </p:cNvPr>
          <p:cNvSpPr/>
          <p:nvPr/>
        </p:nvSpPr>
        <p:spPr>
          <a:xfrm>
            <a:off x="893983" y="4443984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EA52A7-27CB-167A-F4F5-5B4199658A62}"/>
              </a:ext>
            </a:extLst>
          </p:cNvPr>
          <p:cNvSpPr/>
          <p:nvPr/>
        </p:nvSpPr>
        <p:spPr>
          <a:xfrm>
            <a:off x="3335431" y="465429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A3CA4F-133E-453A-36CF-2052DED26C8E}"/>
              </a:ext>
            </a:extLst>
          </p:cNvPr>
          <p:cNvSpPr/>
          <p:nvPr/>
        </p:nvSpPr>
        <p:spPr>
          <a:xfrm>
            <a:off x="2185730" y="293979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3E6312-68F3-3736-B677-672F43846E8E}"/>
              </a:ext>
            </a:extLst>
          </p:cNvPr>
          <p:cNvSpPr/>
          <p:nvPr/>
        </p:nvSpPr>
        <p:spPr>
          <a:xfrm>
            <a:off x="1033586" y="272034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B06CB-3435-3F04-B58F-7B7BAB212A18}"/>
              </a:ext>
            </a:extLst>
          </p:cNvPr>
          <p:cNvSpPr txBox="1"/>
          <p:nvPr/>
        </p:nvSpPr>
        <p:spPr>
          <a:xfrm>
            <a:off x="402336" y="5465433"/>
            <a:ext cx="3685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OpenMP 4</a:t>
            </a:r>
          </a:p>
          <a:p>
            <a:r>
              <a:rPr lang="en-US" sz="1200" b="1" dirty="0"/>
              <a:t>MPI 1</a:t>
            </a:r>
          </a:p>
          <a:p>
            <a:r>
              <a:rPr lang="en-US" sz="1200" b="1" dirty="0"/>
              <a:t>Using 4 cores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6538D7-5881-CA8E-9F0F-5A3BD3EAE10C}"/>
              </a:ext>
            </a:extLst>
          </p:cNvPr>
          <p:cNvSpPr txBox="1"/>
          <p:nvPr/>
        </p:nvSpPr>
        <p:spPr>
          <a:xfrm>
            <a:off x="4233672" y="5465957"/>
            <a:ext cx="3685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OpenMP 1</a:t>
            </a:r>
          </a:p>
          <a:p>
            <a:r>
              <a:rPr lang="en-US" sz="1200" b="1" dirty="0"/>
              <a:t>MPI 4</a:t>
            </a:r>
          </a:p>
          <a:p>
            <a:r>
              <a:rPr lang="en-US" sz="1200" b="1" dirty="0"/>
              <a:t>Using 4 cores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4CF797-AB73-F1BB-3F1E-2E9C037771D8}"/>
              </a:ext>
            </a:extLst>
          </p:cNvPr>
          <p:cNvSpPr txBox="1"/>
          <p:nvPr/>
        </p:nvSpPr>
        <p:spPr>
          <a:xfrm>
            <a:off x="8065008" y="5465432"/>
            <a:ext cx="3685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OpenMP 1</a:t>
            </a:r>
          </a:p>
          <a:p>
            <a:r>
              <a:rPr lang="en-US" sz="1200" b="1" dirty="0"/>
              <a:t>MPI 4</a:t>
            </a:r>
          </a:p>
          <a:p>
            <a:r>
              <a:rPr lang="en-US" sz="1200" b="1" dirty="0"/>
              <a:t>Using 4 cores</a:t>
            </a:r>
            <a:endParaRPr lang="en-US" sz="12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C8075F0-EB21-ED97-A45F-D6BED162AD80}"/>
              </a:ext>
            </a:extLst>
          </p:cNvPr>
          <p:cNvSpPr/>
          <p:nvPr/>
        </p:nvSpPr>
        <p:spPr>
          <a:xfrm>
            <a:off x="4795961" y="198882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9170D4-EF0B-2BC9-70B1-0272EA05A5B2}"/>
              </a:ext>
            </a:extLst>
          </p:cNvPr>
          <p:cNvSpPr/>
          <p:nvPr/>
        </p:nvSpPr>
        <p:spPr>
          <a:xfrm>
            <a:off x="5829300" y="215341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32B7D73-5D5A-C10B-AE29-11942058DDA0}"/>
              </a:ext>
            </a:extLst>
          </p:cNvPr>
          <p:cNvSpPr/>
          <p:nvPr/>
        </p:nvSpPr>
        <p:spPr>
          <a:xfrm>
            <a:off x="5334246" y="3557854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D7DEE6-CBF1-A56C-691D-BACA7A4E89C5}"/>
              </a:ext>
            </a:extLst>
          </p:cNvPr>
          <p:cNvSpPr/>
          <p:nvPr/>
        </p:nvSpPr>
        <p:spPr>
          <a:xfrm>
            <a:off x="6441881" y="399135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B0881A-EB70-8246-3A79-B3AAC6882DC2}"/>
              </a:ext>
            </a:extLst>
          </p:cNvPr>
          <p:cNvSpPr/>
          <p:nvPr/>
        </p:nvSpPr>
        <p:spPr>
          <a:xfrm>
            <a:off x="6891349" y="315791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5A07F2-A7E1-56A6-70EE-0059CE0F5252}"/>
              </a:ext>
            </a:extLst>
          </p:cNvPr>
          <p:cNvSpPr/>
          <p:nvPr/>
        </p:nvSpPr>
        <p:spPr>
          <a:xfrm>
            <a:off x="7054529" y="215341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9F65A7-64F0-381A-BDB2-19C0DBDF63DD}"/>
              </a:ext>
            </a:extLst>
          </p:cNvPr>
          <p:cNvSpPr/>
          <p:nvPr/>
        </p:nvSpPr>
        <p:spPr>
          <a:xfrm>
            <a:off x="4805105" y="4375404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B94D915-7B83-6D92-6573-C04F6DCDF6B9}"/>
              </a:ext>
            </a:extLst>
          </p:cNvPr>
          <p:cNvSpPr/>
          <p:nvPr/>
        </p:nvSpPr>
        <p:spPr>
          <a:xfrm>
            <a:off x="7246553" y="458571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55070C-04FA-4994-0590-B88FDE7835A4}"/>
              </a:ext>
            </a:extLst>
          </p:cNvPr>
          <p:cNvSpPr/>
          <p:nvPr/>
        </p:nvSpPr>
        <p:spPr>
          <a:xfrm>
            <a:off x="6231569" y="2886303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F0B30F-2932-43F9-DF9B-0B9E4A40AADF}"/>
              </a:ext>
            </a:extLst>
          </p:cNvPr>
          <p:cNvSpPr/>
          <p:nvPr/>
        </p:nvSpPr>
        <p:spPr>
          <a:xfrm>
            <a:off x="4944708" y="265176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5040285-E0DF-D53E-2713-E24F7CBE41B6}"/>
              </a:ext>
            </a:extLst>
          </p:cNvPr>
          <p:cNvSpPr/>
          <p:nvPr/>
        </p:nvSpPr>
        <p:spPr>
          <a:xfrm>
            <a:off x="8615710" y="192347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E88564D-7375-7928-66C2-FB6C1947A0A3}"/>
              </a:ext>
            </a:extLst>
          </p:cNvPr>
          <p:cNvSpPr/>
          <p:nvPr/>
        </p:nvSpPr>
        <p:spPr>
          <a:xfrm>
            <a:off x="9545930" y="206977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82EB776-A4F5-3E77-0745-CD229E038594}"/>
              </a:ext>
            </a:extLst>
          </p:cNvPr>
          <p:cNvSpPr/>
          <p:nvPr/>
        </p:nvSpPr>
        <p:spPr>
          <a:xfrm>
            <a:off x="9155206" y="3404800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1762D9-04DA-2D32-3D8A-DAADADEC702E}"/>
              </a:ext>
            </a:extLst>
          </p:cNvPr>
          <p:cNvSpPr/>
          <p:nvPr/>
        </p:nvSpPr>
        <p:spPr>
          <a:xfrm>
            <a:off x="10261630" y="3926008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CAEA34-FDE8-9AC9-8616-477F5E028BCE}"/>
              </a:ext>
            </a:extLst>
          </p:cNvPr>
          <p:cNvSpPr/>
          <p:nvPr/>
        </p:nvSpPr>
        <p:spPr>
          <a:xfrm>
            <a:off x="10691398" y="315791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5E01E0C-8FF9-72C4-B473-D8115D6C8340}"/>
              </a:ext>
            </a:extLst>
          </p:cNvPr>
          <p:cNvSpPr/>
          <p:nvPr/>
        </p:nvSpPr>
        <p:spPr>
          <a:xfrm>
            <a:off x="10874278" y="2088064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4EDC7-3420-31E4-C1D2-F31A35A2F571}"/>
              </a:ext>
            </a:extLst>
          </p:cNvPr>
          <p:cNvSpPr/>
          <p:nvPr/>
        </p:nvSpPr>
        <p:spPr>
          <a:xfrm>
            <a:off x="8624854" y="4310056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6BF24A9-77CE-2BCD-CF39-FF697F7E578F}"/>
              </a:ext>
            </a:extLst>
          </p:cNvPr>
          <p:cNvSpPr/>
          <p:nvPr/>
        </p:nvSpPr>
        <p:spPr>
          <a:xfrm>
            <a:off x="11066302" y="4520368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A08BE6C-3BEF-7262-1126-2E1975993FF5}"/>
              </a:ext>
            </a:extLst>
          </p:cNvPr>
          <p:cNvSpPr/>
          <p:nvPr/>
        </p:nvSpPr>
        <p:spPr>
          <a:xfrm>
            <a:off x="9982400" y="281635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0C4483-FFFD-8402-0ED4-673AFF69E59A}"/>
              </a:ext>
            </a:extLst>
          </p:cNvPr>
          <p:cNvSpPr/>
          <p:nvPr/>
        </p:nvSpPr>
        <p:spPr>
          <a:xfrm>
            <a:off x="8764457" y="2586412"/>
            <a:ext cx="283464" cy="2834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8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MD engine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CE25E6E4-DE65-6918-BD5E-98F9001D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calculated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each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timestep</a:t>
            </a:r>
            <a:r>
              <a:rPr lang="cs-CZ" dirty="0">
                <a:cs typeface="Arial"/>
              </a:rPr>
              <a:t>?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Where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does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calculation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take</a:t>
            </a:r>
            <a:r>
              <a:rPr lang="cs-CZ" dirty="0">
                <a:cs typeface="Arial"/>
              </a:rPr>
              <a:t> place? (CPU/GPU)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information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transfered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one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other</a:t>
            </a:r>
            <a:r>
              <a:rPr lang="cs-CZ" dirty="0">
                <a:cs typeface="Arial"/>
              </a:rPr>
              <a:t>?</a:t>
            </a: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OpenMP</a:t>
            </a:r>
            <a:r>
              <a:rPr lang="cs-CZ" dirty="0">
                <a:cs typeface="Arial"/>
              </a:rPr>
              <a:t> vs MPI</a:t>
            </a:r>
          </a:p>
          <a:p>
            <a:pPr lvl="1"/>
            <a:r>
              <a:rPr lang="cs-CZ" dirty="0" err="1">
                <a:cs typeface="Arial"/>
              </a:rPr>
              <a:t>Working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together</a:t>
            </a:r>
            <a:r>
              <a:rPr lang="cs-CZ" dirty="0">
                <a:cs typeface="Arial"/>
              </a:rPr>
              <a:t> vs </a:t>
            </a:r>
            <a:r>
              <a:rPr lang="cs-CZ" dirty="0" err="1">
                <a:cs typeface="Arial"/>
              </a:rPr>
              <a:t>splitting</a:t>
            </a:r>
            <a:r>
              <a:rPr lang="cs-CZ" dirty="0">
                <a:cs typeface="Arial"/>
              </a:rPr>
              <a:t> up hard </a:t>
            </a:r>
            <a:r>
              <a:rPr lang="cs-CZ" dirty="0" err="1">
                <a:cs typeface="Arial"/>
              </a:rPr>
              <a:t>tasks</a:t>
            </a:r>
            <a:endParaRPr lang="cs-CZ" dirty="0">
              <a:cs typeface="Arial"/>
            </a:endParaRPr>
          </a:p>
          <a:p>
            <a:pPr lvl="1"/>
            <a:endParaRPr lang="cs-CZ" dirty="0">
              <a:cs typeface="Arial"/>
            </a:endParaRPr>
          </a:p>
          <a:p>
            <a:r>
              <a:rPr lang="cs-CZ" dirty="0">
                <a:cs typeface="Arial"/>
              </a:rPr>
              <a:t>Use </a:t>
            </a:r>
            <a:r>
              <a:rPr lang="cs-CZ" b="1" u="sng" dirty="0" err="1">
                <a:cs typeface="Arial"/>
              </a:rPr>
              <a:t>representative</a:t>
            </a:r>
            <a:r>
              <a:rPr lang="cs-CZ" dirty="0">
                <a:cs typeface="Arial"/>
              </a:rPr>
              <a:t> benchmark </a:t>
            </a:r>
            <a:r>
              <a:rPr lang="cs-CZ" dirty="0" err="1">
                <a:cs typeface="Arial"/>
              </a:rPr>
              <a:t>systems</a:t>
            </a:r>
            <a:endParaRPr lang="cs-CZ" dirty="0">
              <a:cs typeface="Arial"/>
            </a:endParaRPr>
          </a:p>
          <a:p>
            <a:pPr lvl="1"/>
            <a:endParaRPr lang="cs-CZ" dirty="0">
              <a:cs typeface="Arial"/>
            </a:endParaRPr>
          </a:p>
          <a:p>
            <a:pPr marL="0" indent="0">
              <a:buNone/>
            </a:pPr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13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993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F088C-277C-9200-380A-7A1700C8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In </a:t>
            </a:r>
            <a:r>
              <a:rPr lang="cs-CZ" dirty="0" err="1">
                <a:cs typeface="Arial"/>
              </a:rPr>
              <a:t>today's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practical</a:t>
            </a:r>
            <a:r>
              <a:rPr lang="cs-CZ" dirty="0">
                <a:cs typeface="Arial"/>
              </a:rPr>
              <a:t>...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7AC02-DAE3-85C2-F4F3-1618C5BF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There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only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one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goal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day</a:t>
            </a:r>
            <a:r>
              <a:rPr lang="cs-CZ" dirty="0">
                <a:cs typeface="Arial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cs-CZ" dirty="0"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cs-CZ" b="1" dirty="0" err="1">
                <a:cs typeface="Arial"/>
              </a:rPr>
              <a:t>Determine</a:t>
            </a:r>
            <a:r>
              <a:rPr lang="cs-CZ" b="1" dirty="0">
                <a:cs typeface="Arial"/>
              </a:rPr>
              <a:t> </a:t>
            </a:r>
            <a:r>
              <a:rPr lang="cs-CZ" b="1" dirty="0" err="1">
                <a:cs typeface="Arial"/>
              </a:rPr>
              <a:t>the</a:t>
            </a:r>
            <a:r>
              <a:rPr lang="cs-CZ" b="1" dirty="0">
                <a:cs typeface="Arial"/>
              </a:rPr>
              <a:t> </a:t>
            </a:r>
            <a:r>
              <a:rPr lang="cs-CZ" b="1" dirty="0" err="1">
                <a:cs typeface="Arial"/>
              </a:rPr>
              <a:t>largest</a:t>
            </a:r>
            <a:r>
              <a:rPr lang="cs-CZ" b="1" dirty="0">
                <a:cs typeface="Arial"/>
              </a:rPr>
              <a:t> </a:t>
            </a:r>
            <a:r>
              <a:rPr lang="cs-CZ" b="1" dirty="0" err="1">
                <a:cs typeface="Arial"/>
              </a:rPr>
              <a:t>membrane</a:t>
            </a:r>
            <a:r>
              <a:rPr lang="cs-CZ" b="1" dirty="0">
                <a:cs typeface="Arial"/>
              </a:rPr>
              <a:t> </a:t>
            </a:r>
            <a:r>
              <a:rPr lang="cs-CZ" b="1" dirty="0" err="1">
                <a:cs typeface="Arial"/>
              </a:rPr>
              <a:t>you</a:t>
            </a:r>
            <a:r>
              <a:rPr lang="cs-CZ" b="1" dirty="0">
                <a:cs typeface="Arial"/>
              </a:rPr>
              <a:t> </a:t>
            </a:r>
            <a:r>
              <a:rPr lang="cs-CZ" b="1" dirty="0" err="1">
                <a:cs typeface="Arial"/>
              </a:rPr>
              <a:t>can</a:t>
            </a:r>
            <a:r>
              <a:rPr lang="cs-CZ" b="1" dirty="0">
                <a:cs typeface="Arial"/>
              </a:rPr>
              <a:t> use to </a:t>
            </a:r>
            <a:r>
              <a:rPr lang="cs-CZ" b="1" dirty="0" err="1">
                <a:cs typeface="Arial"/>
              </a:rPr>
              <a:t>calculate</a:t>
            </a:r>
            <a:r>
              <a:rPr lang="cs-CZ" b="1" dirty="0">
                <a:cs typeface="Arial"/>
              </a:rPr>
              <a:t> lipid </a:t>
            </a:r>
            <a:r>
              <a:rPr lang="cs-CZ" b="1" dirty="0" err="1">
                <a:cs typeface="Arial"/>
              </a:rPr>
              <a:t>head</a:t>
            </a:r>
            <a:r>
              <a:rPr lang="cs-CZ" b="1" dirty="0">
                <a:cs typeface="Arial"/>
              </a:rPr>
              <a:t> area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cs-CZ" b="1" dirty="0" err="1">
                <a:cs typeface="Arial"/>
              </a:rPr>
              <a:t>using</a:t>
            </a:r>
            <a:r>
              <a:rPr lang="cs-CZ" b="1" dirty="0">
                <a:cs typeface="Arial"/>
              </a:rPr>
              <a:t> a 30 </a:t>
            </a:r>
            <a:r>
              <a:rPr lang="cs-CZ" b="1" dirty="0" err="1">
                <a:cs typeface="Arial"/>
              </a:rPr>
              <a:t>minute</a:t>
            </a:r>
            <a:r>
              <a:rPr lang="cs-CZ" b="1" dirty="0">
                <a:cs typeface="Arial"/>
              </a:rPr>
              <a:t> (runtime)</a:t>
            </a:r>
          </a:p>
          <a:p>
            <a:pPr marL="0" indent="0" algn="ctr">
              <a:lnSpc>
                <a:spcPct val="150000"/>
              </a:lnSpc>
              <a:buNone/>
            </a:pPr>
            <a:endParaRPr lang="cs-CZ" dirty="0">
              <a:cs typeface="Arial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cs-CZ" dirty="0">
                <a:cs typeface="Arial"/>
              </a:rPr>
              <a:t>but </a:t>
            </a:r>
            <a:r>
              <a:rPr lang="cs-CZ" dirty="0" err="1">
                <a:cs typeface="Arial"/>
              </a:rPr>
              <a:t>I‘ve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told</a:t>
            </a:r>
            <a:r>
              <a:rPr lang="cs-CZ" dirty="0">
                <a:cs typeface="Arial"/>
              </a:rPr>
              <a:t> I </a:t>
            </a:r>
            <a:r>
              <a:rPr lang="cs-CZ" dirty="0" err="1">
                <a:cs typeface="Arial"/>
              </a:rPr>
              <a:t>don‘t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give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enough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instruction</a:t>
            </a:r>
            <a:r>
              <a:rPr lang="cs-CZ" dirty="0">
                <a:cs typeface="Arial"/>
              </a:rPr>
              <a:t> so </a:t>
            </a:r>
            <a:r>
              <a:rPr lang="cs-CZ" dirty="0" err="1">
                <a:cs typeface="Arial"/>
              </a:rPr>
              <a:t>here‘s</a:t>
            </a:r>
            <a:r>
              <a:rPr lang="cs-CZ" dirty="0">
                <a:cs typeface="Arial"/>
              </a:rPr>
              <a:t> a step-by-step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DF2287D-EFB1-696E-CD72-BE927BB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8C7B7F-D61D-817F-1520-E635E916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1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F088C-277C-9200-380A-7A1700C8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Arial"/>
              </a:rPr>
              <a:t>In </a:t>
            </a:r>
            <a:r>
              <a:rPr lang="cs-CZ" err="1">
                <a:cs typeface="Arial"/>
              </a:rPr>
              <a:t>today's</a:t>
            </a:r>
            <a:r>
              <a:rPr lang="cs-CZ">
                <a:cs typeface="Arial"/>
              </a:rPr>
              <a:t> </a:t>
            </a:r>
            <a:r>
              <a:rPr lang="cs-CZ" err="1">
                <a:cs typeface="Arial"/>
              </a:rPr>
              <a:t>practical</a:t>
            </a:r>
            <a:r>
              <a:rPr lang="cs-CZ">
                <a:cs typeface="Arial"/>
              </a:rPr>
              <a:t>...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7AC02-DAE3-85C2-F4F3-1618C5BF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85000" lnSpcReduction="10000"/>
          </a:bodyPr>
          <a:lstStyle/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First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look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model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lipid in VMD. </a:t>
            </a:r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mapping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that‘s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used</a:t>
            </a:r>
            <a:r>
              <a:rPr lang="cs-CZ" dirty="0">
                <a:cs typeface="Arial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>
                <a:cs typeface="Arial"/>
              </a:rPr>
              <a:t>1:1, 1:2, 1:3, 1:4…</a:t>
            </a:r>
          </a:p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>
                <a:cs typeface="Arial"/>
              </a:rPr>
              <a:t>Second, build </a:t>
            </a:r>
            <a:r>
              <a:rPr lang="cs-CZ" dirty="0" err="1">
                <a:cs typeface="Arial"/>
              </a:rPr>
              <a:t>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equilibrated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membrane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with</a:t>
            </a:r>
            <a:r>
              <a:rPr lang="cs-CZ" dirty="0">
                <a:cs typeface="Arial"/>
              </a:rPr>
              <a:t> 6 </a:t>
            </a:r>
            <a:r>
              <a:rPr lang="cs-CZ" dirty="0" err="1">
                <a:cs typeface="Arial"/>
              </a:rPr>
              <a:t>water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beads</a:t>
            </a:r>
            <a:r>
              <a:rPr lang="cs-CZ" dirty="0">
                <a:cs typeface="Arial"/>
              </a:rPr>
              <a:t> per lipid (</a:t>
            </a:r>
            <a:r>
              <a:rPr lang="cs-CZ" dirty="0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may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have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increase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larger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membranes</a:t>
            </a:r>
            <a:endParaRPr lang="cs-CZ" dirty="0">
              <a:cs typeface="Arial"/>
            </a:endParaRPr>
          </a:p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Third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determine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long </a:t>
            </a:r>
            <a:r>
              <a:rPr lang="cs-CZ" dirty="0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need</a:t>
            </a:r>
            <a:r>
              <a:rPr lang="cs-CZ" dirty="0">
                <a:cs typeface="Arial"/>
              </a:rPr>
              <a:t> to model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membrane</a:t>
            </a:r>
            <a:r>
              <a:rPr lang="cs-CZ" dirty="0">
                <a:cs typeface="Arial"/>
              </a:rPr>
              <a:t>… </a:t>
            </a:r>
            <a:r>
              <a:rPr lang="cs-CZ" dirty="0" err="1">
                <a:cs typeface="Arial"/>
              </a:rPr>
              <a:t>look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literature</a:t>
            </a:r>
            <a:r>
              <a:rPr lang="cs-CZ" dirty="0">
                <a:cs typeface="Arial"/>
              </a:rPr>
              <a:t>.</a:t>
            </a:r>
          </a:p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Fourth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optimize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your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computational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resources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problem</a:t>
            </a:r>
            <a:r>
              <a:rPr lang="cs-CZ" dirty="0">
                <a:cs typeface="Arial"/>
              </a:rPr>
              <a:t>! (</a:t>
            </a:r>
            <a:r>
              <a:rPr lang="cs-CZ" dirty="0" err="1">
                <a:cs typeface="Arial"/>
              </a:rPr>
              <a:t>doesn‘t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have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be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perfect</a:t>
            </a:r>
            <a:r>
              <a:rPr lang="cs-CZ" dirty="0">
                <a:cs typeface="Arial"/>
              </a:rPr>
              <a:t>, just </a:t>
            </a:r>
            <a:r>
              <a:rPr lang="cs-CZ" dirty="0" err="1">
                <a:cs typeface="Arial"/>
              </a:rPr>
              <a:t>enough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simulate</a:t>
            </a:r>
            <a:r>
              <a:rPr lang="cs-CZ" dirty="0">
                <a:cs typeface="Arial"/>
              </a:rPr>
              <a:t>)</a:t>
            </a:r>
          </a:p>
          <a:p>
            <a:pPr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cs-CZ" dirty="0" err="1">
                <a:cs typeface="Arial"/>
              </a:rPr>
              <a:t>Finally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once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have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your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ideal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parameters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tell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flaw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using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efficiency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found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here</a:t>
            </a:r>
            <a:r>
              <a:rPr lang="cs-CZ" dirty="0">
                <a:cs typeface="Arial"/>
              </a:rPr>
              <a:t>. </a:t>
            </a:r>
            <a:r>
              <a:rPr lang="cs-CZ" dirty="0" err="1">
                <a:cs typeface="Arial"/>
              </a:rPr>
              <a:t>Then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can</a:t>
            </a:r>
            <a:r>
              <a:rPr lang="cs-CZ" dirty="0">
                <a:cs typeface="Arial"/>
              </a:rPr>
              <a:t> go!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DF2287D-EFB1-696E-CD72-BE927BB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8C7B7F-D61D-817F-1520-E635E916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8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Macintosh PowerPoint</Application>
  <PresentationFormat>Widescreen</PresentationFormat>
  <Paragraphs>132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C9555:  A survival guide to simulations</vt:lpstr>
      <vt:lpstr>Learning Objectives</vt:lpstr>
      <vt:lpstr>Do we actually want long timescales?</vt:lpstr>
      <vt:lpstr>Do we actually want long timescales?</vt:lpstr>
      <vt:lpstr>Do we actually want long timescales?</vt:lpstr>
      <vt:lpstr>Brief Introduction to Martini</vt:lpstr>
      <vt:lpstr>Brief Introduction to Martini</vt:lpstr>
      <vt:lpstr>Brief Introduction to Martini</vt:lpstr>
      <vt:lpstr>Paramaterization</vt:lpstr>
      <vt:lpstr>Paramaterization</vt:lpstr>
      <vt:lpstr>Your MD engine</vt:lpstr>
      <vt:lpstr>Your MD engine</vt:lpstr>
      <vt:lpstr>Your MD engine</vt:lpstr>
      <vt:lpstr>In today's practical...</vt:lpstr>
      <vt:lpstr>In today's practical...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Michaela Palata</dc:creator>
  <cp:lastModifiedBy>Morton, William</cp:lastModifiedBy>
  <cp:revision>114</cp:revision>
  <cp:lastPrinted>2017-09-20T07:48:49Z</cp:lastPrinted>
  <dcterms:created xsi:type="dcterms:W3CDTF">2017-09-06T10:48:47Z</dcterms:created>
  <dcterms:modified xsi:type="dcterms:W3CDTF">2023-12-05T17:59:32Z</dcterms:modified>
</cp:coreProperties>
</file>