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5"/>
  </p:notesMasterIdLst>
  <p:sldIdLst>
    <p:sldId id="256" r:id="rId3"/>
    <p:sldId id="891" r:id="rId4"/>
    <p:sldId id="892" r:id="rId5"/>
    <p:sldId id="259" r:id="rId6"/>
    <p:sldId id="260" r:id="rId7"/>
    <p:sldId id="261" r:id="rId8"/>
    <p:sldId id="893" r:id="rId9"/>
    <p:sldId id="895" r:id="rId10"/>
    <p:sldId id="896" r:id="rId11"/>
    <p:sldId id="894" r:id="rId12"/>
    <p:sldId id="264" r:id="rId13"/>
    <p:sldId id="265" r:id="rId14"/>
    <p:sldId id="266" r:id="rId15"/>
    <p:sldId id="897" r:id="rId16"/>
    <p:sldId id="268" r:id="rId17"/>
    <p:sldId id="269" r:id="rId18"/>
    <p:sldId id="271" r:id="rId19"/>
    <p:sldId id="898" r:id="rId20"/>
    <p:sldId id="900" r:id="rId21"/>
    <p:sldId id="899" r:id="rId22"/>
    <p:sldId id="902" r:id="rId23"/>
    <p:sldId id="272" r:id="rId24"/>
  </p:sldIdLst>
  <p:sldSz cx="12192000" cy="6858000"/>
  <p:notesSz cx="6865938" cy="99964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96" autoAdjust="0"/>
    <p:restoredTop sz="94660"/>
  </p:normalViewPr>
  <p:slideViewPr>
    <p:cSldViewPr snapToGrid="0">
      <p:cViewPr varScale="1">
        <p:scale>
          <a:sx n="79" d="100"/>
          <a:sy n="79"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1"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pPr algn="ctr"/>
            <a:r>
              <a:rPr lang="en-US" sz="4400" b="0" strike="noStrike" spc="-1">
                <a:latin typeface="Arial"/>
              </a:rPr>
              <a:t>Click to move the slide</a:t>
            </a:r>
          </a:p>
        </p:txBody>
      </p:sp>
      <p:sp>
        <p:nvSpPr>
          <p:cNvPr id="82" name="PlaceHolder 2"/>
          <p:cNvSpPr>
            <a:spLocks noGrp="1"/>
          </p:cNvSpPr>
          <p:nvPr>
            <p:ph type="body"/>
          </p:nvPr>
        </p:nvSpPr>
        <p:spPr>
          <a:xfrm>
            <a:off x="756000" y="5078520"/>
            <a:ext cx="6047640" cy="4811040"/>
          </a:xfrm>
          <a:prstGeom prst="rect">
            <a:avLst/>
          </a:prstGeom>
        </p:spPr>
        <p:txBody>
          <a:bodyPr lIns="0" tIns="0" rIns="0" bIns="0">
            <a:noAutofit/>
          </a:bodyPr>
          <a:lstStyle/>
          <a:p>
            <a:r>
              <a:rPr lang="en-US" sz="2000" b="0" strike="noStrike" spc="-1">
                <a:latin typeface="Arial"/>
              </a:rPr>
              <a:t>Click to edit the notes format</a:t>
            </a:r>
          </a:p>
        </p:txBody>
      </p:sp>
      <p:sp>
        <p:nvSpPr>
          <p:cNvPr id="83" name="PlaceHolder 3"/>
          <p:cNvSpPr>
            <a:spLocks noGrp="1"/>
          </p:cNvSpPr>
          <p:nvPr>
            <p:ph type="hdr"/>
          </p:nvPr>
        </p:nvSpPr>
        <p:spPr>
          <a:xfrm>
            <a:off x="0" y="0"/>
            <a:ext cx="3280680" cy="534240"/>
          </a:xfrm>
          <a:prstGeom prst="rect">
            <a:avLst/>
          </a:prstGeom>
        </p:spPr>
        <p:txBody>
          <a:bodyPr lIns="0" tIns="0" rIns="0" bIns="0">
            <a:noAutofit/>
          </a:bodyPr>
          <a:lstStyle/>
          <a:p>
            <a:r>
              <a:rPr lang="en-US" sz="1400" b="0" strike="noStrike" spc="-1">
                <a:latin typeface="Times New Roman"/>
              </a:rPr>
              <a:t>&lt;header&gt;</a:t>
            </a:r>
          </a:p>
        </p:txBody>
      </p:sp>
      <p:sp>
        <p:nvSpPr>
          <p:cNvPr id="84"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US" sz="1400" b="0" strike="noStrike" spc="-1">
                <a:latin typeface="Times New Roman"/>
              </a:rPr>
              <a:t>&lt;date/time&gt;</a:t>
            </a:r>
          </a:p>
        </p:txBody>
      </p:sp>
      <p:sp>
        <p:nvSpPr>
          <p:cNvPr id="85"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US" sz="1400" b="0" strike="noStrike" spc="-1">
                <a:latin typeface="Times New Roman"/>
              </a:rPr>
              <a:t>&lt;footer&gt;</a:t>
            </a:r>
          </a:p>
        </p:txBody>
      </p:sp>
      <p:sp>
        <p:nvSpPr>
          <p:cNvPr id="86"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4A3ABBCF-8C57-4EAE-8E77-00F50102FB75}"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PlaceHolder 1"/>
          <p:cNvSpPr>
            <a:spLocks noGrp="1" noRot="1" noChangeAspect="1"/>
          </p:cNvSpPr>
          <p:nvPr>
            <p:ph type="sldImg"/>
          </p:nvPr>
        </p:nvSpPr>
        <p:spPr>
          <a:xfrm>
            <a:off x="436563" y="1249363"/>
            <a:ext cx="5992812" cy="3371850"/>
          </a:xfrm>
          <a:prstGeom prst="rect">
            <a:avLst/>
          </a:prstGeom>
        </p:spPr>
      </p:sp>
      <p:sp>
        <p:nvSpPr>
          <p:cNvPr id="122" name="PlaceHolder 2"/>
          <p:cNvSpPr>
            <a:spLocks noGrp="1"/>
          </p:cNvSpPr>
          <p:nvPr>
            <p:ph type="body"/>
          </p:nvPr>
        </p:nvSpPr>
        <p:spPr>
          <a:xfrm>
            <a:off x="686520" y="4810680"/>
            <a:ext cx="5491800" cy="3935160"/>
          </a:xfrm>
          <a:prstGeom prst="rect">
            <a:avLst/>
          </a:prstGeom>
        </p:spPr>
        <p:txBody>
          <a:bodyPr lIns="96480" tIns="48240" rIns="96480" bIns="48240">
            <a:noAutofit/>
          </a:bodyPr>
          <a:lstStyle/>
          <a:p>
            <a:pPr marL="216000" indent="-215280">
              <a:lnSpc>
                <a:spcPct val="100000"/>
              </a:lnSpc>
            </a:pPr>
            <a:r>
              <a:rPr lang="en-US" sz="2000" b="0" strike="noStrike" spc="-1">
                <a:latin typeface="Arial"/>
              </a:rPr>
              <a:t>Hello and welcome </a:t>
            </a:r>
          </a:p>
          <a:p>
            <a:pPr marL="216000" indent="-215280">
              <a:lnSpc>
                <a:spcPct val="100000"/>
              </a:lnSpc>
            </a:pPr>
            <a:r>
              <a:rPr lang="en-US" sz="2000" b="0" strike="noStrike" spc="-1">
                <a:latin typeface="Arial"/>
              </a:rPr>
              <a:t>My name is xxx and I am xxx of CEITEC. </a:t>
            </a:r>
          </a:p>
          <a:p>
            <a:pPr marL="216000" indent="-215280">
              <a:lnSpc>
                <a:spcPct val="100000"/>
              </a:lnSpc>
            </a:pPr>
            <a:r>
              <a:rPr lang="en-US" sz="2000" b="0" strike="noStrike" spc="-1">
                <a:latin typeface="Arial"/>
              </a:rPr>
              <a:t>It is my great pleasure to welcome you today and to introduce CEITEC – Central European Institute of Technology. </a:t>
            </a:r>
          </a:p>
          <a:p>
            <a:pPr marL="216000" indent="-215280">
              <a:lnSpc>
                <a:spcPct val="100000"/>
              </a:lnSpc>
            </a:pPr>
            <a:r>
              <a:rPr lang="en-US" sz="2000" b="0" strike="noStrike" spc="-1">
                <a:latin typeface="Arial"/>
              </a:rPr>
              <a:t>The story of CEITEC is much like science itself – exciting and in some ways unpredictable. So let me share with you some key moments of CEITEC’s history, its key achievements of the present and the outlook for its future. </a:t>
            </a:r>
          </a:p>
        </p:txBody>
      </p:sp>
      <p:sp>
        <p:nvSpPr>
          <p:cNvPr id="123" name="CustomShape 3"/>
          <p:cNvSpPr/>
          <p:nvPr/>
        </p:nvSpPr>
        <p:spPr>
          <a:xfrm>
            <a:off x="3889080" y="9495000"/>
            <a:ext cx="2974320" cy="500400"/>
          </a:xfrm>
          <a:prstGeom prst="rect">
            <a:avLst/>
          </a:prstGeom>
          <a:noFill/>
          <a:ln>
            <a:noFill/>
          </a:ln>
        </p:spPr>
        <p:style>
          <a:lnRef idx="0">
            <a:scrgbClr r="0" g="0" b="0"/>
          </a:lnRef>
          <a:fillRef idx="0">
            <a:scrgbClr r="0" g="0" b="0"/>
          </a:fillRef>
          <a:effectRef idx="0">
            <a:scrgbClr r="0" g="0" b="0"/>
          </a:effectRef>
          <a:fontRef idx="minor"/>
        </p:style>
        <p:txBody>
          <a:bodyPr lIns="96480" tIns="48240" rIns="96480" bIns="48240" anchor="b">
            <a:noAutofit/>
          </a:bodyPr>
          <a:lstStyle/>
          <a:p>
            <a:pPr algn="r">
              <a:lnSpc>
                <a:spcPct val="100000"/>
              </a:lnSpc>
            </a:pPr>
            <a:fld id="{8B923BDB-D79A-40AB-88FB-6E64AF9E176C}" type="slidenum">
              <a:rPr lang="en-US" sz="1300" b="0" strike="noStrike" spc="-1">
                <a:solidFill>
                  <a:srgbClr val="000000"/>
                </a:solidFill>
                <a:latin typeface="Arial"/>
              </a:rPr>
              <a:t>1</a:t>
            </a:fld>
            <a:endParaRPr lang="en-US" sz="1300" b="0" strike="noStrike" spc="-1">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34B23C0-22E8-4F3C-9489-1582CADF85A3}" type="slidenum">
              <a:rPr lang="en-US" smtClean="0"/>
              <a:t>2</a:t>
            </a:fld>
            <a:endParaRPr lang="en-US"/>
          </a:p>
        </p:txBody>
      </p:sp>
    </p:spTree>
    <p:extLst>
      <p:ext uri="{BB962C8B-B14F-4D97-AF65-F5344CB8AC3E}">
        <p14:creationId xmlns:p14="http://schemas.microsoft.com/office/powerpoint/2010/main" val="1879718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34B23C0-22E8-4F3C-9489-1582CADF85A3}" type="slidenum">
              <a:rPr lang="en-US" smtClean="0"/>
              <a:t>3</a:t>
            </a:fld>
            <a:endParaRPr lang="en-US"/>
          </a:p>
        </p:txBody>
      </p:sp>
    </p:spTree>
    <p:extLst>
      <p:ext uri="{BB962C8B-B14F-4D97-AF65-F5344CB8AC3E}">
        <p14:creationId xmlns:p14="http://schemas.microsoft.com/office/powerpoint/2010/main" val="2219058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PlaceHolder 1"/>
          <p:cNvSpPr>
            <a:spLocks noGrp="1" noRot="1" noChangeAspect="1"/>
          </p:cNvSpPr>
          <p:nvPr>
            <p:ph type="sldImg"/>
          </p:nvPr>
        </p:nvSpPr>
        <p:spPr>
          <a:xfrm>
            <a:off x="436563" y="1249363"/>
            <a:ext cx="5994400" cy="3373437"/>
          </a:xfrm>
          <a:prstGeom prst="rect">
            <a:avLst/>
          </a:prstGeom>
        </p:spPr>
      </p:sp>
      <p:sp>
        <p:nvSpPr>
          <p:cNvPr id="388" name="PlaceHolder 2"/>
          <p:cNvSpPr>
            <a:spLocks noGrp="1"/>
          </p:cNvSpPr>
          <p:nvPr>
            <p:ph type="body"/>
          </p:nvPr>
        </p:nvSpPr>
        <p:spPr>
          <a:xfrm>
            <a:off x="686520" y="4810680"/>
            <a:ext cx="5492160" cy="3935520"/>
          </a:xfrm>
          <a:prstGeom prst="rect">
            <a:avLst/>
          </a:prstGeom>
        </p:spPr>
        <p:txBody>
          <a:bodyPr lIns="96480" tIns="48240" rIns="96480" bIns="48240">
            <a:noAutofit/>
          </a:bodyPr>
          <a:lstStyle/>
          <a:p>
            <a:pPr marL="216000" indent="-215640">
              <a:lnSpc>
                <a:spcPct val="100000"/>
              </a:lnSpc>
              <a:tabLst>
                <a:tab pos="0" algn="l"/>
              </a:tabLst>
            </a:pPr>
            <a:r>
              <a:rPr lang="en-US" sz="2000" b="0" strike="noStrike" spc="-1">
                <a:latin typeface="Arial"/>
              </a:rPr>
              <a:t>fix the table for typos and new changes</a:t>
            </a:r>
          </a:p>
        </p:txBody>
      </p:sp>
      <p:sp>
        <p:nvSpPr>
          <p:cNvPr id="389" name="CustomShape 3"/>
          <p:cNvSpPr/>
          <p:nvPr/>
        </p:nvSpPr>
        <p:spPr>
          <a:xfrm>
            <a:off x="3889080" y="9495000"/>
            <a:ext cx="2974680" cy="500760"/>
          </a:xfrm>
          <a:prstGeom prst="rect">
            <a:avLst/>
          </a:prstGeom>
          <a:noFill/>
          <a:ln w="0">
            <a:noFill/>
          </a:ln>
        </p:spPr>
        <p:style>
          <a:lnRef idx="0">
            <a:scrgbClr r="0" g="0" b="0"/>
          </a:lnRef>
          <a:fillRef idx="0">
            <a:scrgbClr r="0" g="0" b="0"/>
          </a:fillRef>
          <a:effectRef idx="0">
            <a:scrgbClr r="0" g="0" b="0"/>
          </a:effectRef>
          <a:fontRef idx="minor"/>
        </p:style>
        <p:txBody>
          <a:bodyPr lIns="96480" tIns="48240" rIns="96480" bIns="48240" anchor="b">
            <a:noAutofit/>
          </a:bodyPr>
          <a:lstStyle/>
          <a:p>
            <a:pPr algn="r">
              <a:lnSpc>
                <a:spcPct val="100000"/>
              </a:lnSpc>
            </a:pPr>
            <a:fld id="{374578D3-AEDD-41E5-A000-18D590F45271}" type="slidenum">
              <a:rPr lang="en-US" sz="1300" b="0" strike="noStrike" spc="-1">
                <a:latin typeface="Times New Roman"/>
              </a:rPr>
              <a:t>4</a:t>
            </a:fld>
            <a:endParaRPr lang="en-US" sz="1300" b="0" strike="noStrike" spc="-1">
              <a:latin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PlaceHolder 1"/>
          <p:cNvSpPr>
            <a:spLocks noGrp="1" noRot="1" noChangeAspect="1"/>
          </p:cNvSpPr>
          <p:nvPr>
            <p:ph type="sldImg"/>
          </p:nvPr>
        </p:nvSpPr>
        <p:spPr>
          <a:xfrm>
            <a:off x="436563" y="1249363"/>
            <a:ext cx="5994400" cy="3373437"/>
          </a:xfrm>
          <a:prstGeom prst="rect">
            <a:avLst/>
          </a:prstGeom>
        </p:spPr>
      </p:sp>
      <p:sp>
        <p:nvSpPr>
          <p:cNvPr id="391" name="PlaceHolder 2"/>
          <p:cNvSpPr>
            <a:spLocks noGrp="1"/>
          </p:cNvSpPr>
          <p:nvPr>
            <p:ph type="body"/>
          </p:nvPr>
        </p:nvSpPr>
        <p:spPr>
          <a:xfrm>
            <a:off x="686520" y="4810680"/>
            <a:ext cx="5492160" cy="3935520"/>
          </a:xfrm>
          <a:prstGeom prst="rect">
            <a:avLst/>
          </a:prstGeom>
        </p:spPr>
        <p:txBody>
          <a:bodyPr lIns="96480" tIns="48240" rIns="96480" bIns="48240">
            <a:noAutofit/>
          </a:bodyPr>
          <a:lstStyle/>
          <a:p>
            <a:pPr marL="216000" indent="-215640">
              <a:lnSpc>
                <a:spcPct val="100000"/>
              </a:lnSpc>
              <a:tabLst>
                <a:tab pos="0" algn="l"/>
              </a:tabLst>
            </a:pPr>
            <a:r>
              <a:rPr lang="en-US" sz="2000" b="0" strike="noStrike" spc="-1">
                <a:latin typeface="Arial"/>
              </a:rPr>
              <a:t>add sexy picture</a:t>
            </a:r>
          </a:p>
        </p:txBody>
      </p:sp>
      <p:sp>
        <p:nvSpPr>
          <p:cNvPr id="392" name="CustomShape 3"/>
          <p:cNvSpPr/>
          <p:nvPr/>
        </p:nvSpPr>
        <p:spPr>
          <a:xfrm>
            <a:off x="3889080" y="9495000"/>
            <a:ext cx="2974680" cy="500760"/>
          </a:xfrm>
          <a:prstGeom prst="rect">
            <a:avLst/>
          </a:prstGeom>
          <a:noFill/>
          <a:ln w="0">
            <a:noFill/>
          </a:ln>
        </p:spPr>
        <p:style>
          <a:lnRef idx="0">
            <a:scrgbClr r="0" g="0" b="0"/>
          </a:lnRef>
          <a:fillRef idx="0">
            <a:scrgbClr r="0" g="0" b="0"/>
          </a:fillRef>
          <a:effectRef idx="0">
            <a:scrgbClr r="0" g="0" b="0"/>
          </a:effectRef>
          <a:fontRef idx="minor"/>
        </p:style>
        <p:txBody>
          <a:bodyPr lIns="96480" tIns="48240" rIns="96480" bIns="48240" anchor="b">
            <a:noAutofit/>
          </a:bodyPr>
          <a:lstStyle/>
          <a:p>
            <a:pPr algn="r">
              <a:lnSpc>
                <a:spcPct val="100000"/>
              </a:lnSpc>
            </a:pPr>
            <a:fld id="{C5CB232C-A595-4EEB-90AF-ACE115AEAE27}" type="slidenum">
              <a:rPr lang="en-US" sz="1300" b="0" strike="noStrike" spc="-1">
                <a:latin typeface="Times New Roman"/>
              </a:rPr>
              <a:t>5</a:t>
            </a:fld>
            <a:endParaRPr lang="en-US" sz="1300" b="0" strike="noStrike" spc="-1">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 name="PlaceHolder 1"/>
          <p:cNvSpPr>
            <a:spLocks noGrp="1" noRot="1" noChangeAspect="1"/>
          </p:cNvSpPr>
          <p:nvPr>
            <p:ph type="sldImg"/>
          </p:nvPr>
        </p:nvSpPr>
        <p:spPr>
          <a:xfrm>
            <a:off x="436563" y="1249363"/>
            <a:ext cx="5994400" cy="3373437"/>
          </a:xfrm>
          <a:prstGeom prst="rect">
            <a:avLst/>
          </a:prstGeom>
        </p:spPr>
      </p:sp>
      <p:sp>
        <p:nvSpPr>
          <p:cNvPr id="394" name="PlaceHolder 2"/>
          <p:cNvSpPr>
            <a:spLocks noGrp="1"/>
          </p:cNvSpPr>
          <p:nvPr>
            <p:ph type="body"/>
          </p:nvPr>
        </p:nvSpPr>
        <p:spPr>
          <a:xfrm>
            <a:off x="686520" y="4810680"/>
            <a:ext cx="5492160" cy="3935520"/>
          </a:xfrm>
          <a:prstGeom prst="rect">
            <a:avLst/>
          </a:prstGeom>
        </p:spPr>
        <p:txBody>
          <a:bodyPr lIns="96480" tIns="48240" rIns="96480" bIns="48240">
            <a:noAutofit/>
          </a:bodyPr>
          <a:lstStyle/>
          <a:p>
            <a:pPr marL="216000" indent="-215640">
              <a:lnSpc>
                <a:spcPct val="100000"/>
              </a:lnSpc>
              <a:tabLst>
                <a:tab pos="0" algn="l"/>
              </a:tabLst>
            </a:pPr>
            <a:r>
              <a:rPr lang="en-US" sz="2000" b="0" strike="noStrike" spc="-1">
                <a:latin typeface="Arial"/>
              </a:rPr>
              <a:t>maybe, polish a bit</a:t>
            </a:r>
          </a:p>
        </p:txBody>
      </p:sp>
      <p:sp>
        <p:nvSpPr>
          <p:cNvPr id="395" name="CustomShape 3"/>
          <p:cNvSpPr/>
          <p:nvPr/>
        </p:nvSpPr>
        <p:spPr>
          <a:xfrm>
            <a:off x="3889080" y="9495000"/>
            <a:ext cx="2974680" cy="500760"/>
          </a:xfrm>
          <a:prstGeom prst="rect">
            <a:avLst/>
          </a:prstGeom>
          <a:noFill/>
          <a:ln w="0">
            <a:noFill/>
          </a:ln>
        </p:spPr>
        <p:style>
          <a:lnRef idx="0">
            <a:scrgbClr r="0" g="0" b="0"/>
          </a:lnRef>
          <a:fillRef idx="0">
            <a:scrgbClr r="0" g="0" b="0"/>
          </a:fillRef>
          <a:effectRef idx="0">
            <a:scrgbClr r="0" g="0" b="0"/>
          </a:effectRef>
          <a:fontRef idx="minor"/>
        </p:style>
        <p:txBody>
          <a:bodyPr lIns="96480" tIns="48240" rIns="96480" bIns="48240" anchor="b">
            <a:noAutofit/>
          </a:bodyPr>
          <a:lstStyle/>
          <a:p>
            <a:pPr algn="r">
              <a:lnSpc>
                <a:spcPct val="100000"/>
              </a:lnSpc>
            </a:pPr>
            <a:fld id="{62473977-02B5-4051-B8A7-26368C974E60}" type="slidenum">
              <a:rPr lang="en-US" sz="1300" b="0" strike="noStrike" spc="-1">
                <a:latin typeface="Times New Roman"/>
              </a:rPr>
              <a:t>6</a:t>
            </a:fld>
            <a:endParaRPr lang="en-US" sz="1300" b="0" strike="noStrike" spc="-1">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
        <p:nvSpPr>
          <p:cNvPr id="7"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
        <p:nvSpPr>
          <p:cNvPr id="9"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
        <p:nvSpPr>
          <p:cNvPr id="1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2"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609480" y="273240"/>
            <a:ext cx="10971720" cy="53096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
        <p:nvSpPr>
          <p:cNvPr id="1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7"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18"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
        <p:nvSpPr>
          <p:cNvPr id="2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2"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
        <p:nvSpPr>
          <p:cNvPr id="2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6"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
        <p:nvSpPr>
          <p:cNvPr id="28"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29"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
        <p:nvSpPr>
          <p:cNvPr id="3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3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33"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34"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
        <p:nvSpPr>
          <p:cNvPr id="36"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37"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38"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39"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40"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41"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
        <p:nvSpPr>
          <p:cNvPr id="46"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
        <p:nvSpPr>
          <p:cNvPr id="48"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
        <p:nvSpPr>
          <p:cNvPr id="5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5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609480" y="273240"/>
            <a:ext cx="10971720" cy="53096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
        <p:nvSpPr>
          <p:cNvPr id="5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5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5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
        <p:nvSpPr>
          <p:cNvPr id="5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6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1"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
        <p:nvSpPr>
          <p:cNvPr id="6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6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5"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
        <p:nvSpPr>
          <p:cNvPr id="67"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68"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
        <p:nvSpPr>
          <p:cNvPr id="7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7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7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73"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609480" y="273240"/>
            <a:ext cx="10971720" cy="1145160"/>
          </a:xfrm>
          <a:prstGeom prst="rect">
            <a:avLst/>
          </a:prstGeom>
        </p:spPr>
        <p:txBody>
          <a:bodyPr lIns="0" tIns="0" rIns="0" bIns="0" anchor="ctr">
            <a:spAutoFit/>
          </a:bodyPr>
          <a:lstStyle/>
          <a:p>
            <a:pPr algn="ctr"/>
            <a:endParaRPr lang="en-US" sz="4400" b="0" strike="noStrike" spc="-1">
              <a:latin typeface="Arial"/>
            </a:endParaRPr>
          </a:p>
        </p:txBody>
      </p:sp>
      <p:sp>
        <p:nvSpPr>
          <p:cNvPr id="75"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76"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77"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78"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79"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80"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5.t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wmf"/><Relationship Id="rId2" Type="http://schemas.openxmlformats.org/officeDocument/2006/relationships/slideLayout" Target="../slideLayouts/slideLayout2.xml"/><Relationship Id="rId16"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wmf"/><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6.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pic>
        <p:nvPicPr>
          <p:cNvPr id="6" name="Obrázek 6"/>
          <p:cNvPicPr/>
          <p:nvPr/>
        </p:nvPicPr>
        <p:blipFill>
          <a:blip r:embed="rId15"/>
          <a:stretch/>
        </p:blipFill>
        <p:spPr>
          <a:xfrm>
            <a:off x="277560" y="6423480"/>
            <a:ext cx="1660680" cy="210960"/>
          </a:xfrm>
          <a:prstGeom prst="rect">
            <a:avLst/>
          </a:prstGeom>
          <a:ln>
            <a:noFill/>
          </a:ln>
        </p:spPr>
      </p:pic>
      <p:pic>
        <p:nvPicPr>
          <p:cNvPr id="7" name="Obrázek 7"/>
          <p:cNvPicPr/>
          <p:nvPr/>
        </p:nvPicPr>
        <p:blipFill>
          <a:blip r:embed="rId16"/>
          <a:stretch/>
        </p:blipFill>
        <p:spPr>
          <a:xfrm>
            <a:off x="1440" y="0"/>
            <a:ext cx="12187800" cy="6856920"/>
          </a:xfrm>
          <a:prstGeom prst="rect">
            <a:avLst/>
          </a:prstGeom>
          <a:ln>
            <a:noFill/>
          </a:ln>
        </p:spPr>
      </p:pic>
      <p:pic>
        <p:nvPicPr>
          <p:cNvPr id="2" name="Obrázek 4"/>
          <p:cNvPicPr/>
          <p:nvPr/>
        </p:nvPicPr>
        <p:blipFill>
          <a:blip r:embed="rId17"/>
          <a:stretch/>
        </p:blipFill>
        <p:spPr>
          <a:xfrm>
            <a:off x="545400" y="508680"/>
            <a:ext cx="3809160" cy="1092960"/>
          </a:xfrm>
          <a:prstGeom prst="rect">
            <a:avLst/>
          </a:prstGeom>
          <a:ln>
            <a:noFill/>
          </a:ln>
        </p:spPr>
      </p:pic>
      <p:pic>
        <p:nvPicPr>
          <p:cNvPr id="3" name="Obrázek 6"/>
          <p:cNvPicPr/>
          <p:nvPr/>
        </p:nvPicPr>
        <p:blipFill>
          <a:blip r:embed="rId18"/>
          <a:stretch/>
        </p:blipFill>
        <p:spPr>
          <a:xfrm>
            <a:off x="9377280" y="696600"/>
            <a:ext cx="2279160" cy="648720"/>
          </a:xfrm>
          <a:prstGeom prst="rect">
            <a:avLst/>
          </a:prstGeom>
          <a:ln>
            <a:noFill/>
          </a:ln>
        </p:spPr>
      </p:pic>
      <p:sp>
        <p:nvSpPr>
          <p:cNvPr id="4" name="PlaceHolder 1"/>
          <p:cNvSpPr>
            <a:spLocks noGrp="1"/>
          </p:cNvSpPr>
          <p:nvPr>
            <p:ph type="title"/>
          </p:nvPr>
        </p:nvSpPr>
        <p:spPr>
          <a:xfrm>
            <a:off x="609480" y="273240"/>
            <a:ext cx="10971720" cy="1145160"/>
          </a:xfrm>
          <a:prstGeom prst="rect">
            <a:avLst/>
          </a:prstGeom>
        </p:spPr>
        <p:txBody>
          <a:bodyPr lIns="0" tIns="0" rIns="0" bIns="0" anchor="ctr">
            <a:spAutoFit/>
          </a:bodyPr>
          <a:lstStyle/>
          <a:p>
            <a:r>
              <a:rPr lang="en-US" sz="1800" b="0" strike="noStrike" spc="-1">
                <a:latin typeface="Arial"/>
              </a:rPr>
              <a:t>Click to edit the title text format</a:t>
            </a:r>
          </a:p>
        </p:txBody>
      </p:sp>
      <p:sp>
        <p:nvSpPr>
          <p:cNvPr id="5" name="PlaceHolder 2"/>
          <p:cNvSpPr>
            <a:spLocks noGrp="1"/>
          </p:cNvSpPr>
          <p:nvPr>
            <p:ph type="body"/>
          </p:nvPr>
        </p:nvSpPr>
        <p:spPr>
          <a:xfrm>
            <a:off x="609480" y="1604520"/>
            <a:ext cx="10972080" cy="397692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18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latin typeface="Arial"/>
              </a:rPr>
              <a:t>Second Outline Level</a:t>
            </a:r>
          </a:p>
          <a:p>
            <a:pPr marL="1296000" lvl="2" indent="-288000">
              <a:spcBef>
                <a:spcPts val="850"/>
              </a:spcBef>
              <a:buClr>
                <a:srgbClr val="000000"/>
              </a:buClr>
              <a:buSzPct val="45000"/>
              <a:buFont typeface="Wingdings" charset="2"/>
              <a:buChar char=""/>
            </a:pPr>
            <a:r>
              <a:rPr lang="en-US" sz="1800" b="0" strike="noStrike" spc="-1">
                <a:latin typeface="Arial"/>
              </a:rPr>
              <a:t>Third Outline Level</a:t>
            </a:r>
          </a:p>
          <a:p>
            <a:pPr marL="1728000" lvl="3" indent="-216000">
              <a:spcBef>
                <a:spcPts val="567"/>
              </a:spcBef>
              <a:buClr>
                <a:srgbClr val="000000"/>
              </a:buClr>
              <a:buSzPct val="75000"/>
              <a:buFont typeface="Symbol" charset="2"/>
              <a:buChar char=""/>
            </a:pPr>
            <a:r>
              <a:rPr lang="en-US" sz="1800" b="0" strike="noStrike" spc="-1">
                <a:latin typeface="Arial"/>
              </a:rPr>
              <a:t>Fourth Outline Level</a:t>
            </a:r>
          </a:p>
          <a:p>
            <a:pPr marL="2160000" lvl="4" indent="-216000">
              <a:spcBef>
                <a:spcPts val="283"/>
              </a:spcBef>
              <a:buClr>
                <a:srgbClr val="000000"/>
              </a:buClr>
              <a:buSzPct val="45000"/>
              <a:buFont typeface="Wingdings" charset="2"/>
              <a:buChar char=""/>
            </a:pPr>
            <a:r>
              <a:rPr lang="en-US" sz="1800" b="0" strike="noStrike" spc="-1">
                <a:latin typeface="Arial"/>
              </a:rPr>
              <a:t>Fifth Outline Level</a:t>
            </a:r>
          </a:p>
          <a:p>
            <a:pPr marL="2592000" lvl="5" indent="-216000">
              <a:spcBef>
                <a:spcPts val="283"/>
              </a:spcBef>
              <a:buClr>
                <a:srgbClr val="000000"/>
              </a:buClr>
              <a:buSzPct val="45000"/>
              <a:buFont typeface="Wingdings" charset="2"/>
              <a:buChar char=""/>
            </a:pPr>
            <a:r>
              <a:rPr lang="en-US" sz="1800" b="0" strike="noStrike" spc="-1">
                <a:latin typeface="Arial"/>
              </a:rPr>
              <a:t>Sixth Outline Level</a:t>
            </a:r>
          </a:p>
          <a:p>
            <a:pPr marL="3024000" lvl="6" indent="-216000">
              <a:spcBef>
                <a:spcPts val="283"/>
              </a:spcBef>
              <a:buClr>
                <a:srgbClr val="000000"/>
              </a:buClr>
              <a:buSzPct val="45000"/>
              <a:buFont typeface="Wingdings" charset="2"/>
              <a:buChar char=""/>
            </a:pPr>
            <a:r>
              <a:rPr lang="en-US" sz="18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pic>
        <p:nvPicPr>
          <p:cNvPr id="42" name="Obrázek 6"/>
          <p:cNvPicPr/>
          <p:nvPr/>
        </p:nvPicPr>
        <p:blipFill>
          <a:blip r:embed="rId15"/>
          <a:stretch/>
        </p:blipFill>
        <p:spPr>
          <a:xfrm>
            <a:off x="277560" y="6423480"/>
            <a:ext cx="1660680" cy="210960"/>
          </a:xfrm>
          <a:prstGeom prst="rect">
            <a:avLst/>
          </a:prstGeom>
          <a:ln>
            <a:noFill/>
          </a:ln>
        </p:spPr>
      </p:pic>
      <p:sp>
        <p:nvSpPr>
          <p:cNvPr id="43" name="PlaceHolder 1"/>
          <p:cNvSpPr>
            <a:spLocks noGrp="1"/>
          </p:cNvSpPr>
          <p:nvPr>
            <p:ph type="title"/>
          </p:nvPr>
        </p:nvSpPr>
        <p:spPr>
          <a:xfrm>
            <a:off x="609480" y="273240"/>
            <a:ext cx="10971720" cy="1145160"/>
          </a:xfrm>
          <a:prstGeom prst="rect">
            <a:avLst/>
          </a:prstGeom>
        </p:spPr>
        <p:txBody>
          <a:bodyPr lIns="0" tIns="0" rIns="0" bIns="0" anchor="ctr">
            <a:spAutoFit/>
          </a:bodyPr>
          <a:lstStyle/>
          <a:p>
            <a:r>
              <a:rPr lang="en-US" sz="1800" b="0" strike="noStrike" spc="-1">
                <a:latin typeface="Arial"/>
              </a:rPr>
              <a:t>Click to edit the title text format</a:t>
            </a:r>
          </a:p>
        </p:txBody>
      </p:sp>
      <p:sp>
        <p:nvSpPr>
          <p:cNvPr id="44"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lab.com/denysbiriukov/survival_guide_simulations_c9555" TargetMode="External"/><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hyperlink" Target="https://gitlab.com/denysbiriukov/survival_guide_simulations_c9555.git" TargetMode="External"/><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emf"/><Relationship Id="rId1" Type="http://schemas.openxmlformats.org/officeDocument/2006/relationships/slideLayout" Target="../slideLayouts/slideLayout1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CustomShape 1"/>
          <p:cNvSpPr/>
          <p:nvPr/>
        </p:nvSpPr>
        <p:spPr>
          <a:xfrm>
            <a:off x="895320" y="3794400"/>
            <a:ext cx="7641360" cy="26236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6000" b="0" strike="noStrike" spc="-1" dirty="0">
                <a:solidFill>
                  <a:srgbClr val="21A9C0"/>
                </a:solidFill>
                <a:latin typeface="Arial"/>
                <a:ea typeface="DejaVu Sans"/>
              </a:rPr>
              <a:t>CEITEC </a:t>
            </a:r>
            <a:br>
              <a:rPr dirty="0"/>
            </a:br>
            <a:r>
              <a:rPr lang="en-US" sz="6000" b="0" strike="noStrike" spc="-1" dirty="0">
                <a:solidFill>
                  <a:srgbClr val="21A9C0"/>
                </a:solidFill>
                <a:latin typeface="Arial"/>
                <a:ea typeface="DejaVu Sans"/>
              </a:rPr>
              <a:t>at Masaryk University</a:t>
            </a:r>
            <a:endParaRPr lang="en-US" sz="6000" b="0" strike="noStrike" spc="-1" dirty="0">
              <a:latin typeface="Arial"/>
            </a:endParaRPr>
          </a:p>
        </p:txBody>
      </p:sp>
      <p:sp>
        <p:nvSpPr>
          <p:cNvPr id="88" name="CustomShape 2"/>
          <p:cNvSpPr/>
          <p:nvPr/>
        </p:nvSpPr>
        <p:spPr>
          <a:xfrm>
            <a:off x="895320" y="2960016"/>
            <a:ext cx="4881600" cy="833304"/>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100000"/>
              </a:lnSpc>
            </a:pPr>
            <a:r>
              <a:rPr lang="en-US" sz="3600" b="1" strike="noStrike" spc="-1" dirty="0">
                <a:solidFill>
                  <a:srgbClr val="000000"/>
                </a:solidFill>
                <a:latin typeface="Calibri"/>
              </a:rPr>
              <a:t>Making Drugs </a:t>
            </a:r>
            <a:r>
              <a:rPr lang="en-US" sz="3600" b="1" i="1" strike="noStrike" spc="-1" dirty="0">
                <a:solidFill>
                  <a:srgbClr val="000000"/>
                </a:solidFill>
                <a:latin typeface="Calibri"/>
              </a:rPr>
              <a:t>in silico</a:t>
            </a:r>
            <a:r>
              <a:rPr lang="cs-CZ" sz="3600" b="1" strike="noStrike" spc="-1" dirty="0">
                <a:solidFill>
                  <a:srgbClr val="000000"/>
                </a:solidFill>
                <a:latin typeface="Calibri"/>
              </a:rPr>
              <a:t>,</a:t>
            </a:r>
            <a:br>
              <a:rPr lang="en-US" sz="3600" dirty="0"/>
            </a:br>
            <a:r>
              <a:rPr lang="en-US" sz="3600" b="1" strike="noStrike" spc="-1" dirty="0">
                <a:solidFill>
                  <a:srgbClr val="000000"/>
                </a:solidFill>
                <a:latin typeface="Calibri"/>
              </a:rPr>
              <a:t>Part </a:t>
            </a:r>
            <a:r>
              <a:rPr lang="cs-CZ" sz="3600" b="1" strike="noStrike" spc="-1" dirty="0">
                <a:solidFill>
                  <a:srgbClr val="000000"/>
                </a:solidFill>
                <a:latin typeface="Calibri"/>
              </a:rPr>
              <a:t>2</a:t>
            </a:r>
            <a:endParaRPr lang="en-US" sz="3600" b="0" strike="noStrike" spc="-1" dirty="0">
              <a:solidFill>
                <a:srgbClr val="000000"/>
              </a:solidFill>
              <a:latin typeface="Calibri"/>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C9418-C1B4-E24D-34E0-F8AF24A0DCCD}"/>
              </a:ext>
            </a:extLst>
          </p:cNvPr>
          <p:cNvSpPr>
            <a:spLocks noGrp="1"/>
          </p:cNvSpPr>
          <p:nvPr>
            <p:ph type="title"/>
          </p:nvPr>
        </p:nvSpPr>
        <p:spPr/>
        <p:txBody>
          <a:bodyPr/>
          <a:lstStyle/>
          <a:p>
            <a:r>
              <a:rPr lang="en-US" dirty="0"/>
              <a:t>Get ready for practical session</a:t>
            </a:r>
          </a:p>
        </p:txBody>
      </p:sp>
      <p:sp>
        <p:nvSpPr>
          <p:cNvPr id="3" name="Footer Placeholder 2">
            <a:extLst>
              <a:ext uri="{FF2B5EF4-FFF2-40B4-BE49-F238E27FC236}">
                <a16:creationId xmlns:a16="http://schemas.microsoft.com/office/drawing/2014/main" id="{AF024433-C2E1-F022-EBBC-ACC72239D546}"/>
              </a:ext>
            </a:extLst>
          </p:cNvPr>
          <p:cNvSpPr>
            <a:spLocks noGrp="1"/>
          </p:cNvSpPr>
          <p:nvPr>
            <p:ph type="ftr" sz="quarter" idx="11"/>
          </p:nvPr>
        </p:nvSpPr>
        <p:spPr>
          <a:xfrm>
            <a:off x="3333919" y="6408258"/>
            <a:ext cx="7887356" cy="216000"/>
          </a:xfrm>
          <a:prstGeom prst="rect">
            <a:avLst/>
          </a:prstGeom>
        </p:spPr>
        <p:txBody>
          <a:bodyPr vert="horz" lIns="0" tIns="0" rIns="0" bIns="0" rtlCol="0" anchor="b" anchorCtr="0"/>
          <a:lstStyle>
            <a:defPPr>
              <a:defRPr lang="en-US"/>
            </a:defPPr>
            <a:lvl1pPr marL="0" algn="r" defTabSz="914400" rtl="0" eaLnBrk="1" latinLnBrk="0" hangingPunct="1">
              <a:defRPr sz="1200" kern="1200">
                <a:solidFill>
                  <a:srgbClr val="7AC14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CEITEC at Masaryk University</a:t>
            </a:r>
          </a:p>
        </p:txBody>
      </p:sp>
      <p:sp>
        <p:nvSpPr>
          <p:cNvPr id="4" name="Slide Number Placeholder 3">
            <a:extLst>
              <a:ext uri="{FF2B5EF4-FFF2-40B4-BE49-F238E27FC236}">
                <a16:creationId xmlns:a16="http://schemas.microsoft.com/office/drawing/2014/main" id="{C419E7B5-BF75-722C-CA1F-C82EDA076352}"/>
              </a:ext>
            </a:extLst>
          </p:cNvPr>
          <p:cNvSpPr>
            <a:spLocks noGrp="1"/>
          </p:cNvSpPr>
          <p:nvPr>
            <p:ph type="sldNum" sz="quarter" idx="12"/>
          </p:nvPr>
        </p:nvSpPr>
        <p:spPr>
          <a:xfrm>
            <a:off x="11221275" y="6408258"/>
            <a:ext cx="504000" cy="216000"/>
          </a:xfrm>
          <a:prstGeom prst="rect">
            <a:avLst/>
          </a:prstGeom>
        </p:spPr>
        <p:txBody>
          <a:bodyPr vert="horz" lIns="0" tIns="0" rIns="0" bIns="0" rtlCol="0" anchor="b" anchorCtr="0"/>
          <a:lstStyle>
            <a:defPPr>
              <a:defRPr lang="en-US"/>
            </a:defPPr>
            <a:lvl1pPr marL="0" algn="r" defTabSz="914400" rtl="0" eaLnBrk="1" latinLnBrk="0" hangingPunct="1">
              <a:defRPr sz="1200" b="1" kern="1200">
                <a:solidFill>
                  <a:srgbClr val="7AC14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FE3D702-57F1-4CB0-B451-B14F76DC0414}" type="slidenum">
              <a:rPr lang="en-US" smtClean="0"/>
              <a:pPr/>
              <a:t>2</a:t>
            </a:fld>
            <a:endParaRPr lang="en-US" dirty="0"/>
          </a:p>
        </p:txBody>
      </p:sp>
      <p:sp>
        <p:nvSpPr>
          <p:cNvPr id="6" name="Zástupný symbol pro obsah 2">
            <a:extLst>
              <a:ext uri="{FF2B5EF4-FFF2-40B4-BE49-F238E27FC236}">
                <a16:creationId xmlns:a16="http://schemas.microsoft.com/office/drawing/2014/main" id="{09E66E22-1163-D9A9-16BE-DB1475957E36}"/>
              </a:ext>
            </a:extLst>
          </p:cNvPr>
          <p:cNvSpPr txBox="1">
            <a:spLocks/>
          </p:cNvSpPr>
          <p:nvPr/>
        </p:nvSpPr>
        <p:spPr>
          <a:xfrm>
            <a:off x="466724" y="1274158"/>
            <a:ext cx="10754551" cy="5350100"/>
          </a:xfrm>
          <a:prstGeom prst="rect">
            <a:avLst/>
          </a:prstGeom>
        </p:spPr>
        <p:txBody>
          <a:bodyPr>
            <a:normAutofit/>
          </a:bodyPr>
          <a:lstStyle>
            <a:lvl1pPr marL="228600" indent="-228600" algn="l" defTabSz="914400" rtl="0" eaLnBrk="1" latinLnBrk="0" hangingPunct="1">
              <a:lnSpc>
                <a:spcPct val="90000"/>
              </a:lnSpc>
              <a:spcBef>
                <a:spcPts val="1000"/>
              </a:spcBef>
              <a:buClr>
                <a:srgbClr val="21A9C0"/>
              </a:buClr>
              <a:buFont typeface="Arial" panose="020B0604020202020204" pitchFamily="34" charset="0"/>
              <a:buChar char="•"/>
              <a:defRPr sz="2400" kern="1200">
                <a:solidFill>
                  <a:srgbClr val="39464A"/>
                </a:solidFill>
                <a:latin typeface="+mn-lt"/>
                <a:ea typeface="+mn-ea"/>
                <a:cs typeface="+mn-cs"/>
              </a:defRPr>
            </a:lvl1pPr>
            <a:lvl2pPr marL="685800" indent="-228600" algn="l" defTabSz="914400" rtl="0" eaLnBrk="1" latinLnBrk="0" hangingPunct="1">
              <a:lnSpc>
                <a:spcPct val="90000"/>
              </a:lnSpc>
              <a:spcBef>
                <a:spcPts val="500"/>
              </a:spcBef>
              <a:buClr>
                <a:srgbClr val="21A9C0"/>
              </a:buClr>
              <a:buFont typeface="Arial" panose="020B0604020202020204" pitchFamily="34" charset="0"/>
              <a:buChar char="•"/>
              <a:defRPr sz="2000" kern="1200">
                <a:solidFill>
                  <a:srgbClr val="39464A"/>
                </a:solidFill>
                <a:latin typeface="+mn-lt"/>
                <a:ea typeface="+mn-ea"/>
                <a:cs typeface="+mn-cs"/>
              </a:defRPr>
            </a:lvl2pPr>
            <a:lvl3pPr marL="1143000" indent="-228600" algn="l" defTabSz="914400" rtl="0" eaLnBrk="1" latinLnBrk="0" hangingPunct="1">
              <a:lnSpc>
                <a:spcPct val="90000"/>
              </a:lnSpc>
              <a:spcBef>
                <a:spcPts val="500"/>
              </a:spcBef>
              <a:buClr>
                <a:srgbClr val="21A9C0"/>
              </a:buClr>
              <a:buFont typeface="Arial" panose="020B0604020202020204" pitchFamily="34" charset="0"/>
              <a:buChar char="•"/>
              <a:defRPr sz="1800" kern="1200">
                <a:solidFill>
                  <a:srgbClr val="39464A"/>
                </a:solidFill>
                <a:latin typeface="+mn-lt"/>
                <a:ea typeface="+mn-ea"/>
                <a:cs typeface="+mn-cs"/>
              </a:defRPr>
            </a:lvl3pPr>
            <a:lvl4pPr marL="1600200" indent="-228600" algn="l" defTabSz="914400" rtl="0" eaLnBrk="1" latinLnBrk="0" hangingPunct="1">
              <a:lnSpc>
                <a:spcPct val="90000"/>
              </a:lnSpc>
              <a:spcBef>
                <a:spcPts val="500"/>
              </a:spcBef>
              <a:buClr>
                <a:srgbClr val="21A9C0"/>
              </a:buClr>
              <a:buFont typeface="Arial" panose="020B0604020202020204" pitchFamily="34" charset="0"/>
              <a:buChar char="•"/>
              <a:defRPr sz="1600" kern="1200">
                <a:solidFill>
                  <a:srgbClr val="39464A"/>
                </a:solidFill>
                <a:latin typeface="+mn-lt"/>
                <a:ea typeface="+mn-ea"/>
                <a:cs typeface="+mn-cs"/>
              </a:defRPr>
            </a:lvl4pPr>
            <a:lvl5pPr marL="2057400" indent="-228600" algn="l" defTabSz="914400" rtl="0" eaLnBrk="1" latinLnBrk="0" hangingPunct="1">
              <a:lnSpc>
                <a:spcPct val="90000"/>
              </a:lnSpc>
              <a:spcBef>
                <a:spcPts val="500"/>
              </a:spcBef>
              <a:buClr>
                <a:srgbClr val="21A9C0"/>
              </a:buClr>
              <a:buFont typeface="Arial" panose="020B0604020202020204" pitchFamily="34" charset="0"/>
              <a:buChar char="•"/>
              <a:defRPr sz="1600" kern="1200">
                <a:solidFill>
                  <a:srgbClr val="39464A"/>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cs typeface="Courier New" panose="02070309020205020404" pitchFamily="49" charset="0"/>
              </a:rPr>
              <a:t>A bit of things to be done:</a:t>
            </a:r>
          </a:p>
          <a:p>
            <a:pPr lvl="1"/>
            <a:r>
              <a:rPr lang="en-US" sz="2400" dirty="0">
                <a:latin typeface="Courier New" panose="02070309020205020404" pitchFamily="49" charset="0"/>
                <a:cs typeface="Courier New" panose="02070309020205020404" pitchFamily="49" charset="0"/>
              </a:rPr>
              <a:t>mv ~/survival_guide_simulations_c9555/week0</a:t>
            </a:r>
            <a:r>
              <a:rPr lang="cs-CZ" sz="2400" dirty="0">
                <a:latin typeface="Courier New" panose="02070309020205020404" pitchFamily="49" charset="0"/>
                <a:cs typeface="Courier New" panose="02070309020205020404" pitchFamily="49" charset="0"/>
              </a:rPr>
              <a:t>5</a:t>
            </a:r>
            <a:r>
              <a:rPr lang="en-US" sz="2400" dirty="0">
                <a:latin typeface="Courier New" panose="02070309020205020404" pitchFamily="49" charset="0"/>
                <a:cs typeface="Courier New" panose="02070309020205020404" pitchFamily="49" charset="0"/>
              </a:rPr>
              <a:t>/ ~/C9555/</a:t>
            </a:r>
          </a:p>
          <a:p>
            <a:pPr lvl="1"/>
            <a:r>
              <a:rPr lang="en-US" sz="2400" dirty="0">
                <a:latin typeface="Courier New" panose="02070309020205020404" pitchFamily="49" charset="0"/>
                <a:cs typeface="Courier New" panose="02070309020205020404" pitchFamily="49" charset="0"/>
              </a:rPr>
              <a:t>rm –rf </a:t>
            </a:r>
            <a:r>
              <a:rPr lang="en-US" sz="2400" dirty="0">
                <a:solidFill>
                  <a:srgbClr val="FF0000"/>
                </a:solidFill>
                <a:latin typeface="Courier New" panose="02070309020205020404" pitchFamily="49" charset="0"/>
                <a:cs typeface="Courier New" panose="02070309020205020404" pitchFamily="49" charset="0"/>
              </a:rPr>
              <a:t>{SURVIVAL_GUIDE_DIRECTORY}</a:t>
            </a:r>
          </a:p>
          <a:p>
            <a:pPr lvl="2"/>
            <a:r>
              <a:rPr lang="en-US" sz="2200" b="1" dirty="0">
                <a:cs typeface="Courier New" panose="02070309020205020404" pitchFamily="49" charset="0"/>
              </a:rPr>
              <a:t>BE SURE THAT PREVIOUS COMMAND (MV) WAS SUCCESSFUL BEFORE DELETING</a:t>
            </a:r>
          </a:p>
          <a:p>
            <a:pPr lvl="2"/>
            <a:endParaRPr lang="en-US" sz="2200" b="1" dirty="0">
              <a:cs typeface="Courier New" panose="02070309020205020404" pitchFamily="49" charset="0"/>
            </a:endParaRPr>
          </a:p>
          <a:p>
            <a:pPr lvl="2"/>
            <a:endParaRPr lang="en-US" sz="2200" b="1" dirty="0">
              <a:cs typeface="Courier New" panose="02070309020205020404" pitchFamily="49" charset="0"/>
            </a:endParaRPr>
          </a:p>
          <a:p>
            <a:pPr lvl="2"/>
            <a:endParaRPr lang="en-US" sz="2200" b="1" dirty="0">
              <a:cs typeface="Courier New" panose="02070309020205020404" pitchFamily="49" charset="0"/>
            </a:endParaRPr>
          </a:p>
          <a:p>
            <a:pPr lvl="2"/>
            <a:endParaRPr lang="en-US" sz="2200" b="1" dirty="0">
              <a:cs typeface="Courier New" panose="02070309020205020404" pitchFamily="49" charset="0"/>
            </a:endParaRPr>
          </a:p>
          <a:p>
            <a:pPr lvl="2"/>
            <a:endParaRPr lang="en-US" sz="2200" b="1" dirty="0">
              <a:cs typeface="Courier New" panose="02070309020205020404" pitchFamily="49" charset="0"/>
            </a:endParaRPr>
          </a:p>
          <a:p>
            <a:pPr lvl="2"/>
            <a:endParaRPr lang="en-US" sz="2200" b="1" dirty="0">
              <a:cs typeface="Courier New" panose="02070309020205020404" pitchFamily="49" charset="0"/>
            </a:endParaRPr>
          </a:p>
          <a:p>
            <a:pPr lvl="2"/>
            <a:endParaRPr lang="en-US" sz="2200" b="1" dirty="0">
              <a:cs typeface="Courier New" panose="02070309020205020404" pitchFamily="49" charset="0"/>
            </a:endParaRPr>
          </a:p>
          <a:p>
            <a:r>
              <a:rPr lang="en-US" dirty="0">
                <a:cs typeface="Courier New" panose="02070309020205020404" pitchFamily="49" charset="0"/>
                <a:hlinkClick r:id="rId3"/>
              </a:rPr>
              <a:t>https://gitlab.com/denysbiriukov/survival_guide_simulations_c9555</a:t>
            </a:r>
            <a:endParaRPr lang="en-US" dirty="0">
              <a:cs typeface="Courier New" panose="02070309020205020404" pitchFamily="49" charset="0"/>
            </a:endParaRPr>
          </a:p>
          <a:p>
            <a:pPr marL="457200" lvl="1" indent="0">
              <a:buNone/>
            </a:pPr>
            <a:endParaRPr lang="en-US" b="1" dirty="0">
              <a:latin typeface="Courier New" panose="02070309020205020404" pitchFamily="49" charset="0"/>
              <a:cs typeface="Courier New" panose="02070309020205020404" pitchFamily="49" charset="0"/>
            </a:endParaRPr>
          </a:p>
          <a:p>
            <a:pPr lvl="1"/>
            <a:endParaRPr lang="en-US" b="1" dirty="0">
              <a:latin typeface="Courier New" panose="02070309020205020404" pitchFamily="49" charset="0"/>
              <a:cs typeface="Courier New" panose="02070309020205020404" pitchFamily="49" charset="0"/>
            </a:endParaRPr>
          </a:p>
          <a:p>
            <a:pPr marL="0" indent="0">
              <a:buNone/>
            </a:pPr>
            <a:endParaRPr lang="en-US" dirty="0"/>
          </a:p>
        </p:txBody>
      </p:sp>
    </p:spTree>
    <p:extLst>
      <p:ext uri="{BB962C8B-B14F-4D97-AF65-F5344CB8AC3E}">
        <p14:creationId xmlns:p14="http://schemas.microsoft.com/office/powerpoint/2010/main" val="4222042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C9418-C1B4-E24D-34E0-F8AF24A0DCCD}"/>
              </a:ext>
            </a:extLst>
          </p:cNvPr>
          <p:cNvSpPr>
            <a:spLocks noGrp="1"/>
          </p:cNvSpPr>
          <p:nvPr>
            <p:ph type="title"/>
          </p:nvPr>
        </p:nvSpPr>
        <p:spPr/>
        <p:txBody>
          <a:bodyPr/>
          <a:lstStyle/>
          <a:p>
            <a:r>
              <a:rPr lang="en-US" dirty="0"/>
              <a:t>Get ready for practical session</a:t>
            </a:r>
          </a:p>
        </p:txBody>
      </p:sp>
      <p:sp>
        <p:nvSpPr>
          <p:cNvPr id="3" name="Footer Placeholder 2">
            <a:extLst>
              <a:ext uri="{FF2B5EF4-FFF2-40B4-BE49-F238E27FC236}">
                <a16:creationId xmlns:a16="http://schemas.microsoft.com/office/drawing/2014/main" id="{AF024433-C2E1-F022-EBBC-ACC72239D546}"/>
              </a:ext>
            </a:extLst>
          </p:cNvPr>
          <p:cNvSpPr>
            <a:spLocks noGrp="1"/>
          </p:cNvSpPr>
          <p:nvPr>
            <p:ph type="ftr" sz="quarter" idx="11"/>
          </p:nvPr>
        </p:nvSpPr>
        <p:spPr>
          <a:xfrm>
            <a:off x="3333919" y="6408258"/>
            <a:ext cx="7887356" cy="216000"/>
          </a:xfrm>
          <a:prstGeom prst="rect">
            <a:avLst/>
          </a:prstGeom>
        </p:spPr>
        <p:txBody>
          <a:bodyPr vert="horz" lIns="0" tIns="0" rIns="0" bIns="0" rtlCol="0" anchor="b" anchorCtr="0"/>
          <a:lstStyle>
            <a:defPPr>
              <a:defRPr lang="en-US"/>
            </a:defPPr>
            <a:lvl1pPr marL="0" algn="r" defTabSz="914400" rtl="0" eaLnBrk="1" latinLnBrk="0" hangingPunct="1">
              <a:defRPr sz="1200" kern="1200">
                <a:solidFill>
                  <a:srgbClr val="7AC14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CEITEC at Masaryk University</a:t>
            </a:r>
          </a:p>
        </p:txBody>
      </p:sp>
      <p:sp>
        <p:nvSpPr>
          <p:cNvPr id="4" name="Slide Number Placeholder 3">
            <a:extLst>
              <a:ext uri="{FF2B5EF4-FFF2-40B4-BE49-F238E27FC236}">
                <a16:creationId xmlns:a16="http://schemas.microsoft.com/office/drawing/2014/main" id="{C419E7B5-BF75-722C-CA1F-C82EDA076352}"/>
              </a:ext>
            </a:extLst>
          </p:cNvPr>
          <p:cNvSpPr>
            <a:spLocks noGrp="1"/>
          </p:cNvSpPr>
          <p:nvPr>
            <p:ph type="sldNum" sz="quarter" idx="12"/>
          </p:nvPr>
        </p:nvSpPr>
        <p:spPr>
          <a:xfrm>
            <a:off x="11221275" y="6408258"/>
            <a:ext cx="504000" cy="216000"/>
          </a:xfrm>
          <a:prstGeom prst="rect">
            <a:avLst/>
          </a:prstGeom>
        </p:spPr>
        <p:txBody>
          <a:bodyPr vert="horz" lIns="0" tIns="0" rIns="0" bIns="0" rtlCol="0" anchor="b" anchorCtr="0"/>
          <a:lstStyle>
            <a:defPPr>
              <a:defRPr lang="en-US"/>
            </a:defPPr>
            <a:lvl1pPr marL="0" algn="r" defTabSz="914400" rtl="0" eaLnBrk="1" latinLnBrk="0" hangingPunct="1">
              <a:defRPr sz="1200" b="1" kern="1200">
                <a:solidFill>
                  <a:srgbClr val="7AC14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FE3D702-57F1-4CB0-B451-B14F76DC0414}" type="slidenum">
              <a:rPr lang="en-US" smtClean="0"/>
              <a:pPr/>
              <a:t>3</a:t>
            </a:fld>
            <a:endParaRPr lang="en-US" dirty="0"/>
          </a:p>
        </p:txBody>
      </p:sp>
      <p:sp>
        <p:nvSpPr>
          <p:cNvPr id="6" name="Zástupný symbol pro obsah 2">
            <a:extLst>
              <a:ext uri="{FF2B5EF4-FFF2-40B4-BE49-F238E27FC236}">
                <a16:creationId xmlns:a16="http://schemas.microsoft.com/office/drawing/2014/main" id="{09E66E22-1163-D9A9-16BE-DB1475957E36}"/>
              </a:ext>
            </a:extLst>
          </p:cNvPr>
          <p:cNvSpPr txBox="1">
            <a:spLocks/>
          </p:cNvSpPr>
          <p:nvPr/>
        </p:nvSpPr>
        <p:spPr>
          <a:xfrm>
            <a:off x="466724" y="1274158"/>
            <a:ext cx="10754551" cy="5350100"/>
          </a:xfrm>
          <a:prstGeom prst="rect">
            <a:avLst/>
          </a:prstGeom>
        </p:spPr>
        <p:txBody>
          <a:bodyPr>
            <a:normAutofit/>
          </a:bodyPr>
          <a:lstStyle>
            <a:lvl1pPr marL="228600" indent="-228600" algn="l" defTabSz="914400" rtl="0" eaLnBrk="1" latinLnBrk="0" hangingPunct="1">
              <a:lnSpc>
                <a:spcPct val="90000"/>
              </a:lnSpc>
              <a:spcBef>
                <a:spcPts val="1000"/>
              </a:spcBef>
              <a:buClr>
                <a:srgbClr val="21A9C0"/>
              </a:buClr>
              <a:buFont typeface="Arial" panose="020B0604020202020204" pitchFamily="34" charset="0"/>
              <a:buChar char="•"/>
              <a:defRPr sz="2400" kern="1200">
                <a:solidFill>
                  <a:srgbClr val="39464A"/>
                </a:solidFill>
                <a:latin typeface="+mn-lt"/>
                <a:ea typeface="+mn-ea"/>
                <a:cs typeface="+mn-cs"/>
              </a:defRPr>
            </a:lvl1pPr>
            <a:lvl2pPr marL="685800" indent="-228600" algn="l" defTabSz="914400" rtl="0" eaLnBrk="1" latinLnBrk="0" hangingPunct="1">
              <a:lnSpc>
                <a:spcPct val="90000"/>
              </a:lnSpc>
              <a:spcBef>
                <a:spcPts val="500"/>
              </a:spcBef>
              <a:buClr>
                <a:srgbClr val="21A9C0"/>
              </a:buClr>
              <a:buFont typeface="Arial" panose="020B0604020202020204" pitchFamily="34" charset="0"/>
              <a:buChar char="•"/>
              <a:defRPr sz="2000" kern="1200">
                <a:solidFill>
                  <a:srgbClr val="39464A"/>
                </a:solidFill>
                <a:latin typeface="+mn-lt"/>
                <a:ea typeface="+mn-ea"/>
                <a:cs typeface="+mn-cs"/>
              </a:defRPr>
            </a:lvl2pPr>
            <a:lvl3pPr marL="1143000" indent="-228600" algn="l" defTabSz="914400" rtl="0" eaLnBrk="1" latinLnBrk="0" hangingPunct="1">
              <a:lnSpc>
                <a:spcPct val="90000"/>
              </a:lnSpc>
              <a:spcBef>
                <a:spcPts val="500"/>
              </a:spcBef>
              <a:buClr>
                <a:srgbClr val="21A9C0"/>
              </a:buClr>
              <a:buFont typeface="Arial" panose="020B0604020202020204" pitchFamily="34" charset="0"/>
              <a:buChar char="•"/>
              <a:defRPr sz="1800" kern="1200">
                <a:solidFill>
                  <a:srgbClr val="39464A"/>
                </a:solidFill>
                <a:latin typeface="+mn-lt"/>
                <a:ea typeface="+mn-ea"/>
                <a:cs typeface="+mn-cs"/>
              </a:defRPr>
            </a:lvl3pPr>
            <a:lvl4pPr marL="1600200" indent="-228600" algn="l" defTabSz="914400" rtl="0" eaLnBrk="1" latinLnBrk="0" hangingPunct="1">
              <a:lnSpc>
                <a:spcPct val="90000"/>
              </a:lnSpc>
              <a:spcBef>
                <a:spcPts val="500"/>
              </a:spcBef>
              <a:buClr>
                <a:srgbClr val="21A9C0"/>
              </a:buClr>
              <a:buFont typeface="Arial" panose="020B0604020202020204" pitchFamily="34" charset="0"/>
              <a:buChar char="•"/>
              <a:defRPr sz="1600" kern="1200">
                <a:solidFill>
                  <a:srgbClr val="39464A"/>
                </a:solidFill>
                <a:latin typeface="+mn-lt"/>
                <a:ea typeface="+mn-ea"/>
                <a:cs typeface="+mn-cs"/>
              </a:defRPr>
            </a:lvl4pPr>
            <a:lvl5pPr marL="2057400" indent="-228600" algn="l" defTabSz="914400" rtl="0" eaLnBrk="1" latinLnBrk="0" hangingPunct="1">
              <a:lnSpc>
                <a:spcPct val="90000"/>
              </a:lnSpc>
              <a:spcBef>
                <a:spcPts val="500"/>
              </a:spcBef>
              <a:buClr>
                <a:srgbClr val="21A9C0"/>
              </a:buClr>
              <a:buFont typeface="Arial" panose="020B0604020202020204" pitchFamily="34" charset="0"/>
              <a:buChar char="•"/>
              <a:defRPr sz="1600" kern="1200">
                <a:solidFill>
                  <a:srgbClr val="39464A"/>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Courier New" panose="02070309020205020404" pitchFamily="49" charset="0"/>
                <a:cs typeface="Courier New" panose="02070309020205020404" pitchFamily="49" charset="0"/>
              </a:rPr>
              <a:t>git clone </a:t>
            </a:r>
            <a:r>
              <a:rPr lang="en-US" dirty="0">
                <a:latin typeface="Courier New" panose="02070309020205020404" pitchFamily="49" charset="0"/>
                <a:cs typeface="Courier New" panose="02070309020205020404" pitchFamily="49" charset="0"/>
                <a:hlinkClick r:id="rId3"/>
              </a:rPr>
              <a:t>https://gitlab.com/denysbiriukov/survival_guide_simulations_c9555.git</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cd survival_guide_simulations_c9555/</a:t>
            </a:r>
          </a:p>
          <a:p>
            <a:r>
              <a:rPr lang="en-US" dirty="0">
                <a:latin typeface="Courier New" panose="02070309020205020404" pitchFamily="49" charset="0"/>
                <a:cs typeface="Courier New" panose="02070309020205020404" pitchFamily="49" charset="0"/>
              </a:rPr>
              <a:t>cd week0</a:t>
            </a:r>
            <a:r>
              <a:rPr lang="cs-CZ" dirty="0">
                <a:latin typeface="Courier New" panose="02070309020205020404" pitchFamily="49" charset="0"/>
                <a:cs typeface="Courier New" panose="02070309020205020404" pitchFamily="49" charset="0"/>
              </a:rPr>
              <a:t>6</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bash ../infinity/infinity-temp.sh</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cp /storage/brno14-ceitec/shared/</a:t>
            </a:r>
            <a:r>
              <a:rPr lang="en-US" dirty="0" err="1">
                <a:latin typeface="Courier New" panose="02070309020205020404" pitchFamily="49" charset="0"/>
                <a:cs typeface="Courier New" panose="02070309020205020404" pitchFamily="49" charset="0"/>
              </a:rPr>
              <a:t>softmatter</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mr_dizzy</a:t>
            </a:r>
            <a:r>
              <a:rPr lang="en-US" dirty="0">
                <a:latin typeface="Courier New" panose="02070309020205020404" pitchFamily="49" charset="0"/>
                <a:cs typeface="Courier New" panose="02070309020205020404" pitchFamily="49" charset="0"/>
              </a:rPr>
              <a:t>/teaching/ .</a:t>
            </a:r>
          </a:p>
        </p:txBody>
      </p:sp>
    </p:spTree>
    <p:extLst>
      <p:ext uri="{BB962C8B-B14F-4D97-AF65-F5344CB8AC3E}">
        <p14:creationId xmlns:p14="http://schemas.microsoft.com/office/powerpoint/2010/main" val="2773273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CustomShape 1"/>
          <p:cNvSpPr/>
          <p:nvPr/>
        </p:nvSpPr>
        <p:spPr>
          <a:xfrm>
            <a:off x="466560" y="365040"/>
            <a:ext cx="11257920" cy="824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rPr>
              <a:t>What is today?</a:t>
            </a:r>
            <a:endParaRPr lang="en-US" sz="3600" b="1" strike="noStrike" spc="-1" dirty="0">
              <a:latin typeface="Arial"/>
            </a:endParaRPr>
          </a:p>
        </p:txBody>
      </p:sp>
      <p:sp>
        <p:nvSpPr>
          <p:cNvPr id="104" name="CustomShape 2"/>
          <p:cNvSpPr/>
          <p:nvPr/>
        </p:nvSpPr>
        <p:spPr>
          <a:xfrm>
            <a:off x="3333960" y="6408360"/>
            <a:ext cx="7886520" cy="215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r>
              <a:rPr lang="en-US" sz="1200" b="0" strike="noStrike" spc="-1">
                <a:solidFill>
                  <a:srgbClr val="7AC143"/>
                </a:solidFill>
                <a:latin typeface="Arial"/>
              </a:rPr>
              <a:t>CEITEC at Masaryk University</a:t>
            </a:r>
            <a:endParaRPr lang="en-US" sz="1200" b="0" strike="noStrike" spc="-1">
              <a:latin typeface="Arial"/>
            </a:endParaRPr>
          </a:p>
        </p:txBody>
      </p:sp>
      <p:sp>
        <p:nvSpPr>
          <p:cNvPr id="105" name="CustomShape 3"/>
          <p:cNvSpPr/>
          <p:nvPr/>
        </p:nvSpPr>
        <p:spPr>
          <a:xfrm>
            <a:off x="11221200" y="6408360"/>
            <a:ext cx="503280" cy="215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59A14CA8-F458-4982-9786-9A59F21C193E}" type="slidenum">
              <a:rPr lang="en-US" sz="1200" b="1" strike="noStrike" spc="-1">
                <a:solidFill>
                  <a:srgbClr val="7AC143"/>
                </a:solidFill>
                <a:latin typeface="Arial"/>
              </a:rPr>
              <a:t>4</a:t>
            </a:fld>
            <a:endParaRPr lang="en-US" sz="1200" b="0" strike="noStrike" spc="-1">
              <a:latin typeface="Arial"/>
            </a:endParaRPr>
          </a:p>
        </p:txBody>
      </p:sp>
      <p:sp>
        <p:nvSpPr>
          <p:cNvPr id="107" name="CustomShape 5"/>
          <p:cNvSpPr/>
          <p:nvPr/>
        </p:nvSpPr>
        <p:spPr>
          <a:xfrm>
            <a:off x="466560" y="1274040"/>
            <a:ext cx="4244040" cy="5133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rmAutofit/>
          </a:bodyPr>
          <a:lstStyle/>
          <a:p>
            <a:pPr marL="720">
              <a:lnSpc>
                <a:spcPct val="90000"/>
              </a:lnSpc>
              <a:spcBef>
                <a:spcPts val="1001"/>
              </a:spcBef>
              <a:buClr>
                <a:srgbClr val="21A9C0"/>
              </a:buClr>
            </a:pPr>
            <a:r>
              <a:rPr lang="en-US" sz="2400" b="1" strike="noStrike" spc="-1" dirty="0">
                <a:solidFill>
                  <a:srgbClr val="39464A"/>
                </a:solidFill>
                <a:latin typeface="Arial"/>
                <a:ea typeface="DejaVu Sans"/>
              </a:rPr>
              <a:t>Week </a:t>
            </a:r>
            <a:r>
              <a:rPr lang="cs-CZ" sz="2400" b="1" strike="noStrike" spc="-1" dirty="0">
                <a:solidFill>
                  <a:srgbClr val="39464A"/>
                </a:solidFill>
                <a:latin typeface="Arial"/>
                <a:ea typeface="DejaVu Sans"/>
              </a:rPr>
              <a:t>06</a:t>
            </a:r>
            <a:r>
              <a:rPr lang="en-US" sz="2400" b="1" strike="noStrike" spc="-1" dirty="0">
                <a:solidFill>
                  <a:srgbClr val="39464A"/>
                </a:solidFill>
                <a:latin typeface="Arial"/>
                <a:ea typeface="DejaVu Sans"/>
              </a:rPr>
              <a:t>:</a:t>
            </a:r>
            <a:br>
              <a:rPr sz="2400" b="1" dirty="0"/>
            </a:br>
            <a:endParaRPr lang="cs-CZ" sz="2400" b="1" dirty="0"/>
          </a:p>
          <a:p>
            <a:pPr marL="228600" indent="-227880">
              <a:lnSpc>
                <a:spcPct val="90000"/>
              </a:lnSpc>
              <a:spcBef>
                <a:spcPts val="1001"/>
              </a:spcBef>
              <a:buClr>
                <a:srgbClr val="21A9C0"/>
              </a:buClr>
              <a:buFont typeface="Arial"/>
              <a:buChar char="•"/>
            </a:pPr>
            <a:r>
              <a:rPr lang="en-US" sz="2000" b="1" i="1" strike="noStrike" spc="-1" dirty="0">
                <a:solidFill>
                  <a:srgbClr val="39464A"/>
                </a:solidFill>
                <a:latin typeface="Arial"/>
                <a:ea typeface="DejaVu Sans"/>
              </a:rPr>
              <a:t>Making Drugs in silico Part I</a:t>
            </a:r>
            <a:r>
              <a:rPr lang="cs-CZ" sz="2000" b="1" i="1" strike="noStrike" spc="-1" dirty="0">
                <a:solidFill>
                  <a:srgbClr val="39464A"/>
                </a:solidFill>
                <a:latin typeface="Arial"/>
                <a:ea typeface="DejaVu Sans"/>
              </a:rPr>
              <a:t>I</a:t>
            </a:r>
            <a:endParaRPr lang="en-US" sz="2000" b="1" i="1" strike="noStrike" spc="-1" dirty="0">
              <a:latin typeface="Arial"/>
            </a:endParaRPr>
          </a:p>
          <a:p>
            <a:pPr>
              <a:lnSpc>
                <a:spcPct val="90000"/>
              </a:lnSpc>
              <a:spcBef>
                <a:spcPts val="1001"/>
              </a:spcBef>
            </a:pPr>
            <a:endParaRPr lang="cs-CZ" sz="2000" b="0" strike="noStrike" spc="-1" dirty="0">
              <a:latin typeface="Arial"/>
            </a:endParaRPr>
          </a:p>
        </p:txBody>
      </p:sp>
      <p:pic>
        <p:nvPicPr>
          <p:cNvPr id="3" name="Picture 2">
            <a:extLst>
              <a:ext uri="{FF2B5EF4-FFF2-40B4-BE49-F238E27FC236}">
                <a16:creationId xmlns:a16="http://schemas.microsoft.com/office/drawing/2014/main" id="{EAC417CE-1C85-4003-9806-C1BF6D1987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902" y="2645989"/>
            <a:ext cx="2794637" cy="3734651"/>
          </a:xfrm>
          <a:prstGeom prst="rect">
            <a:avLst/>
          </a:prstGeom>
        </p:spPr>
      </p:pic>
      <p:pic>
        <p:nvPicPr>
          <p:cNvPr id="10" name="table">
            <a:extLst>
              <a:ext uri="{FF2B5EF4-FFF2-40B4-BE49-F238E27FC236}">
                <a16:creationId xmlns:a16="http://schemas.microsoft.com/office/drawing/2014/main" id="{A3B44807-EFF8-463B-8C4F-3F9EBC421696}"/>
              </a:ext>
            </a:extLst>
          </p:cNvPr>
          <p:cNvPicPr>
            <a:picLocks noChangeAspect="1"/>
          </p:cNvPicPr>
          <p:nvPr/>
        </p:nvPicPr>
        <p:blipFill>
          <a:blip r:embed="rId4"/>
          <a:stretch>
            <a:fillRect/>
          </a:stretch>
        </p:blipFill>
        <p:spPr>
          <a:xfrm>
            <a:off x="4807530" y="1410676"/>
            <a:ext cx="6916950" cy="4969964"/>
          </a:xfrm>
          <a:prstGeom prst="rect">
            <a:avLst/>
          </a:prstGeom>
        </p:spPr>
      </p:pic>
      <p:sp>
        <p:nvSpPr>
          <p:cNvPr id="11" name="Rectangle 10">
            <a:extLst>
              <a:ext uri="{FF2B5EF4-FFF2-40B4-BE49-F238E27FC236}">
                <a16:creationId xmlns:a16="http://schemas.microsoft.com/office/drawing/2014/main" id="{1CA2AC8A-6271-D248-485F-7BCB829CB0A9}"/>
              </a:ext>
            </a:extLst>
          </p:cNvPr>
          <p:cNvSpPr/>
          <p:nvPr/>
        </p:nvSpPr>
        <p:spPr>
          <a:xfrm>
            <a:off x="4807530" y="3745150"/>
            <a:ext cx="6916950" cy="479754"/>
          </a:xfrm>
          <a:prstGeom prst="rect">
            <a:avLst/>
          </a:prstGeom>
          <a:solidFill>
            <a:srgbClr val="21A9C0">
              <a:alpha val="40000"/>
            </a:srgbClr>
          </a:solidFill>
        </p:spPr>
        <p:style>
          <a:lnRef idx="3">
            <a:schemeClr val="lt1"/>
          </a:lnRef>
          <a:fillRef idx="1">
            <a:schemeClr val="accent5"/>
          </a:fillRef>
          <a:effectRef idx="1">
            <a:schemeClr val="accent5"/>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CustomShape 1"/>
          <p:cNvSpPr/>
          <p:nvPr/>
        </p:nvSpPr>
        <p:spPr>
          <a:xfrm>
            <a:off x="466560" y="365040"/>
            <a:ext cx="11257920" cy="824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rPr>
              <a:t>Today program</a:t>
            </a:r>
            <a:endParaRPr lang="en-US" sz="3600" b="1" strike="noStrike" spc="-1" dirty="0">
              <a:latin typeface="Arial"/>
            </a:endParaRPr>
          </a:p>
        </p:txBody>
      </p:sp>
      <p:sp>
        <p:nvSpPr>
          <p:cNvPr id="110" name="CustomShape 2"/>
          <p:cNvSpPr/>
          <p:nvPr/>
        </p:nvSpPr>
        <p:spPr>
          <a:xfrm>
            <a:off x="3333960" y="6408360"/>
            <a:ext cx="7886520" cy="215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r>
              <a:rPr lang="en-US" sz="1200" b="0" strike="noStrike" spc="-1">
                <a:solidFill>
                  <a:srgbClr val="7AC143"/>
                </a:solidFill>
                <a:latin typeface="Arial"/>
              </a:rPr>
              <a:t>CEITEC at Masaryk University</a:t>
            </a:r>
            <a:endParaRPr lang="en-US" sz="1200" b="0" strike="noStrike" spc="-1">
              <a:latin typeface="Arial"/>
            </a:endParaRPr>
          </a:p>
        </p:txBody>
      </p:sp>
      <p:sp>
        <p:nvSpPr>
          <p:cNvPr id="111" name="CustomShape 3"/>
          <p:cNvSpPr/>
          <p:nvPr/>
        </p:nvSpPr>
        <p:spPr>
          <a:xfrm>
            <a:off x="11221200" y="6408360"/>
            <a:ext cx="503280" cy="215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B4C8CF59-96B1-4990-9CB8-2C5BC4C5DB53}" type="slidenum">
              <a:rPr lang="en-US" sz="1200" b="1" strike="noStrike" spc="-1">
                <a:solidFill>
                  <a:srgbClr val="7AC143"/>
                </a:solidFill>
                <a:latin typeface="Arial"/>
              </a:rPr>
              <a:t>5</a:t>
            </a:fld>
            <a:endParaRPr lang="en-US" sz="1200" b="0" strike="noStrike" spc="-1">
              <a:latin typeface="Arial"/>
            </a:endParaRPr>
          </a:p>
        </p:txBody>
      </p:sp>
      <p:sp>
        <p:nvSpPr>
          <p:cNvPr id="112" name="CustomShape 4"/>
          <p:cNvSpPr/>
          <p:nvPr/>
        </p:nvSpPr>
        <p:spPr>
          <a:xfrm>
            <a:off x="466560" y="1274040"/>
            <a:ext cx="11070720" cy="490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rmAutofit/>
          </a:bodyPr>
          <a:lstStyle/>
          <a:p>
            <a:pPr>
              <a:lnSpc>
                <a:spcPct val="90000"/>
              </a:lnSpc>
              <a:spcBef>
                <a:spcPts val="1001"/>
              </a:spcBef>
              <a:tabLst>
                <a:tab pos="0" algn="l"/>
              </a:tabLst>
            </a:pPr>
            <a:r>
              <a:rPr lang="en-US" sz="2000" b="0" strike="noStrike" spc="-1" dirty="0">
                <a:solidFill>
                  <a:srgbClr val="39464A"/>
                </a:solidFill>
                <a:latin typeface="Arial"/>
                <a:ea typeface="DejaVu Sans"/>
              </a:rPr>
              <a:t>Lecture (1</a:t>
            </a:r>
            <a:r>
              <a:rPr lang="en-US" sz="2000" b="0" strike="noStrike" spc="-1" baseline="30000" dirty="0">
                <a:solidFill>
                  <a:srgbClr val="39464A"/>
                </a:solidFill>
                <a:latin typeface="Arial"/>
                <a:ea typeface="DejaVu Sans"/>
              </a:rPr>
              <a:t>st</a:t>
            </a:r>
            <a:r>
              <a:rPr lang="en-US" sz="2000" b="0" strike="noStrike" spc="-1" dirty="0">
                <a:solidFill>
                  <a:srgbClr val="39464A"/>
                </a:solidFill>
                <a:latin typeface="Arial"/>
                <a:ea typeface="DejaVu Sans"/>
              </a:rPr>
              <a:t> hour)</a:t>
            </a:r>
            <a:endParaRPr lang="en-US" sz="2000" b="0" strike="noStrike" spc="-1" dirty="0">
              <a:latin typeface="Arial"/>
            </a:endParaRPr>
          </a:p>
          <a:p>
            <a:pPr>
              <a:lnSpc>
                <a:spcPct val="90000"/>
              </a:lnSpc>
              <a:spcBef>
                <a:spcPts val="1001"/>
              </a:spcBef>
              <a:tabLst>
                <a:tab pos="0" algn="l"/>
              </a:tabLst>
            </a:pPr>
            <a:endParaRPr lang="en-US" sz="2000" b="0" strike="noStrike" spc="-1" dirty="0">
              <a:latin typeface="Arial"/>
            </a:endParaRPr>
          </a:p>
          <a:p>
            <a:pPr marL="228600" indent="-227880">
              <a:lnSpc>
                <a:spcPct val="90000"/>
              </a:lnSpc>
              <a:spcBef>
                <a:spcPts val="1001"/>
              </a:spcBef>
              <a:buClr>
                <a:srgbClr val="21A9C0"/>
              </a:buClr>
              <a:buFont typeface="Arial"/>
              <a:buChar char="•"/>
              <a:tabLst>
                <a:tab pos="0" algn="l"/>
              </a:tabLst>
            </a:pPr>
            <a:r>
              <a:rPr lang="en-US" sz="2000" b="0" strike="noStrike" spc="-1" dirty="0">
                <a:solidFill>
                  <a:srgbClr val="39464A"/>
                </a:solidFill>
                <a:latin typeface="Arial"/>
                <a:ea typeface="DejaVu Sans"/>
              </a:rPr>
              <a:t>Partial charges: what are they and how to get them</a:t>
            </a:r>
            <a:endParaRPr lang="cs-CZ" sz="2000" b="0" strike="noStrike" spc="-1" dirty="0">
              <a:solidFill>
                <a:srgbClr val="39464A"/>
              </a:solidFill>
              <a:latin typeface="Arial"/>
              <a:ea typeface="DejaVu Sans"/>
            </a:endParaRPr>
          </a:p>
          <a:p>
            <a:pPr marL="228600" indent="-227880">
              <a:lnSpc>
                <a:spcPct val="90000"/>
              </a:lnSpc>
              <a:spcBef>
                <a:spcPts val="1001"/>
              </a:spcBef>
              <a:buClr>
                <a:srgbClr val="21A9C0"/>
              </a:buClr>
              <a:buFont typeface="Arial"/>
              <a:buChar char="•"/>
              <a:tabLst>
                <a:tab pos="0" algn="l"/>
              </a:tabLst>
            </a:pPr>
            <a:r>
              <a:rPr lang="en-US" sz="2000" b="0" strike="noStrike" spc="-1" dirty="0">
                <a:solidFill>
                  <a:srgbClr val="39464A"/>
                </a:solidFill>
                <a:latin typeface="Arial"/>
                <a:ea typeface="DejaVu Sans"/>
              </a:rPr>
              <a:t>Modeling “new” molecules</a:t>
            </a:r>
          </a:p>
          <a:p>
            <a:pPr marL="228600" indent="-227880">
              <a:lnSpc>
                <a:spcPct val="90000"/>
              </a:lnSpc>
              <a:spcBef>
                <a:spcPts val="1001"/>
              </a:spcBef>
              <a:buClr>
                <a:srgbClr val="21A9C0"/>
              </a:buClr>
              <a:buFont typeface="Arial"/>
              <a:buChar char="•"/>
              <a:tabLst>
                <a:tab pos="0" algn="l"/>
              </a:tabLst>
            </a:pPr>
            <a:r>
              <a:rPr lang="en-US" sz="2000" b="0" strike="noStrike" spc="-1" dirty="0">
                <a:solidFill>
                  <a:srgbClr val="39464A"/>
                </a:solidFill>
                <a:latin typeface="Arial"/>
                <a:ea typeface="DejaVu Sans"/>
              </a:rPr>
              <a:t>Force field: the good, the bad, and the ugly</a:t>
            </a:r>
          </a:p>
          <a:p>
            <a:pPr>
              <a:lnSpc>
                <a:spcPct val="90000"/>
              </a:lnSpc>
              <a:spcBef>
                <a:spcPts val="1001"/>
              </a:spcBef>
              <a:tabLst>
                <a:tab pos="0" algn="l"/>
              </a:tabLst>
            </a:pPr>
            <a:endParaRPr lang="cs-CZ" sz="2000" b="0" strike="noStrike" spc="-1" dirty="0">
              <a:solidFill>
                <a:srgbClr val="39464A"/>
              </a:solidFill>
              <a:latin typeface="Arial"/>
              <a:ea typeface="DejaVu Sans"/>
            </a:endParaRPr>
          </a:p>
          <a:p>
            <a:pPr>
              <a:lnSpc>
                <a:spcPct val="90000"/>
              </a:lnSpc>
              <a:spcBef>
                <a:spcPts val="1001"/>
              </a:spcBef>
              <a:tabLst>
                <a:tab pos="0" algn="l"/>
              </a:tabLst>
            </a:pPr>
            <a:r>
              <a:rPr lang="en-US" sz="2000" b="0" strike="noStrike" spc="-1" dirty="0">
                <a:solidFill>
                  <a:srgbClr val="39464A"/>
                </a:solidFill>
                <a:latin typeface="Arial"/>
                <a:ea typeface="DejaVu Sans"/>
              </a:rPr>
              <a:t>Practical session (2</a:t>
            </a:r>
            <a:r>
              <a:rPr lang="en-US" sz="2000" b="0" strike="noStrike" spc="-1" baseline="30000" dirty="0">
                <a:solidFill>
                  <a:srgbClr val="39464A"/>
                </a:solidFill>
                <a:latin typeface="Arial"/>
                <a:ea typeface="DejaVu Sans"/>
              </a:rPr>
              <a:t>nd</a:t>
            </a:r>
            <a:r>
              <a:rPr lang="en-US" sz="2000" b="0" strike="noStrike" spc="-1" dirty="0">
                <a:solidFill>
                  <a:srgbClr val="39464A"/>
                </a:solidFill>
                <a:latin typeface="Arial"/>
                <a:ea typeface="DejaVu Sans"/>
              </a:rPr>
              <a:t> and 3</a:t>
            </a:r>
            <a:r>
              <a:rPr lang="en-US" sz="2000" b="0" strike="noStrike" spc="-1" baseline="30000" dirty="0">
                <a:solidFill>
                  <a:srgbClr val="39464A"/>
                </a:solidFill>
                <a:latin typeface="Arial"/>
                <a:ea typeface="DejaVu Sans"/>
              </a:rPr>
              <a:t>rd</a:t>
            </a:r>
            <a:r>
              <a:rPr lang="en-US" sz="2000" b="0" strike="noStrike" spc="-1" dirty="0">
                <a:solidFill>
                  <a:srgbClr val="39464A"/>
                </a:solidFill>
                <a:latin typeface="Arial"/>
                <a:ea typeface="DejaVu Sans"/>
              </a:rPr>
              <a:t> hours)</a:t>
            </a:r>
            <a:endParaRPr lang="en-US" sz="2000" b="0" strike="noStrike" spc="-1" dirty="0">
              <a:latin typeface="Arial"/>
            </a:endParaRPr>
          </a:p>
          <a:p>
            <a:pPr>
              <a:lnSpc>
                <a:spcPct val="90000"/>
              </a:lnSpc>
              <a:spcBef>
                <a:spcPts val="1001"/>
              </a:spcBef>
              <a:tabLst>
                <a:tab pos="0" algn="l"/>
              </a:tabLst>
            </a:pPr>
            <a:endParaRPr lang="en-US" sz="2000" b="0" strike="noStrike" spc="-1" dirty="0">
              <a:latin typeface="Arial"/>
            </a:endParaRPr>
          </a:p>
          <a:p>
            <a:pPr marL="228600" indent="-227880">
              <a:lnSpc>
                <a:spcPct val="90000"/>
              </a:lnSpc>
              <a:spcBef>
                <a:spcPts val="1001"/>
              </a:spcBef>
              <a:buClr>
                <a:srgbClr val="21A9C0"/>
              </a:buClr>
              <a:buFont typeface="Arial"/>
              <a:buChar char="•"/>
              <a:tabLst>
                <a:tab pos="0" algn="l"/>
              </a:tabLst>
            </a:pPr>
            <a:r>
              <a:rPr lang="en-US" sz="2000" b="0" strike="noStrike" spc="-1" dirty="0">
                <a:solidFill>
                  <a:srgbClr val="39464A"/>
                </a:solidFill>
                <a:latin typeface="Arial"/>
                <a:ea typeface="DejaVu Sans"/>
              </a:rPr>
              <a:t>Build ligand/drug and get a working force field for it</a:t>
            </a:r>
          </a:p>
          <a:p>
            <a:pPr marL="228600" indent="-227880">
              <a:lnSpc>
                <a:spcPct val="90000"/>
              </a:lnSpc>
              <a:spcBef>
                <a:spcPts val="1001"/>
              </a:spcBef>
              <a:buClr>
                <a:srgbClr val="21A9C0"/>
              </a:buClr>
              <a:buFont typeface="Arial"/>
              <a:buChar char="•"/>
              <a:tabLst>
                <a:tab pos="0" algn="l"/>
              </a:tabLst>
            </a:pPr>
            <a:r>
              <a:rPr lang="en-US" sz="2000" b="0" strike="noStrike" spc="-1" dirty="0">
                <a:solidFill>
                  <a:srgbClr val="39464A"/>
                </a:solidFill>
                <a:latin typeface="Arial"/>
                <a:ea typeface="DejaVu Sans"/>
              </a:rPr>
              <a:t>Derivation of partial charges using </a:t>
            </a:r>
            <a:r>
              <a:rPr lang="en-US" sz="2000" b="0" strike="noStrike" spc="-1" dirty="0" err="1">
                <a:solidFill>
                  <a:srgbClr val="39464A"/>
                </a:solidFill>
                <a:latin typeface="Arial"/>
                <a:ea typeface="DejaVu Sans"/>
              </a:rPr>
              <a:t>CGenFF</a:t>
            </a:r>
            <a:r>
              <a:rPr lang="en-US" sz="2000" b="0" strike="noStrike" spc="-1" dirty="0">
                <a:solidFill>
                  <a:srgbClr val="39464A"/>
                </a:solidFill>
                <a:latin typeface="Arial"/>
                <a:ea typeface="DejaVu Sans"/>
              </a:rPr>
              <a:t>, </a:t>
            </a:r>
            <a:r>
              <a:rPr lang="en-US" sz="2000" b="0" strike="noStrike" spc="-1" dirty="0" err="1">
                <a:solidFill>
                  <a:srgbClr val="39464A"/>
                </a:solidFill>
                <a:latin typeface="Arial"/>
                <a:ea typeface="DejaVu Sans"/>
              </a:rPr>
              <a:t>SwissParam</a:t>
            </a:r>
            <a:r>
              <a:rPr lang="en-US" sz="2000" b="0" strike="noStrike" spc="-1" dirty="0">
                <a:solidFill>
                  <a:srgbClr val="39464A"/>
                </a:solidFill>
                <a:latin typeface="Arial"/>
                <a:ea typeface="DejaVu Sans"/>
              </a:rPr>
              <a:t>, or Antechamber</a:t>
            </a:r>
          </a:p>
          <a:p>
            <a:pPr marL="228600" indent="-227880">
              <a:lnSpc>
                <a:spcPct val="90000"/>
              </a:lnSpc>
              <a:spcBef>
                <a:spcPts val="1001"/>
              </a:spcBef>
              <a:buClr>
                <a:srgbClr val="21A9C0"/>
              </a:buClr>
              <a:buFont typeface="Arial"/>
              <a:buChar char="•"/>
              <a:tabLst>
                <a:tab pos="0" algn="l"/>
              </a:tabLst>
            </a:pPr>
            <a:r>
              <a:rPr lang="en-US" sz="2000" b="0" strike="noStrike" spc="-1" dirty="0">
                <a:solidFill>
                  <a:srgbClr val="39464A"/>
                </a:solidFill>
                <a:latin typeface="Arial"/>
                <a:ea typeface="DejaVu Sans"/>
              </a:rPr>
              <a:t>Free energy of solvation using Accelerated Weight Histogram (AWH) method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CustomShape 1"/>
          <p:cNvSpPr/>
          <p:nvPr/>
        </p:nvSpPr>
        <p:spPr>
          <a:xfrm>
            <a:off x="466560" y="365040"/>
            <a:ext cx="11257920" cy="824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rPr>
              <a:t>More a discussion than monologue</a:t>
            </a:r>
            <a:endParaRPr lang="en-US" sz="3600" b="1" strike="noStrike" spc="-1" dirty="0">
              <a:latin typeface="Arial"/>
            </a:endParaRPr>
          </a:p>
        </p:txBody>
      </p:sp>
      <p:sp>
        <p:nvSpPr>
          <p:cNvPr id="114" name="CustomShape 2"/>
          <p:cNvSpPr/>
          <p:nvPr/>
        </p:nvSpPr>
        <p:spPr>
          <a:xfrm>
            <a:off x="3333960" y="6408360"/>
            <a:ext cx="7886520" cy="215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r>
              <a:rPr lang="en-US" sz="1200" b="0" strike="noStrike" spc="-1">
                <a:solidFill>
                  <a:srgbClr val="7AC143"/>
                </a:solidFill>
                <a:latin typeface="Arial"/>
              </a:rPr>
              <a:t>CEITEC at Masaryk University</a:t>
            </a:r>
            <a:endParaRPr lang="en-US" sz="1200" b="0" strike="noStrike" spc="-1">
              <a:latin typeface="Arial"/>
            </a:endParaRPr>
          </a:p>
        </p:txBody>
      </p:sp>
      <p:sp>
        <p:nvSpPr>
          <p:cNvPr id="115" name="CustomShape 3"/>
          <p:cNvSpPr/>
          <p:nvPr/>
        </p:nvSpPr>
        <p:spPr>
          <a:xfrm>
            <a:off x="11221200" y="6408360"/>
            <a:ext cx="503280" cy="215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5EC3EF90-6DD1-4141-A422-3AE3849F1B95}" type="slidenum">
              <a:rPr lang="en-US" sz="1200" b="1" strike="noStrike" spc="-1">
                <a:solidFill>
                  <a:srgbClr val="7AC143"/>
                </a:solidFill>
                <a:latin typeface="Arial"/>
              </a:rPr>
              <a:t>6</a:t>
            </a:fld>
            <a:endParaRPr lang="en-US" sz="1200" b="0" strike="noStrike" spc="-1">
              <a:latin typeface="Arial"/>
            </a:endParaRPr>
          </a:p>
        </p:txBody>
      </p:sp>
      <p:sp>
        <p:nvSpPr>
          <p:cNvPr id="116" name="CustomShape 4"/>
          <p:cNvSpPr/>
          <p:nvPr/>
        </p:nvSpPr>
        <p:spPr>
          <a:xfrm>
            <a:off x="466560" y="1274040"/>
            <a:ext cx="11070720" cy="4909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rmAutofit/>
          </a:bodyPr>
          <a:lstStyle/>
          <a:p>
            <a:pPr>
              <a:lnSpc>
                <a:spcPct val="90000"/>
              </a:lnSpc>
              <a:spcBef>
                <a:spcPts val="1001"/>
              </a:spcBef>
              <a:tabLst>
                <a:tab pos="0" algn="l"/>
              </a:tabLst>
            </a:pPr>
            <a:endParaRPr lang="en-US" sz="1800" b="0" strike="noStrike" spc="-1">
              <a:latin typeface="Arial"/>
            </a:endParaRPr>
          </a:p>
          <a:p>
            <a:pPr algn="ctr">
              <a:lnSpc>
                <a:spcPct val="90000"/>
              </a:lnSpc>
              <a:spcBef>
                <a:spcPts val="1001"/>
              </a:spcBef>
              <a:tabLst>
                <a:tab pos="0" algn="l"/>
              </a:tabLst>
            </a:pPr>
            <a:endParaRPr lang="en-US" sz="1800" b="0" strike="noStrike" spc="-1">
              <a:latin typeface="Arial"/>
            </a:endParaRPr>
          </a:p>
          <a:p>
            <a:pPr algn="ctr">
              <a:lnSpc>
                <a:spcPct val="90000"/>
              </a:lnSpc>
              <a:spcBef>
                <a:spcPts val="1001"/>
              </a:spcBef>
              <a:tabLst>
                <a:tab pos="0" algn="l"/>
              </a:tabLst>
            </a:pPr>
            <a:r>
              <a:rPr lang="en-US" sz="3200" b="0" strike="noStrike" spc="-1">
                <a:solidFill>
                  <a:srgbClr val="39464A"/>
                </a:solidFill>
                <a:latin typeface="Arial"/>
                <a:ea typeface="DejaVu Sans"/>
              </a:rPr>
              <a:t>If you have a quick question to catch up, raise your hand and ask – we will try to fix it and bring you back</a:t>
            </a:r>
            <a:endParaRPr lang="en-US" sz="3200" b="0" strike="noStrike" spc="-1">
              <a:latin typeface="Arial"/>
            </a:endParaRPr>
          </a:p>
          <a:p>
            <a:pPr algn="ctr">
              <a:lnSpc>
                <a:spcPct val="90000"/>
              </a:lnSpc>
              <a:spcBef>
                <a:spcPts val="1001"/>
              </a:spcBef>
              <a:tabLst>
                <a:tab pos="0" algn="l"/>
              </a:tabLst>
            </a:pPr>
            <a:endParaRPr lang="en-US" sz="3200" b="0" strike="noStrike" spc="-1">
              <a:latin typeface="Arial"/>
            </a:endParaRPr>
          </a:p>
          <a:p>
            <a:pPr algn="ctr">
              <a:lnSpc>
                <a:spcPct val="90000"/>
              </a:lnSpc>
              <a:spcBef>
                <a:spcPts val="1001"/>
              </a:spcBef>
              <a:tabLst>
                <a:tab pos="0" algn="l"/>
              </a:tabLst>
            </a:pPr>
            <a:r>
              <a:rPr lang="en-US" sz="3200" b="0" strike="noStrike" spc="-1">
                <a:solidFill>
                  <a:srgbClr val="39464A"/>
                </a:solidFill>
                <a:latin typeface="Arial"/>
                <a:ea typeface="DejaVu Sans"/>
              </a:rPr>
              <a:t>If quick answer does not help, let’s chat during a break or after</a:t>
            </a:r>
            <a:endParaRPr lang="en-US" sz="3200" b="0" strike="noStrike" spc="-1">
              <a:latin typeface="Arial"/>
            </a:endParaRPr>
          </a:p>
          <a:p>
            <a:pPr>
              <a:lnSpc>
                <a:spcPct val="90000"/>
              </a:lnSpc>
              <a:spcBef>
                <a:spcPts val="1001"/>
              </a:spcBef>
              <a:tabLst>
                <a:tab pos="0" algn="l"/>
              </a:tabLst>
            </a:pPr>
            <a:endParaRPr lang="en-US" sz="3200" b="0" strike="noStrike" spc="-1">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66560" y="365040"/>
            <a:ext cx="11257560" cy="824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ea typeface="DejaVu Sans"/>
              </a:rPr>
              <a:t>Partial charges: what are they and how to get them</a:t>
            </a:r>
          </a:p>
        </p:txBody>
      </p:sp>
      <p:sp>
        <p:nvSpPr>
          <p:cNvPr id="6" name="Zástupný symbol pro obsah 2">
            <a:extLst>
              <a:ext uri="{FF2B5EF4-FFF2-40B4-BE49-F238E27FC236}">
                <a16:creationId xmlns:a16="http://schemas.microsoft.com/office/drawing/2014/main" id="{17A88ABF-69FB-4BDE-A0F0-0C2448956907}"/>
              </a:ext>
            </a:extLst>
          </p:cNvPr>
          <p:cNvSpPr txBox="1">
            <a:spLocks/>
          </p:cNvSpPr>
          <p:nvPr/>
        </p:nvSpPr>
        <p:spPr>
          <a:xfrm>
            <a:off x="466560" y="1412776"/>
            <a:ext cx="11257560" cy="53285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cs-CZ" sz="2300" b="1" i="1" dirty="0" err="1"/>
              <a:t>Week</a:t>
            </a:r>
            <a:r>
              <a:rPr lang="cs-CZ" sz="2300" b="1" i="1" dirty="0"/>
              <a:t> 04</a:t>
            </a:r>
            <a:endParaRPr lang="en-US" sz="2300" dirty="0"/>
          </a:p>
        </p:txBody>
      </p:sp>
      <p:pic>
        <p:nvPicPr>
          <p:cNvPr id="3" name="Picture 2">
            <a:extLst>
              <a:ext uri="{FF2B5EF4-FFF2-40B4-BE49-F238E27FC236}">
                <a16:creationId xmlns:a16="http://schemas.microsoft.com/office/drawing/2014/main" id="{2495CD41-FFBB-47D6-BF53-335C1E71E626}"/>
              </a:ext>
            </a:extLst>
          </p:cNvPr>
          <p:cNvPicPr>
            <a:picLocks noChangeAspect="1"/>
          </p:cNvPicPr>
          <p:nvPr/>
        </p:nvPicPr>
        <p:blipFill>
          <a:blip r:embed="rId2"/>
          <a:stretch>
            <a:fillRect/>
          </a:stretch>
        </p:blipFill>
        <p:spPr>
          <a:xfrm>
            <a:off x="2048767" y="1721797"/>
            <a:ext cx="8094466" cy="4537700"/>
          </a:xfrm>
          <a:prstGeom prst="rect">
            <a:avLst/>
          </a:prstGeom>
        </p:spPr>
      </p:pic>
    </p:spTree>
    <p:extLst>
      <p:ext uri="{BB962C8B-B14F-4D97-AF65-F5344CB8AC3E}">
        <p14:creationId xmlns:p14="http://schemas.microsoft.com/office/powerpoint/2010/main" val="4180414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66560" y="365040"/>
            <a:ext cx="11257560" cy="824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ea typeface="DejaVu Sans"/>
              </a:rPr>
              <a:t>Partial charges: what are they and how to get them</a:t>
            </a:r>
          </a:p>
        </p:txBody>
      </p:sp>
      <p:sp>
        <p:nvSpPr>
          <p:cNvPr id="6" name="Zástupný symbol pro obsah 2">
            <a:extLst>
              <a:ext uri="{FF2B5EF4-FFF2-40B4-BE49-F238E27FC236}">
                <a16:creationId xmlns:a16="http://schemas.microsoft.com/office/drawing/2014/main" id="{17A88ABF-69FB-4BDE-A0F0-0C2448956907}"/>
              </a:ext>
            </a:extLst>
          </p:cNvPr>
          <p:cNvSpPr txBox="1">
            <a:spLocks/>
          </p:cNvSpPr>
          <p:nvPr/>
        </p:nvSpPr>
        <p:spPr>
          <a:xfrm>
            <a:off x="466560" y="1412776"/>
            <a:ext cx="11257560" cy="53285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cs-CZ" sz="2300" b="1" i="1" dirty="0"/>
              <a:t>P</a:t>
            </a:r>
            <a:r>
              <a:rPr lang="en-US" sz="2300" b="1" i="1" dirty="0" err="1"/>
              <a:t>artial</a:t>
            </a:r>
            <a:r>
              <a:rPr lang="en-US" sz="2300" b="1" i="1" dirty="0"/>
              <a:t> charges </a:t>
            </a:r>
            <a:r>
              <a:rPr lang="en-US" sz="2300" dirty="0"/>
              <a:t>are a representation of the distribution of electric charge within a molecule or a portion of a molecule. </a:t>
            </a:r>
            <a:endParaRPr lang="cs-CZ" sz="2300" dirty="0"/>
          </a:p>
          <a:p>
            <a:pPr lvl="1"/>
            <a:r>
              <a:rPr lang="cs-CZ" sz="1900" dirty="0" err="1"/>
              <a:t>Used</a:t>
            </a:r>
            <a:r>
              <a:rPr lang="cs-CZ" sz="1900" dirty="0"/>
              <a:t> </a:t>
            </a:r>
            <a:r>
              <a:rPr lang="en-US" sz="1900" dirty="0"/>
              <a:t>to describe the electrostatic interactions between atoms in the simulation</a:t>
            </a:r>
            <a:endParaRPr lang="cs-CZ" sz="1900" dirty="0"/>
          </a:p>
          <a:p>
            <a:pPr lvl="1"/>
            <a:r>
              <a:rPr lang="cs-CZ" sz="1900" dirty="0"/>
              <a:t>T</a:t>
            </a:r>
            <a:r>
              <a:rPr lang="en-US" sz="1900" dirty="0" err="1"/>
              <a:t>ypically</a:t>
            </a:r>
            <a:r>
              <a:rPr lang="en-US" sz="1900" dirty="0"/>
              <a:t> assigned to individual atoms in a molecule.</a:t>
            </a:r>
            <a:endParaRPr lang="cs-CZ" sz="1900" dirty="0"/>
          </a:p>
          <a:p>
            <a:pPr lvl="1"/>
            <a:r>
              <a:rPr lang="en-US" sz="1900" dirty="0"/>
              <a:t>In a neutral molecule, the sum of all the partial charges should add up to zero</a:t>
            </a:r>
            <a:r>
              <a:rPr lang="cs-CZ" sz="1900" dirty="0"/>
              <a:t>.</a:t>
            </a:r>
            <a:endParaRPr lang="en-US" sz="1900" dirty="0"/>
          </a:p>
        </p:txBody>
      </p:sp>
    </p:spTree>
    <p:extLst>
      <p:ext uri="{BB962C8B-B14F-4D97-AF65-F5344CB8AC3E}">
        <p14:creationId xmlns:p14="http://schemas.microsoft.com/office/powerpoint/2010/main" val="1144948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66560" y="365040"/>
            <a:ext cx="11257560" cy="824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ea typeface="DejaVu Sans"/>
              </a:rPr>
              <a:t>Partial charges: what are they and how to get them</a:t>
            </a:r>
          </a:p>
        </p:txBody>
      </p:sp>
      <p:sp>
        <p:nvSpPr>
          <p:cNvPr id="6" name="Zástupný symbol pro obsah 2">
            <a:extLst>
              <a:ext uri="{FF2B5EF4-FFF2-40B4-BE49-F238E27FC236}">
                <a16:creationId xmlns:a16="http://schemas.microsoft.com/office/drawing/2014/main" id="{17A88ABF-69FB-4BDE-A0F0-0C2448956907}"/>
              </a:ext>
            </a:extLst>
          </p:cNvPr>
          <p:cNvSpPr txBox="1">
            <a:spLocks/>
          </p:cNvSpPr>
          <p:nvPr/>
        </p:nvSpPr>
        <p:spPr>
          <a:xfrm>
            <a:off x="466560" y="1412776"/>
            <a:ext cx="11257560" cy="53285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cs-CZ" sz="2300" dirty="0" err="1"/>
              <a:t>Different</a:t>
            </a:r>
            <a:r>
              <a:rPr lang="cs-CZ" sz="2300" dirty="0"/>
              <a:t> </a:t>
            </a:r>
            <a:r>
              <a:rPr lang="cs-CZ" sz="2300" dirty="0" err="1"/>
              <a:t>force</a:t>
            </a:r>
            <a:r>
              <a:rPr lang="cs-CZ" sz="2300" dirty="0"/>
              <a:t> </a:t>
            </a:r>
            <a:r>
              <a:rPr lang="cs-CZ" sz="2300" dirty="0" err="1"/>
              <a:t>fields</a:t>
            </a:r>
            <a:r>
              <a:rPr lang="cs-CZ" sz="2300" dirty="0"/>
              <a:t> </a:t>
            </a:r>
            <a:r>
              <a:rPr lang="en-US" sz="2300" dirty="0"/>
              <a:t>derive partial charges different way:</a:t>
            </a:r>
          </a:p>
          <a:p>
            <a:r>
              <a:rPr lang="en-US" sz="2300" dirty="0"/>
              <a:t>Charge Fitting Methods (examples):</a:t>
            </a:r>
          </a:p>
          <a:p>
            <a:pPr lvl="1"/>
            <a:r>
              <a:rPr lang="en-US" sz="1900" dirty="0"/>
              <a:t>AMBER		RESP Charges</a:t>
            </a:r>
          </a:p>
          <a:p>
            <a:pPr lvl="1"/>
            <a:r>
              <a:rPr lang="en-US" sz="1900" dirty="0"/>
              <a:t>CHARMM		</a:t>
            </a:r>
            <a:r>
              <a:rPr lang="en-US" sz="1900" dirty="0" err="1"/>
              <a:t>ChelpG</a:t>
            </a:r>
            <a:r>
              <a:rPr lang="en-US" sz="1900" dirty="0"/>
              <a:t> Charges</a:t>
            </a:r>
          </a:p>
          <a:p>
            <a:pPr lvl="1"/>
            <a:r>
              <a:rPr lang="en-US" sz="1900" dirty="0"/>
              <a:t>MM2, MM3	</a:t>
            </a:r>
            <a:r>
              <a:rPr lang="en-US" sz="1900" dirty="0" err="1"/>
              <a:t>Gasteiger-Marsili</a:t>
            </a:r>
            <a:r>
              <a:rPr lang="en-US" sz="1900" dirty="0"/>
              <a:t> Charges</a:t>
            </a:r>
          </a:p>
          <a:p>
            <a:pPr lvl="1"/>
            <a:r>
              <a:rPr lang="en-US" sz="1900" dirty="0" err="1"/>
              <a:t>ReaxFF</a:t>
            </a:r>
            <a:r>
              <a:rPr lang="en-US" sz="1900" dirty="0"/>
              <a:t>		Reactive Force Field - Charges derived from bond-order analysis</a:t>
            </a:r>
          </a:p>
          <a:p>
            <a:pPr lvl="1"/>
            <a:r>
              <a:rPr lang="en-US" sz="1900" dirty="0"/>
              <a:t>UFF		</a:t>
            </a:r>
            <a:r>
              <a:rPr lang="en-US" sz="1900" dirty="0" err="1"/>
              <a:t>Gasteiger-Marsili</a:t>
            </a:r>
            <a:r>
              <a:rPr lang="en-US" sz="1900" dirty="0"/>
              <a:t> Charges (Universal Force Field)</a:t>
            </a:r>
          </a:p>
        </p:txBody>
      </p:sp>
    </p:spTree>
    <p:extLst>
      <p:ext uri="{BB962C8B-B14F-4D97-AF65-F5344CB8AC3E}">
        <p14:creationId xmlns:p14="http://schemas.microsoft.com/office/powerpoint/2010/main" val="3826038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66560" y="365040"/>
            <a:ext cx="11257560" cy="824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ea typeface="DejaVu Sans"/>
              </a:rPr>
              <a:t>Partial charges: what are they and how to get them</a:t>
            </a:r>
          </a:p>
        </p:txBody>
      </p:sp>
      <p:sp>
        <p:nvSpPr>
          <p:cNvPr id="6" name="Zástupný symbol pro obsah 2">
            <a:extLst>
              <a:ext uri="{FF2B5EF4-FFF2-40B4-BE49-F238E27FC236}">
                <a16:creationId xmlns:a16="http://schemas.microsoft.com/office/drawing/2014/main" id="{17A88ABF-69FB-4BDE-A0F0-0C2448956907}"/>
              </a:ext>
            </a:extLst>
          </p:cNvPr>
          <p:cNvSpPr txBox="1">
            <a:spLocks/>
          </p:cNvSpPr>
          <p:nvPr/>
        </p:nvSpPr>
        <p:spPr>
          <a:xfrm>
            <a:off x="466560" y="1412776"/>
            <a:ext cx="11257560" cy="53285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cs-CZ" sz="2300" dirty="0"/>
              <a:t>RESP = </a:t>
            </a:r>
            <a:r>
              <a:rPr lang="cs-CZ" sz="2300" dirty="0" err="1"/>
              <a:t>Restrained</a:t>
            </a:r>
            <a:r>
              <a:rPr lang="cs-CZ" sz="2300" dirty="0"/>
              <a:t> </a:t>
            </a:r>
            <a:r>
              <a:rPr lang="cs-CZ" sz="2300" dirty="0" err="1"/>
              <a:t>ElectroStatic</a:t>
            </a:r>
            <a:r>
              <a:rPr lang="cs-CZ" sz="2300" dirty="0"/>
              <a:t> </a:t>
            </a:r>
            <a:r>
              <a:rPr lang="cs-CZ" sz="2300" dirty="0" err="1"/>
              <a:t>Potential</a:t>
            </a:r>
            <a:endParaRPr lang="cs-CZ" sz="2300" dirty="0"/>
          </a:p>
          <a:p>
            <a:r>
              <a:rPr lang="cs-CZ" sz="2300" dirty="0" err="1"/>
              <a:t>Main</a:t>
            </a:r>
            <a:r>
              <a:rPr lang="cs-CZ" sz="2300" dirty="0"/>
              <a:t> </a:t>
            </a:r>
            <a:r>
              <a:rPr lang="cs-CZ" sz="2300" dirty="0" err="1"/>
              <a:t>concept</a:t>
            </a:r>
            <a:r>
              <a:rPr lang="cs-CZ" sz="2300" dirty="0"/>
              <a:t> </a:t>
            </a:r>
            <a:r>
              <a:rPr lang="cs-CZ" sz="2300" dirty="0" err="1"/>
              <a:t>how</a:t>
            </a:r>
            <a:r>
              <a:rPr lang="cs-CZ" sz="2300" dirty="0"/>
              <a:t> to </a:t>
            </a:r>
            <a:r>
              <a:rPr lang="cs-CZ" sz="2300" dirty="0" err="1"/>
              <a:t>derive</a:t>
            </a:r>
            <a:r>
              <a:rPr lang="cs-CZ" sz="2300" dirty="0"/>
              <a:t> </a:t>
            </a:r>
            <a:r>
              <a:rPr lang="cs-CZ" sz="2300" dirty="0" err="1"/>
              <a:t>partial</a:t>
            </a:r>
            <a:r>
              <a:rPr lang="cs-CZ" sz="2300" dirty="0"/>
              <a:t> </a:t>
            </a:r>
            <a:r>
              <a:rPr lang="cs-CZ" sz="2300" dirty="0" err="1"/>
              <a:t>charges</a:t>
            </a:r>
            <a:r>
              <a:rPr lang="cs-CZ" sz="2300" dirty="0"/>
              <a:t> in </a:t>
            </a:r>
            <a:r>
              <a:rPr lang="cs-CZ" sz="2300" i="1" dirty="0">
                <a:solidFill>
                  <a:srgbClr val="FF0000"/>
                </a:solidFill>
              </a:rPr>
              <a:t>AMBER FF </a:t>
            </a:r>
            <a:r>
              <a:rPr lang="cs-CZ" sz="2300" dirty="0"/>
              <a:t>(!!!)</a:t>
            </a:r>
          </a:p>
          <a:p>
            <a:r>
              <a:rPr lang="cs-CZ" sz="2300" dirty="0"/>
              <a:t>More </a:t>
            </a:r>
            <a:r>
              <a:rPr lang="cs-CZ" sz="2300" dirty="0" err="1"/>
              <a:t>info</a:t>
            </a:r>
            <a:r>
              <a:rPr lang="cs-CZ" sz="2300" dirty="0"/>
              <a:t> in:</a:t>
            </a:r>
          </a:p>
          <a:p>
            <a:pPr marL="457200" lvl="1" indent="0">
              <a:buFont typeface="Arial" panose="020B0604020202020204" pitchFamily="34" charset="0"/>
              <a:buNone/>
            </a:pPr>
            <a:r>
              <a:rPr lang="cs-CZ" sz="1900" dirty="0"/>
              <a:t>	</a:t>
            </a:r>
            <a:r>
              <a:rPr lang="en-US" sz="1900" dirty="0"/>
              <a:t>J. Phys. Chem, 1993, 97, 10269-10280.</a:t>
            </a:r>
            <a:endParaRPr lang="cs-CZ" sz="1900" dirty="0"/>
          </a:p>
          <a:p>
            <a:pPr marL="457200" lvl="1" indent="0">
              <a:buFont typeface="Arial" panose="020B0604020202020204" pitchFamily="34" charset="0"/>
              <a:buNone/>
            </a:pPr>
            <a:endParaRPr lang="cs-CZ" sz="1900" dirty="0"/>
          </a:p>
          <a:p>
            <a:pPr marL="457200" lvl="1" indent="0">
              <a:buFont typeface="Arial" panose="020B0604020202020204" pitchFamily="34" charset="0"/>
              <a:buNone/>
            </a:pPr>
            <a:endParaRPr lang="en-US" sz="1900" dirty="0"/>
          </a:p>
        </p:txBody>
      </p:sp>
      <p:pic>
        <p:nvPicPr>
          <p:cNvPr id="8" name="Picture 7">
            <a:extLst>
              <a:ext uri="{FF2B5EF4-FFF2-40B4-BE49-F238E27FC236}">
                <a16:creationId xmlns:a16="http://schemas.microsoft.com/office/drawing/2014/main" id="{FEC4FA61-DDE8-4167-99D7-5AF2B589861C}"/>
              </a:ext>
            </a:extLst>
          </p:cNvPr>
          <p:cNvPicPr>
            <a:picLocks noChangeAspect="1"/>
          </p:cNvPicPr>
          <p:nvPr/>
        </p:nvPicPr>
        <p:blipFill>
          <a:blip r:embed="rId2"/>
          <a:stretch>
            <a:fillRect/>
          </a:stretch>
        </p:blipFill>
        <p:spPr>
          <a:xfrm>
            <a:off x="6323520" y="3415973"/>
            <a:ext cx="5400600" cy="3076987"/>
          </a:xfrm>
          <a:prstGeom prst="rect">
            <a:avLst/>
          </a:prstGeom>
        </p:spPr>
      </p:pic>
    </p:spTree>
    <p:extLst>
      <p:ext uri="{BB962C8B-B14F-4D97-AF65-F5344CB8AC3E}">
        <p14:creationId xmlns:p14="http://schemas.microsoft.com/office/powerpoint/2010/main" val="3727440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66560" y="365040"/>
            <a:ext cx="11257560" cy="824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ea typeface="DejaVu Sans"/>
              </a:rPr>
              <a:t>Partial charges: what are they and how to get them</a:t>
            </a:r>
          </a:p>
        </p:txBody>
      </p:sp>
      <p:sp>
        <p:nvSpPr>
          <p:cNvPr id="5" name="Zástupný symbol pro obsah 2">
            <a:extLst>
              <a:ext uri="{FF2B5EF4-FFF2-40B4-BE49-F238E27FC236}">
                <a16:creationId xmlns:a16="http://schemas.microsoft.com/office/drawing/2014/main" id="{A0219369-9CDD-4A65-BB40-F6BD76D84F5D}"/>
              </a:ext>
            </a:extLst>
          </p:cNvPr>
          <p:cNvSpPr txBox="1">
            <a:spLocks/>
          </p:cNvSpPr>
          <p:nvPr/>
        </p:nvSpPr>
        <p:spPr>
          <a:xfrm>
            <a:off x="466559" y="1484784"/>
            <a:ext cx="11257559" cy="478538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cs-CZ" sz="2300" b="1" dirty="0"/>
              <a:t>Partial charges are NOT physical observable quantities.</a:t>
            </a:r>
          </a:p>
          <a:p>
            <a:r>
              <a:rPr lang="cs-CZ" sz="2300" b="1" dirty="0"/>
              <a:t>Potential (ESP) is fitted just outside of the vdW radius from wavefunction (QM calc.) according to:</a:t>
            </a:r>
          </a:p>
          <a:p>
            <a:endParaRPr lang="cs-CZ" sz="2300" b="1" dirty="0"/>
          </a:p>
          <a:p>
            <a:endParaRPr lang="cs-CZ" sz="2300" b="1" dirty="0"/>
          </a:p>
          <a:p>
            <a:endParaRPr lang="cs-CZ" sz="2300" b="1" dirty="0"/>
          </a:p>
          <a:p>
            <a:endParaRPr lang="cs-CZ" sz="2300" b="1" dirty="0"/>
          </a:p>
          <a:p>
            <a:r>
              <a:rPr lang="en-US" sz="2300" b="1" dirty="0"/>
              <a:t>Least squares algorithm derives atom centered charges that best reproduces MEP</a:t>
            </a:r>
            <a:r>
              <a:rPr lang="cs-CZ" sz="2300" b="1" dirty="0"/>
              <a:t>.</a:t>
            </a:r>
            <a:endParaRPr lang="en-US" sz="2300" b="1" dirty="0"/>
          </a:p>
          <a:p>
            <a:r>
              <a:rPr lang="en-US" sz="2300" b="1" dirty="0"/>
              <a:t>Potential calculated on large number of points on 4 shells of surfaces defined by {1.4, 1.6, 1.8, 2.0} x VDW radii</a:t>
            </a:r>
            <a:r>
              <a:rPr lang="cs-CZ" sz="2300" b="1" dirty="0"/>
              <a:t>.</a:t>
            </a:r>
            <a:endParaRPr lang="en-US" sz="2300" b="1" dirty="0"/>
          </a:p>
          <a:p>
            <a:endParaRPr lang="cs-CZ" sz="2300" b="1" dirty="0"/>
          </a:p>
          <a:p>
            <a:endParaRPr lang="cs-CZ" sz="2300" b="1" dirty="0"/>
          </a:p>
        </p:txBody>
      </p:sp>
      <p:pic>
        <p:nvPicPr>
          <p:cNvPr id="8" name="Picture 7">
            <a:extLst>
              <a:ext uri="{FF2B5EF4-FFF2-40B4-BE49-F238E27FC236}">
                <a16:creationId xmlns:a16="http://schemas.microsoft.com/office/drawing/2014/main" id="{4F138C80-CD67-4E80-9E4B-67F39C3A3723}"/>
              </a:ext>
            </a:extLst>
          </p:cNvPr>
          <p:cNvPicPr>
            <a:picLocks noChangeAspect="1"/>
          </p:cNvPicPr>
          <p:nvPr/>
        </p:nvPicPr>
        <p:blipFill>
          <a:blip r:embed="rId2"/>
          <a:stretch>
            <a:fillRect/>
          </a:stretch>
        </p:blipFill>
        <p:spPr>
          <a:xfrm>
            <a:off x="821108" y="2846245"/>
            <a:ext cx="7063259" cy="1241151"/>
          </a:xfrm>
          <a:prstGeom prst="rect">
            <a:avLst/>
          </a:prstGeom>
        </p:spPr>
      </p:pic>
    </p:spTree>
    <p:extLst>
      <p:ext uri="{BB962C8B-B14F-4D97-AF65-F5344CB8AC3E}">
        <p14:creationId xmlns:p14="http://schemas.microsoft.com/office/powerpoint/2010/main" val="3417572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66560" y="365040"/>
            <a:ext cx="11257560" cy="824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ea typeface="DejaVu Sans"/>
              </a:rPr>
              <a:t>Partial charges: what are they and how to get them</a:t>
            </a:r>
          </a:p>
        </p:txBody>
      </p:sp>
      <p:sp>
        <p:nvSpPr>
          <p:cNvPr id="25" name="Oval 24">
            <a:extLst>
              <a:ext uri="{FF2B5EF4-FFF2-40B4-BE49-F238E27FC236}">
                <a16:creationId xmlns:a16="http://schemas.microsoft.com/office/drawing/2014/main" id="{BE139D2A-EA17-4E33-A8F0-AF2581C58E7B}"/>
              </a:ext>
            </a:extLst>
          </p:cNvPr>
          <p:cNvSpPr>
            <a:spLocks noChangeArrowheads="1"/>
          </p:cNvSpPr>
          <p:nvPr/>
        </p:nvSpPr>
        <p:spPr bwMode="auto">
          <a:xfrm>
            <a:off x="4758262" y="1189440"/>
            <a:ext cx="3107804" cy="65427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endParaRPr lang="en-US" altLang="en-US"/>
          </a:p>
        </p:txBody>
      </p:sp>
      <p:sp>
        <p:nvSpPr>
          <p:cNvPr id="26" name="Text Box 3">
            <a:extLst>
              <a:ext uri="{FF2B5EF4-FFF2-40B4-BE49-F238E27FC236}">
                <a16:creationId xmlns:a16="http://schemas.microsoft.com/office/drawing/2014/main" id="{9FFC2C5E-597C-4F45-B659-E1ABD64C466D}"/>
              </a:ext>
            </a:extLst>
          </p:cNvPr>
          <p:cNvSpPr txBox="1">
            <a:spLocks noChangeArrowheads="1"/>
          </p:cNvSpPr>
          <p:nvPr/>
        </p:nvSpPr>
        <p:spPr bwMode="auto">
          <a:xfrm>
            <a:off x="5030876" y="1362688"/>
            <a:ext cx="25625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50000"/>
              </a:spcBef>
            </a:pPr>
            <a:r>
              <a:rPr lang="en-US" altLang="en-US" sz="1400" b="1" dirty="0"/>
              <a:t>Starting structure from PDB </a:t>
            </a:r>
          </a:p>
        </p:txBody>
      </p:sp>
      <p:sp>
        <p:nvSpPr>
          <p:cNvPr id="27" name="AutoShape 4">
            <a:extLst>
              <a:ext uri="{FF2B5EF4-FFF2-40B4-BE49-F238E27FC236}">
                <a16:creationId xmlns:a16="http://schemas.microsoft.com/office/drawing/2014/main" id="{6FCD6D19-6177-4F15-861E-F018EF5FFD7A}"/>
              </a:ext>
            </a:extLst>
          </p:cNvPr>
          <p:cNvSpPr>
            <a:spLocks noChangeArrowheads="1"/>
          </p:cNvSpPr>
          <p:nvPr/>
        </p:nvSpPr>
        <p:spPr bwMode="auto">
          <a:xfrm>
            <a:off x="4921831" y="2326531"/>
            <a:ext cx="2998758" cy="654274"/>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altLang="en-US" sz="1400" b="1" dirty="0"/>
              <a:t>Perform </a:t>
            </a:r>
          </a:p>
          <a:p>
            <a:pPr algn="ctr"/>
            <a:r>
              <a:rPr lang="en-US" altLang="en-US" sz="1400" b="1" dirty="0"/>
              <a:t>Geometry Optimization (HF-631G*)</a:t>
            </a:r>
          </a:p>
        </p:txBody>
      </p:sp>
      <p:sp>
        <p:nvSpPr>
          <p:cNvPr id="28" name="AutoShape 5">
            <a:extLst>
              <a:ext uri="{FF2B5EF4-FFF2-40B4-BE49-F238E27FC236}">
                <a16:creationId xmlns:a16="http://schemas.microsoft.com/office/drawing/2014/main" id="{D5F9FF33-5739-47FD-81D8-39A9DBCF6CB6}"/>
              </a:ext>
            </a:extLst>
          </p:cNvPr>
          <p:cNvSpPr>
            <a:spLocks noChangeArrowheads="1"/>
          </p:cNvSpPr>
          <p:nvPr/>
        </p:nvSpPr>
        <p:spPr bwMode="auto">
          <a:xfrm>
            <a:off x="4921831" y="3463621"/>
            <a:ext cx="2998758" cy="708797"/>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altLang="en-US" sz="1400" b="1" dirty="0"/>
              <a:t>Compute</a:t>
            </a:r>
          </a:p>
          <a:p>
            <a:pPr algn="ctr"/>
            <a:r>
              <a:rPr lang="en-US" altLang="en-US" sz="1400" b="1" dirty="0"/>
              <a:t>Electrostatic Potential Charges</a:t>
            </a:r>
          </a:p>
          <a:p>
            <a:pPr algn="ctr"/>
            <a:r>
              <a:rPr lang="en-US" altLang="en-US" sz="1400" b="1" dirty="0"/>
              <a:t>(pop=</a:t>
            </a:r>
            <a:r>
              <a:rPr lang="en-US" altLang="en-US" sz="1400" b="1" dirty="0" err="1"/>
              <a:t>mk</a:t>
            </a:r>
            <a:r>
              <a:rPr lang="en-US" altLang="en-US" sz="1400" b="1" dirty="0"/>
              <a:t>)</a:t>
            </a:r>
          </a:p>
        </p:txBody>
      </p:sp>
      <p:sp>
        <p:nvSpPr>
          <p:cNvPr id="29" name="AutoShape 6">
            <a:extLst>
              <a:ext uri="{FF2B5EF4-FFF2-40B4-BE49-F238E27FC236}">
                <a16:creationId xmlns:a16="http://schemas.microsoft.com/office/drawing/2014/main" id="{0DDAA25D-C3EB-4738-A493-E9AC9AA525FA}"/>
              </a:ext>
            </a:extLst>
          </p:cNvPr>
          <p:cNvSpPr>
            <a:spLocks noChangeArrowheads="1"/>
          </p:cNvSpPr>
          <p:nvPr/>
        </p:nvSpPr>
        <p:spPr bwMode="auto">
          <a:xfrm>
            <a:off x="4976354" y="4655234"/>
            <a:ext cx="2889712" cy="708797"/>
          </a:xfrm>
          <a:prstGeom prst="flowChartProcess">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altLang="en-US" sz="1400" b="1" dirty="0"/>
              <a:t>Fit ESP charges</a:t>
            </a:r>
          </a:p>
          <a:p>
            <a:pPr algn="ctr"/>
            <a:r>
              <a:rPr lang="en-US" altLang="en-US" sz="1400" b="1" dirty="0"/>
              <a:t>(RESP)</a:t>
            </a:r>
          </a:p>
        </p:txBody>
      </p:sp>
      <p:sp>
        <p:nvSpPr>
          <p:cNvPr id="30" name="Rectangle 29">
            <a:extLst>
              <a:ext uri="{FF2B5EF4-FFF2-40B4-BE49-F238E27FC236}">
                <a16:creationId xmlns:a16="http://schemas.microsoft.com/office/drawing/2014/main" id="{B9BF4C1A-C6BD-42AF-A276-C728EBF70913}"/>
              </a:ext>
            </a:extLst>
          </p:cNvPr>
          <p:cNvSpPr>
            <a:spLocks noChangeArrowheads="1"/>
          </p:cNvSpPr>
          <p:nvPr/>
        </p:nvSpPr>
        <p:spPr bwMode="auto">
          <a:xfrm>
            <a:off x="5058138" y="5846847"/>
            <a:ext cx="2726144" cy="38166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altLang="en-US" sz="1400" b="1" dirty="0"/>
              <a:t>MD simulation (AMBER)</a:t>
            </a:r>
          </a:p>
        </p:txBody>
      </p:sp>
      <p:sp>
        <p:nvSpPr>
          <p:cNvPr id="31" name="Line 8">
            <a:extLst>
              <a:ext uri="{FF2B5EF4-FFF2-40B4-BE49-F238E27FC236}">
                <a16:creationId xmlns:a16="http://schemas.microsoft.com/office/drawing/2014/main" id="{8F995A71-2E3A-4F5B-A3A5-7B05FA5048B5}"/>
              </a:ext>
            </a:extLst>
          </p:cNvPr>
          <p:cNvSpPr>
            <a:spLocks noChangeShapeType="1"/>
          </p:cNvSpPr>
          <p:nvPr/>
        </p:nvSpPr>
        <p:spPr bwMode="auto">
          <a:xfrm>
            <a:off x="6422098" y="1941013"/>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US" dirty="0"/>
              <a:t> </a:t>
            </a:r>
          </a:p>
        </p:txBody>
      </p:sp>
      <p:sp>
        <p:nvSpPr>
          <p:cNvPr id="32" name="Line 8">
            <a:extLst>
              <a:ext uri="{FF2B5EF4-FFF2-40B4-BE49-F238E27FC236}">
                <a16:creationId xmlns:a16="http://schemas.microsoft.com/office/drawing/2014/main" id="{C5ABA94F-ACBF-46C1-9945-A5817212AFA0}"/>
              </a:ext>
            </a:extLst>
          </p:cNvPr>
          <p:cNvSpPr>
            <a:spLocks noChangeShapeType="1"/>
          </p:cNvSpPr>
          <p:nvPr/>
        </p:nvSpPr>
        <p:spPr bwMode="auto">
          <a:xfrm>
            <a:off x="6422098" y="3093141"/>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US" dirty="0"/>
              <a:t> </a:t>
            </a:r>
          </a:p>
        </p:txBody>
      </p:sp>
      <p:sp>
        <p:nvSpPr>
          <p:cNvPr id="33" name="Line 8">
            <a:extLst>
              <a:ext uri="{FF2B5EF4-FFF2-40B4-BE49-F238E27FC236}">
                <a16:creationId xmlns:a16="http://schemas.microsoft.com/office/drawing/2014/main" id="{9337B326-6CE2-4B38-BEE9-252C298DED7F}"/>
              </a:ext>
            </a:extLst>
          </p:cNvPr>
          <p:cNvSpPr>
            <a:spLocks noChangeShapeType="1"/>
          </p:cNvSpPr>
          <p:nvPr/>
        </p:nvSpPr>
        <p:spPr bwMode="auto">
          <a:xfrm>
            <a:off x="6435434" y="4245269"/>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US" dirty="0"/>
              <a:t> </a:t>
            </a:r>
          </a:p>
        </p:txBody>
      </p:sp>
      <p:sp>
        <p:nvSpPr>
          <p:cNvPr id="34" name="Line 8">
            <a:extLst>
              <a:ext uri="{FF2B5EF4-FFF2-40B4-BE49-F238E27FC236}">
                <a16:creationId xmlns:a16="http://schemas.microsoft.com/office/drawing/2014/main" id="{201C4343-466D-4EB6-AF75-A31ADBF82276}"/>
              </a:ext>
            </a:extLst>
          </p:cNvPr>
          <p:cNvSpPr>
            <a:spLocks noChangeShapeType="1"/>
          </p:cNvSpPr>
          <p:nvPr/>
        </p:nvSpPr>
        <p:spPr bwMode="auto">
          <a:xfrm>
            <a:off x="6442674" y="5469405"/>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US" dirty="0"/>
              <a:t> </a:t>
            </a:r>
          </a:p>
        </p:txBody>
      </p:sp>
      <p:sp>
        <p:nvSpPr>
          <p:cNvPr id="35" name="TextBox 34">
            <a:extLst>
              <a:ext uri="{FF2B5EF4-FFF2-40B4-BE49-F238E27FC236}">
                <a16:creationId xmlns:a16="http://schemas.microsoft.com/office/drawing/2014/main" id="{A63ACEBA-4129-4763-B1EF-C2FDD7D65037}"/>
              </a:ext>
            </a:extLst>
          </p:cNvPr>
          <p:cNvSpPr txBox="1"/>
          <p:nvPr/>
        </p:nvSpPr>
        <p:spPr>
          <a:xfrm>
            <a:off x="8564127" y="2399483"/>
            <a:ext cx="1495922" cy="523220"/>
          </a:xfrm>
          <a:prstGeom prst="rect">
            <a:avLst/>
          </a:prstGeom>
          <a:noFill/>
        </p:spPr>
        <p:txBody>
          <a:bodyPr wrap="none" rtlCol="0">
            <a:spAutoFit/>
          </a:bodyPr>
          <a:lstStyle/>
          <a:p>
            <a:r>
              <a:rPr lang="en-US" sz="2800" dirty="0"/>
              <a:t>Gaussian</a:t>
            </a:r>
          </a:p>
        </p:txBody>
      </p:sp>
      <p:cxnSp>
        <p:nvCxnSpPr>
          <p:cNvPr id="36" name="Straight Arrow Connector 35">
            <a:extLst>
              <a:ext uri="{FF2B5EF4-FFF2-40B4-BE49-F238E27FC236}">
                <a16:creationId xmlns:a16="http://schemas.microsoft.com/office/drawing/2014/main" id="{3C870FF7-6F8A-4C48-B994-0F01EE02E91D}"/>
              </a:ext>
            </a:extLst>
          </p:cNvPr>
          <p:cNvCxnSpPr/>
          <p:nvPr/>
        </p:nvCxnSpPr>
        <p:spPr>
          <a:xfrm flipH="1">
            <a:off x="8078282" y="2661093"/>
            <a:ext cx="455157"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30DAA4DB-5718-4C3C-8803-359A617EAB08}"/>
              </a:ext>
            </a:extLst>
          </p:cNvPr>
          <p:cNvSpPr txBox="1"/>
          <p:nvPr/>
        </p:nvSpPr>
        <p:spPr>
          <a:xfrm>
            <a:off x="8564127" y="3525189"/>
            <a:ext cx="1495922" cy="523220"/>
          </a:xfrm>
          <a:prstGeom prst="rect">
            <a:avLst/>
          </a:prstGeom>
          <a:noFill/>
        </p:spPr>
        <p:txBody>
          <a:bodyPr wrap="none" rtlCol="0">
            <a:spAutoFit/>
          </a:bodyPr>
          <a:lstStyle/>
          <a:p>
            <a:r>
              <a:rPr lang="en-US" sz="2800" dirty="0"/>
              <a:t>Gaussian</a:t>
            </a:r>
          </a:p>
        </p:txBody>
      </p:sp>
      <p:cxnSp>
        <p:nvCxnSpPr>
          <p:cNvPr id="38" name="Straight Arrow Connector 37">
            <a:extLst>
              <a:ext uri="{FF2B5EF4-FFF2-40B4-BE49-F238E27FC236}">
                <a16:creationId xmlns:a16="http://schemas.microsoft.com/office/drawing/2014/main" id="{16016D4C-08B9-4D7B-BB0A-C07F213993D6}"/>
              </a:ext>
            </a:extLst>
          </p:cNvPr>
          <p:cNvCxnSpPr/>
          <p:nvPr/>
        </p:nvCxnSpPr>
        <p:spPr>
          <a:xfrm flipH="1">
            <a:off x="8078282" y="3786799"/>
            <a:ext cx="455157"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9" name="TextBox 38">
            <a:extLst>
              <a:ext uri="{FF2B5EF4-FFF2-40B4-BE49-F238E27FC236}">
                <a16:creationId xmlns:a16="http://schemas.microsoft.com/office/drawing/2014/main" id="{811993B6-26AA-47C2-B201-65514C036DD2}"/>
              </a:ext>
            </a:extLst>
          </p:cNvPr>
          <p:cNvSpPr txBox="1"/>
          <p:nvPr/>
        </p:nvSpPr>
        <p:spPr>
          <a:xfrm>
            <a:off x="8564127" y="4703739"/>
            <a:ext cx="2165208" cy="523220"/>
          </a:xfrm>
          <a:prstGeom prst="rect">
            <a:avLst/>
          </a:prstGeom>
          <a:noFill/>
        </p:spPr>
        <p:txBody>
          <a:bodyPr wrap="none" rtlCol="0">
            <a:spAutoFit/>
          </a:bodyPr>
          <a:lstStyle/>
          <a:p>
            <a:r>
              <a:rPr lang="en-US" sz="2800" dirty="0"/>
              <a:t>Antechamber</a:t>
            </a:r>
          </a:p>
        </p:txBody>
      </p:sp>
      <p:cxnSp>
        <p:nvCxnSpPr>
          <p:cNvPr id="40" name="Straight Arrow Connector 39">
            <a:extLst>
              <a:ext uri="{FF2B5EF4-FFF2-40B4-BE49-F238E27FC236}">
                <a16:creationId xmlns:a16="http://schemas.microsoft.com/office/drawing/2014/main" id="{2F24D652-8256-40DB-BA8C-58083829A3C9}"/>
              </a:ext>
            </a:extLst>
          </p:cNvPr>
          <p:cNvCxnSpPr/>
          <p:nvPr/>
        </p:nvCxnSpPr>
        <p:spPr>
          <a:xfrm flipH="1">
            <a:off x="8078282" y="4965349"/>
            <a:ext cx="455157"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41" name="Line 8">
            <a:extLst>
              <a:ext uri="{FF2B5EF4-FFF2-40B4-BE49-F238E27FC236}">
                <a16:creationId xmlns:a16="http://schemas.microsoft.com/office/drawing/2014/main" id="{285DE255-C722-4231-B4EF-1BC56D27A574}"/>
              </a:ext>
            </a:extLst>
          </p:cNvPr>
          <p:cNvSpPr>
            <a:spLocks noChangeShapeType="1"/>
          </p:cNvSpPr>
          <p:nvPr/>
        </p:nvSpPr>
        <p:spPr bwMode="auto">
          <a:xfrm flipH="1">
            <a:off x="4411994" y="5037357"/>
            <a:ext cx="475701" cy="12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US" dirty="0"/>
              <a:t> </a:t>
            </a:r>
          </a:p>
        </p:txBody>
      </p:sp>
      <p:sp>
        <p:nvSpPr>
          <p:cNvPr id="42" name="Rectangle 41">
            <a:extLst>
              <a:ext uri="{FF2B5EF4-FFF2-40B4-BE49-F238E27FC236}">
                <a16:creationId xmlns:a16="http://schemas.microsoft.com/office/drawing/2014/main" id="{BB914601-FC33-4A2D-8A70-E4EF9864E35D}"/>
              </a:ext>
            </a:extLst>
          </p:cNvPr>
          <p:cNvSpPr>
            <a:spLocks noChangeArrowheads="1"/>
          </p:cNvSpPr>
          <p:nvPr/>
        </p:nvSpPr>
        <p:spPr bwMode="auto">
          <a:xfrm>
            <a:off x="2317642" y="5846847"/>
            <a:ext cx="2460548" cy="38166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altLang="en-US" sz="1400" b="1" dirty="0"/>
              <a:t>MD simulation (</a:t>
            </a:r>
            <a:r>
              <a:rPr lang="en-US" altLang="en-US" sz="1400" b="1" dirty="0" err="1"/>
              <a:t>Gromacs</a:t>
            </a:r>
            <a:r>
              <a:rPr lang="en-US" altLang="en-US" sz="1400" b="1" dirty="0"/>
              <a:t>)</a:t>
            </a:r>
          </a:p>
        </p:txBody>
      </p:sp>
      <p:sp>
        <p:nvSpPr>
          <p:cNvPr id="43" name="Rectangle 42">
            <a:extLst>
              <a:ext uri="{FF2B5EF4-FFF2-40B4-BE49-F238E27FC236}">
                <a16:creationId xmlns:a16="http://schemas.microsoft.com/office/drawing/2014/main" id="{E534F38B-31C7-4C6B-9CD0-0AF9C5143F13}"/>
              </a:ext>
            </a:extLst>
          </p:cNvPr>
          <p:cNvSpPr>
            <a:spLocks noChangeArrowheads="1"/>
          </p:cNvSpPr>
          <p:nvPr/>
        </p:nvSpPr>
        <p:spPr bwMode="auto">
          <a:xfrm>
            <a:off x="2533667" y="4858815"/>
            <a:ext cx="1744626" cy="38166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altLang="en-US" sz="1400" b="1" dirty="0"/>
              <a:t>Convert (ACPYPE)</a:t>
            </a:r>
          </a:p>
        </p:txBody>
      </p:sp>
      <p:sp>
        <p:nvSpPr>
          <p:cNvPr id="44" name="Line 8">
            <a:extLst>
              <a:ext uri="{FF2B5EF4-FFF2-40B4-BE49-F238E27FC236}">
                <a16:creationId xmlns:a16="http://schemas.microsoft.com/office/drawing/2014/main" id="{86F107CF-1F28-47B5-8B31-425BDA9D91C1}"/>
              </a:ext>
            </a:extLst>
          </p:cNvPr>
          <p:cNvSpPr>
            <a:spLocks noChangeShapeType="1"/>
          </p:cNvSpPr>
          <p:nvPr/>
        </p:nvSpPr>
        <p:spPr bwMode="auto">
          <a:xfrm>
            <a:off x="3397762" y="5364031"/>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US" dirty="0"/>
              <a:t> </a:t>
            </a:r>
          </a:p>
        </p:txBody>
      </p:sp>
    </p:spTree>
    <p:extLst>
      <p:ext uri="{BB962C8B-B14F-4D97-AF65-F5344CB8AC3E}">
        <p14:creationId xmlns:p14="http://schemas.microsoft.com/office/powerpoint/2010/main" val="1111760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66560" y="365040"/>
            <a:ext cx="11257560" cy="824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ea typeface="DejaVu Sans"/>
              </a:rPr>
              <a:t>Partial charges: what are they and how to get them</a:t>
            </a:r>
          </a:p>
        </p:txBody>
      </p:sp>
      <p:sp>
        <p:nvSpPr>
          <p:cNvPr id="23" name="Zástupný symbol pro obsah 2">
            <a:extLst>
              <a:ext uri="{FF2B5EF4-FFF2-40B4-BE49-F238E27FC236}">
                <a16:creationId xmlns:a16="http://schemas.microsoft.com/office/drawing/2014/main" id="{B6B530D6-B3F6-45D5-9391-A24BE912255A}"/>
              </a:ext>
            </a:extLst>
          </p:cNvPr>
          <p:cNvSpPr txBox="1">
            <a:spLocks/>
          </p:cNvSpPr>
          <p:nvPr/>
        </p:nvSpPr>
        <p:spPr>
          <a:xfrm>
            <a:off x="400810" y="1189440"/>
            <a:ext cx="11323310" cy="521136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en-US" sz="3200" b="1" dirty="0"/>
              <a:t>Standalone molecule</a:t>
            </a:r>
          </a:p>
          <a:p>
            <a:pPr marL="0" indent="0">
              <a:buFont typeface="Arial" panose="020B0604020202020204" pitchFamily="34" charset="0"/>
              <a:buNone/>
            </a:pPr>
            <a:r>
              <a:rPr lang="en-US" altLang="en-US" sz="2400" dirty="0"/>
              <a:t> – </a:t>
            </a:r>
            <a:r>
              <a:rPr lang="en-US" altLang="en-US" sz="2400" b="1" dirty="0"/>
              <a:t>EASY PEASY!!!</a:t>
            </a:r>
          </a:p>
          <a:p>
            <a:pPr marL="0" indent="0">
              <a:buFont typeface="Arial" panose="020B0604020202020204" pitchFamily="34" charset="0"/>
              <a:buNone/>
            </a:pPr>
            <a:endParaRPr lang="en-US" altLang="en-US" sz="2400" b="1" dirty="0"/>
          </a:p>
          <a:p>
            <a:pPr marL="457200" indent="-457200">
              <a:buFont typeface="+mj-lt"/>
              <a:buAutoNum type="arabicPeriod"/>
            </a:pPr>
            <a:r>
              <a:rPr lang="en-US" altLang="en-US" sz="2400" dirty="0">
                <a:solidFill>
                  <a:srgbClr val="FF0000"/>
                </a:solidFill>
              </a:rPr>
              <a:t>Optimize geometry in </a:t>
            </a:r>
            <a:r>
              <a:rPr lang="en-US" altLang="en-US" sz="2400" i="1" dirty="0">
                <a:solidFill>
                  <a:srgbClr val="FF0000"/>
                </a:solidFill>
              </a:rPr>
              <a:t>Gaussian</a:t>
            </a:r>
          </a:p>
          <a:p>
            <a:pPr marL="457200" indent="-457200">
              <a:buFont typeface="+mj-lt"/>
              <a:buAutoNum type="arabicPeriod"/>
            </a:pPr>
            <a:r>
              <a:rPr lang="en-US" altLang="en-US" sz="2400" dirty="0">
                <a:solidFill>
                  <a:srgbClr val="FF0000"/>
                </a:solidFill>
              </a:rPr>
              <a:t>Make single point calculation in </a:t>
            </a:r>
            <a:r>
              <a:rPr lang="en-US" altLang="en-US" sz="2400" i="1" dirty="0">
                <a:solidFill>
                  <a:srgbClr val="FF0000"/>
                </a:solidFill>
              </a:rPr>
              <a:t>Gaussian</a:t>
            </a:r>
            <a:r>
              <a:rPr lang="en-US" altLang="en-US" sz="2400" dirty="0">
                <a:solidFill>
                  <a:srgbClr val="FF0000"/>
                </a:solidFill>
              </a:rPr>
              <a:t> to get ESP</a:t>
            </a:r>
          </a:p>
          <a:p>
            <a:pPr marL="457200" indent="-457200">
              <a:buFont typeface="+mj-lt"/>
              <a:buAutoNum type="arabicPeriod"/>
            </a:pPr>
            <a:r>
              <a:rPr lang="en-US" altLang="en-US" sz="2400" dirty="0">
                <a:solidFill>
                  <a:srgbClr val="FF0000"/>
                </a:solidFill>
              </a:rPr>
              <a:t>Run </a:t>
            </a:r>
            <a:r>
              <a:rPr lang="en-US" altLang="en-US" sz="2400" i="1" dirty="0">
                <a:solidFill>
                  <a:srgbClr val="FF0000"/>
                </a:solidFill>
              </a:rPr>
              <a:t>Antechamber</a:t>
            </a:r>
            <a:r>
              <a:rPr lang="en-US" altLang="en-US" sz="2400" dirty="0">
                <a:solidFill>
                  <a:srgbClr val="FF0000"/>
                </a:solidFill>
              </a:rPr>
              <a:t> to derive FF params (one command line)</a:t>
            </a:r>
          </a:p>
          <a:p>
            <a:pPr marL="457200" indent="-457200">
              <a:buFont typeface="+mj-lt"/>
              <a:buAutoNum type="arabicPeriod"/>
            </a:pPr>
            <a:r>
              <a:rPr lang="en-US" altLang="en-US" sz="2400" dirty="0"/>
              <a:t>Export to amber style parameter and input coordinate files</a:t>
            </a:r>
          </a:p>
          <a:p>
            <a:pPr marL="457200" indent="-457200">
              <a:buFont typeface="+mj-lt"/>
              <a:buAutoNum type="arabicPeriod"/>
            </a:pPr>
            <a:r>
              <a:rPr lang="en-US" altLang="en-US" sz="2400" dirty="0"/>
              <a:t>Convert using </a:t>
            </a:r>
            <a:r>
              <a:rPr lang="en-US" altLang="en-US" sz="2400" i="1" dirty="0" err="1"/>
              <a:t>Acpype</a:t>
            </a:r>
            <a:endParaRPr lang="en-US" altLang="en-US" sz="2400" i="1" dirty="0"/>
          </a:p>
          <a:p>
            <a:pPr marL="457200" indent="-457200">
              <a:buFont typeface="+mj-lt"/>
              <a:buAutoNum type="arabicPeriod"/>
            </a:pPr>
            <a:endParaRPr lang="en-US" altLang="en-US" sz="2400" i="1" dirty="0"/>
          </a:p>
          <a:p>
            <a:r>
              <a:rPr lang="en-US" sz="2400" b="1" i="1" dirty="0"/>
              <a:t>TASK1</a:t>
            </a:r>
            <a:r>
              <a:rPr lang="en-US" sz="2400" dirty="0"/>
              <a:t> </a:t>
            </a:r>
            <a:r>
              <a:rPr lang="en-US" sz="2400" dirty="0">
                <a:latin typeface="Courier New" panose="02070309020205020404" pitchFamily="49" charset="0"/>
                <a:cs typeface="Courier New" panose="02070309020205020404" pitchFamily="49" charset="0"/>
              </a:rPr>
              <a:t>-&gt;</a:t>
            </a:r>
            <a:r>
              <a:rPr lang="en-US" sz="2400" dirty="0"/>
              <a:t> Prepare FF parameters for hydrogen phosphate (HPO42-)</a:t>
            </a:r>
            <a:endParaRPr lang="en-US" altLang="en-US" sz="2400" i="1" dirty="0"/>
          </a:p>
          <a:p>
            <a:pPr marL="0" indent="0">
              <a:buFont typeface="Arial" panose="020B0604020202020204" pitchFamily="34" charset="0"/>
              <a:buNone/>
            </a:pPr>
            <a:endParaRPr lang="en-US" altLang="en-US" sz="1400" dirty="0"/>
          </a:p>
        </p:txBody>
      </p:sp>
      <p:pic>
        <p:nvPicPr>
          <p:cNvPr id="3" name="Picture 2">
            <a:extLst>
              <a:ext uri="{FF2B5EF4-FFF2-40B4-BE49-F238E27FC236}">
                <a16:creationId xmlns:a16="http://schemas.microsoft.com/office/drawing/2014/main" id="{A88817B5-0B67-4CD0-91DD-B1C7616E532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768" r="28550"/>
          <a:stretch/>
        </p:blipFill>
        <p:spPr>
          <a:xfrm>
            <a:off x="8896045" y="1189440"/>
            <a:ext cx="2533953" cy="2351428"/>
          </a:xfrm>
          <a:prstGeom prst="rect">
            <a:avLst/>
          </a:prstGeom>
        </p:spPr>
      </p:pic>
    </p:spTree>
    <p:extLst>
      <p:ext uri="{BB962C8B-B14F-4D97-AF65-F5344CB8AC3E}">
        <p14:creationId xmlns:p14="http://schemas.microsoft.com/office/powerpoint/2010/main" val="1689879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66560" y="365040"/>
            <a:ext cx="11257560" cy="824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ea typeface="DejaVu Sans"/>
              </a:rPr>
              <a:t>Partial charges: what are they and how to get them</a:t>
            </a:r>
          </a:p>
        </p:txBody>
      </p:sp>
      <p:sp>
        <p:nvSpPr>
          <p:cNvPr id="23" name="Zástupný symbol pro obsah 2">
            <a:extLst>
              <a:ext uri="{FF2B5EF4-FFF2-40B4-BE49-F238E27FC236}">
                <a16:creationId xmlns:a16="http://schemas.microsoft.com/office/drawing/2014/main" id="{B6B530D6-B3F6-45D5-9391-A24BE912255A}"/>
              </a:ext>
            </a:extLst>
          </p:cNvPr>
          <p:cNvSpPr txBox="1">
            <a:spLocks/>
          </p:cNvSpPr>
          <p:nvPr/>
        </p:nvSpPr>
        <p:spPr>
          <a:xfrm>
            <a:off x="400810" y="1189440"/>
            <a:ext cx="11323310" cy="521136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en-US" sz="2400" b="1" dirty="0"/>
              <a:t>GAUSSIAN </a:t>
            </a:r>
            <a:r>
              <a:rPr lang="cs-CZ" altLang="en-US" sz="2400" b="1" dirty="0"/>
              <a:t>input</a:t>
            </a:r>
            <a:r>
              <a:rPr lang="en-US" altLang="en-US" sz="2400" b="1" dirty="0"/>
              <a:t>:</a:t>
            </a:r>
          </a:p>
          <a:p>
            <a:pPr marL="0" indent="0">
              <a:buFont typeface="Arial" panose="020B0604020202020204" pitchFamily="34" charset="0"/>
              <a:buNone/>
            </a:pPr>
            <a:endParaRPr lang="cs-CZ" altLang="en-US" sz="800" dirty="0"/>
          </a:p>
          <a:p>
            <a:pPr marL="0" indent="0">
              <a:buFont typeface="Arial" panose="020B0604020202020204" pitchFamily="34" charset="0"/>
              <a:buNone/>
            </a:pPr>
            <a:r>
              <a:rPr lang="en-US" altLang="en-US" sz="1400" dirty="0"/>
              <a:t>%mem=7000MB</a:t>
            </a:r>
            <a:r>
              <a:rPr lang="cs-CZ" altLang="en-US" sz="1400" dirty="0"/>
              <a:t>			</a:t>
            </a:r>
            <a:r>
              <a:rPr lang="cs-CZ" altLang="en-US" sz="1400" b="1" dirty="0"/>
              <a:t>-- </a:t>
            </a:r>
            <a:r>
              <a:rPr lang="cs-CZ" altLang="en-US" sz="1400" b="1" dirty="0" err="1"/>
              <a:t>memory</a:t>
            </a:r>
            <a:r>
              <a:rPr lang="cs-CZ" altLang="en-US" sz="1400" b="1" dirty="0"/>
              <a:t> </a:t>
            </a:r>
            <a:r>
              <a:rPr lang="cs-CZ" altLang="en-US" sz="1400" b="1" dirty="0" err="1"/>
              <a:t>specification</a:t>
            </a:r>
            <a:endParaRPr lang="cs-CZ" altLang="en-US" sz="1400" b="1" dirty="0"/>
          </a:p>
          <a:p>
            <a:pPr marL="0" indent="0">
              <a:buFont typeface="Arial" panose="020B0604020202020204" pitchFamily="34" charset="0"/>
              <a:buNone/>
            </a:pPr>
            <a:r>
              <a:rPr lang="en-US" altLang="en-US" sz="1400" dirty="0"/>
              <a:t>%</a:t>
            </a:r>
            <a:r>
              <a:rPr lang="en-US" altLang="en-US" sz="1400" dirty="0" err="1"/>
              <a:t>nproc</a:t>
            </a:r>
            <a:r>
              <a:rPr lang="en-US" altLang="en-US" sz="1400" dirty="0"/>
              <a:t>=4</a:t>
            </a:r>
            <a:r>
              <a:rPr lang="cs-CZ" altLang="en-US" sz="1400" dirty="0"/>
              <a:t>				</a:t>
            </a:r>
            <a:r>
              <a:rPr lang="cs-CZ" altLang="en-US" sz="1400" b="1" dirty="0"/>
              <a:t>-- </a:t>
            </a:r>
            <a:r>
              <a:rPr lang="cs-CZ" altLang="en-US" sz="1400" b="1" dirty="0" err="1"/>
              <a:t>number</a:t>
            </a:r>
            <a:r>
              <a:rPr lang="cs-CZ" altLang="en-US" sz="1400" b="1" dirty="0"/>
              <a:t> </a:t>
            </a:r>
            <a:r>
              <a:rPr lang="cs-CZ" altLang="en-US" sz="1400" b="1" dirty="0" err="1"/>
              <a:t>of</a:t>
            </a:r>
            <a:r>
              <a:rPr lang="cs-CZ" altLang="en-US" sz="1400" b="1" dirty="0"/>
              <a:t> </a:t>
            </a:r>
            <a:r>
              <a:rPr lang="cs-CZ" altLang="en-US" sz="1400" b="1" dirty="0" err="1"/>
              <a:t>processors</a:t>
            </a:r>
            <a:r>
              <a:rPr lang="cs-CZ" altLang="en-US" sz="1400" b="1" dirty="0"/>
              <a:t> (max 16 </a:t>
            </a:r>
            <a:r>
              <a:rPr lang="cs-CZ" altLang="en-US" sz="1400" b="1" dirty="0" err="1"/>
              <a:t>reccom</a:t>
            </a:r>
            <a:r>
              <a:rPr lang="cs-CZ" altLang="en-US" sz="1400" b="1" dirty="0"/>
              <a:t>.)</a:t>
            </a:r>
          </a:p>
          <a:p>
            <a:pPr marL="0" indent="0">
              <a:buFont typeface="Arial" panose="020B0604020202020204" pitchFamily="34" charset="0"/>
              <a:buNone/>
            </a:pPr>
            <a:r>
              <a:rPr lang="en-US" altLang="en-US" sz="1400" dirty="0"/>
              <a:t>%</a:t>
            </a:r>
            <a:r>
              <a:rPr lang="en-US" altLang="en-US" sz="1400" dirty="0" err="1"/>
              <a:t>chk</a:t>
            </a:r>
            <a:r>
              <a:rPr lang="en-US" altLang="en-US" sz="1400" dirty="0"/>
              <a:t>=resp_b3lyp-opt</a:t>
            </a:r>
            <a:r>
              <a:rPr lang="cs-CZ" altLang="en-US" sz="1400" dirty="0"/>
              <a:t>			</a:t>
            </a:r>
            <a:r>
              <a:rPr lang="cs-CZ" altLang="en-US" sz="1400" b="1" dirty="0"/>
              <a:t>-- checkpoint </a:t>
            </a:r>
            <a:r>
              <a:rPr lang="cs-CZ" altLang="en-US" sz="1400" b="1" dirty="0" err="1"/>
              <a:t>file</a:t>
            </a:r>
            <a:r>
              <a:rPr lang="cs-CZ" altLang="en-US" sz="1400" b="1" dirty="0"/>
              <a:t> </a:t>
            </a:r>
            <a:r>
              <a:rPr lang="cs-CZ" altLang="en-US" sz="1400" b="1" dirty="0" err="1"/>
              <a:t>name</a:t>
            </a:r>
            <a:r>
              <a:rPr lang="cs-CZ" altLang="en-US" sz="1400" b="1" dirty="0"/>
              <a:t> </a:t>
            </a:r>
            <a:r>
              <a:rPr lang="cs-CZ" altLang="en-US" sz="1400" b="1" dirty="0" err="1"/>
              <a:t>spec</a:t>
            </a:r>
            <a:r>
              <a:rPr lang="cs-CZ" altLang="en-US" sz="1400" b="1" dirty="0"/>
              <a:t>.</a:t>
            </a:r>
          </a:p>
          <a:p>
            <a:pPr marL="0" indent="0">
              <a:buFont typeface="Arial" panose="020B0604020202020204" pitchFamily="34" charset="0"/>
              <a:buNone/>
            </a:pPr>
            <a:r>
              <a:rPr lang="en-US" altLang="en-US" sz="1400" dirty="0"/>
              <a:t>#</a:t>
            </a:r>
            <a:r>
              <a:rPr lang="cs-CZ" altLang="en-US" sz="1400" dirty="0"/>
              <a:t>P </a:t>
            </a:r>
            <a:r>
              <a:rPr lang="en-US" altLang="en-US" sz="1400" dirty="0"/>
              <a:t>B3LYP/6-31G* opt </a:t>
            </a:r>
            <a:r>
              <a:rPr lang="en-US" altLang="en-US" sz="1400" dirty="0" err="1"/>
              <a:t>scf</a:t>
            </a:r>
            <a:r>
              <a:rPr lang="en-US" altLang="en-US" sz="1400" dirty="0"/>
              <a:t>=tight </a:t>
            </a:r>
            <a:r>
              <a:rPr lang="en-US" altLang="en-US" sz="1400" dirty="0" err="1"/>
              <a:t>freq</a:t>
            </a:r>
            <a:r>
              <a:rPr lang="en-US" altLang="en-US" sz="1400" dirty="0"/>
              <a:t>=</a:t>
            </a:r>
            <a:r>
              <a:rPr lang="en-US" altLang="en-US" sz="1400" dirty="0" err="1"/>
              <a:t>NoRaman</a:t>
            </a:r>
            <a:r>
              <a:rPr lang="cs-CZ" altLang="en-US" sz="1400" dirty="0"/>
              <a:t>	</a:t>
            </a:r>
            <a:r>
              <a:rPr lang="cs-CZ" altLang="en-US" sz="1400" b="1" dirty="0"/>
              <a:t>-- </a:t>
            </a:r>
            <a:r>
              <a:rPr lang="cs-CZ" altLang="en-US" sz="1400" b="1" dirty="0" err="1"/>
              <a:t>method</a:t>
            </a:r>
            <a:r>
              <a:rPr lang="cs-CZ" altLang="en-US" sz="1400" b="1" dirty="0"/>
              <a:t>/</a:t>
            </a:r>
            <a:r>
              <a:rPr lang="cs-CZ" altLang="en-US" sz="1400" b="1" dirty="0" err="1"/>
              <a:t>basis</a:t>
            </a:r>
            <a:r>
              <a:rPr lang="cs-CZ" altLang="en-US" sz="1400" b="1" dirty="0"/>
              <a:t> set, </a:t>
            </a:r>
            <a:r>
              <a:rPr lang="cs-CZ" altLang="en-US" sz="1400" b="1" dirty="0" err="1"/>
              <a:t>optimization</a:t>
            </a:r>
            <a:r>
              <a:rPr lang="cs-CZ" altLang="en-US" sz="1400" b="1" dirty="0"/>
              <a:t>, </a:t>
            </a:r>
            <a:r>
              <a:rPr lang="cs-CZ" altLang="en-US" sz="1400" b="1" dirty="0" err="1"/>
              <a:t>tighter</a:t>
            </a:r>
            <a:r>
              <a:rPr lang="cs-CZ" altLang="en-US" sz="1400" dirty="0"/>
              <a:t> </a:t>
            </a:r>
          </a:p>
          <a:p>
            <a:pPr marL="0" indent="0">
              <a:buFont typeface="Arial" panose="020B0604020202020204" pitchFamily="34" charset="0"/>
              <a:buNone/>
            </a:pPr>
            <a:r>
              <a:rPr lang="cs-CZ" altLang="en-US" sz="1400" dirty="0"/>
              <a:t>					</a:t>
            </a:r>
            <a:r>
              <a:rPr lang="cs-CZ" altLang="en-US" sz="1400" b="1" dirty="0" err="1"/>
              <a:t>convergence</a:t>
            </a:r>
            <a:r>
              <a:rPr lang="cs-CZ" altLang="en-US" sz="1400" b="1" dirty="0"/>
              <a:t> </a:t>
            </a:r>
            <a:r>
              <a:rPr lang="cs-CZ" altLang="en-US" sz="1400" b="1" dirty="0" err="1"/>
              <a:t>crit</a:t>
            </a:r>
            <a:r>
              <a:rPr lang="cs-CZ" altLang="en-US" sz="1400" b="1" dirty="0"/>
              <a:t>., </a:t>
            </a:r>
            <a:r>
              <a:rPr lang="cs-CZ" altLang="en-US" sz="1400" b="1" dirty="0" err="1"/>
              <a:t>time-saving</a:t>
            </a:r>
            <a:r>
              <a:rPr lang="cs-CZ" altLang="en-US" sz="1400" b="1" dirty="0"/>
              <a:t> </a:t>
            </a:r>
            <a:r>
              <a:rPr lang="cs-CZ" altLang="en-US" sz="1400" b="1" dirty="0" err="1"/>
              <a:t>option</a:t>
            </a:r>
            <a:endParaRPr lang="cs-CZ" altLang="en-US" sz="1400" b="1" dirty="0"/>
          </a:p>
          <a:p>
            <a:pPr marL="0" indent="0">
              <a:buFont typeface="Arial" panose="020B0604020202020204" pitchFamily="34" charset="0"/>
              <a:buNone/>
            </a:pPr>
            <a:r>
              <a:rPr lang="cs-CZ" altLang="en-US" sz="1400" dirty="0"/>
              <a:t>h</a:t>
            </a:r>
            <a:r>
              <a:rPr lang="pt-BR" altLang="en-US" sz="1400" dirty="0"/>
              <a:t>po42</a:t>
            </a:r>
            <a:r>
              <a:rPr lang="cs-CZ" altLang="en-US" sz="1400" dirty="0"/>
              <a:t>-					</a:t>
            </a:r>
            <a:r>
              <a:rPr lang="cs-CZ" altLang="en-US" sz="1400" b="1" dirty="0"/>
              <a:t>-- </a:t>
            </a:r>
            <a:r>
              <a:rPr lang="cs-CZ" altLang="en-US" sz="1400" b="1" dirty="0" err="1"/>
              <a:t>custom</a:t>
            </a:r>
            <a:r>
              <a:rPr lang="cs-CZ" altLang="en-US" sz="1400" b="1" dirty="0"/>
              <a:t> </a:t>
            </a:r>
            <a:r>
              <a:rPr lang="cs-CZ" altLang="en-US" sz="1400" b="1" dirty="0" err="1"/>
              <a:t>name</a:t>
            </a:r>
            <a:endParaRPr lang="cs-CZ" altLang="en-US" sz="1400" b="1" dirty="0"/>
          </a:p>
          <a:p>
            <a:pPr marL="0" indent="0">
              <a:buFont typeface="Arial" panose="020B0604020202020204" pitchFamily="34" charset="0"/>
              <a:buNone/>
            </a:pPr>
            <a:endParaRPr lang="cs-CZ" altLang="en-US" sz="1400" dirty="0"/>
          </a:p>
          <a:p>
            <a:pPr marL="0" indent="0">
              <a:buFont typeface="Arial" panose="020B0604020202020204" pitchFamily="34" charset="0"/>
              <a:buNone/>
            </a:pPr>
            <a:r>
              <a:rPr lang="cs-CZ" altLang="en-US" sz="1400" dirty="0"/>
              <a:t>-</a:t>
            </a:r>
            <a:r>
              <a:rPr lang="pt-BR" altLang="en-US" sz="1400" dirty="0"/>
              <a:t>2</a:t>
            </a:r>
            <a:r>
              <a:rPr lang="cs-CZ" altLang="en-US" sz="1400" dirty="0"/>
              <a:t> </a:t>
            </a:r>
            <a:r>
              <a:rPr lang="pt-BR" altLang="en-US" sz="1400" dirty="0"/>
              <a:t> 1</a:t>
            </a:r>
            <a:r>
              <a:rPr lang="cs-CZ" altLang="en-US" sz="1400" dirty="0"/>
              <a:t>					</a:t>
            </a:r>
            <a:r>
              <a:rPr lang="cs-CZ" altLang="en-US" sz="1400" b="1" dirty="0"/>
              <a:t>-- </a:t>
            </a:r>
            <a:r>
              <a:rPr lang="cs-CZ" altLang="en-US" sz="1400" b="1" dirty="0" err="1"/>
              <a:t>charge</a:t>
            </a:r>
            <a:r>
              <a:rPr lang="cs-CZ" altLang="en-US" sz="1400" b="1" dirty="0"/>
              <a:t>, spin</a:t>
            </a:r>
          </a:p>
          <a:p>
            <a:pPr marL="0" indent="0">
              <a:buFont typeface="Arial" panose="020B0604020202020204" pitchFamily="34" charset="0"/>
              <a:buNone/>
            </a:pPr>
            <a:r>
              <a:rPr lang="pt-BR" altLang="en-US" sz="1400" dirty="0"/>
              <a:t>P    1.183   1.676   0.035</a:t>
            </a:r>
            <a:r>
              <a:rPr lang="cs-CZ" altLang="en-US" sz="1400" dirty="0"/>
              <a:t>			</a:t>
            </a:r>
            <a:r>
              <a:rPr lang="cs-CZ" altLang="en-US" sz="1400" b="1" dirty="0"/>
              <a:t>-- element symbol, </a:t>
            </a:r>
            <a:r>
              <a:rPr lang="cs-CZ" altLang="en-US" sz="1400" b="1" dirty="0" err="1"/>
              <a:t>xyz</a:t>
            </a:r>
            <a:r>
              <a:rPr lang="cs-CZ" altLang="en-US" sz="1400" b="1" dirty="0"/>
              <a:t> (Å)</a:t>
            </a:r>
          </a:p>
          <a:p>
            <a:pPr marL="0" indent="0">
              <a:buFont typeface="Arial" panose="020B0604020202020204" pitchFamily="34" charset="0"/>
              <a:buNone/>
            </a:pPr>
            <a:r>
              <a:rPr lang="pt-BR" altLang="en-US" sz="1400" dirty="0"/>
              <a:t>O    1.834   0.348   0.618</a:t>
            </a:r>
            <a:endParaRPr lang="cs-CZ" altLang="en-US" sz="1400" dirty="0"/>
          </a:p>
          <a:p>
            <a:pPr marL="0" indent="0">
              <a:buFont typeface="Arial" panose="020B0604020202020204" pitchFamily="34" charset="0"/>
              <a:buNone/>
            </a:pPr>
            <a:r>
              <a:rPr lang="pt-BR" altLang="en-US" sz="1400" dirty="0"/>
              <a:t>O   -0.399   1.584   0.122</a:t>
            </a:r>
            <a:endParaRPr lang="cs-CZ" altLang="en-US" sz="1400" dirty="0"/>
          </a:p>
          <a:p>
            <a:pPr marL="0" indent="0">
              <a:buFont typeface="Arial" panose="020B0604020202020204" pitchFamily="34" charset="0"/>
              <a:buNone/>
            </a:pPr>
            <a:r>
              <a:rPr lang="pt-BR" altLang="en-US" sz="1400" dirty="0"/>
              <a:t>O    1.612   1.834  -1.489</a:t>
            </a:r>
            <a:endParaRPr lang="cs-CZ" altLang="en-US" sz="1400" dirty="0"/>
          </a:p>
          <a:p>
            <a:pPr marL="0" indent="0">
              <a:buFont typeface="Arial" panose="020B0604020202020204" pitchFamily="34" charset="0"/>
              <a:buNone/>
            </a:pPr>
            <a:r>
              <a:rPr lang="pt-BR" altLang="en-US" sz="1400" dirty="0"/>
              <a:t>O    1.708   2.964   0.817</a:t>
            </a:r>
            <a:endParaRPr lang="cs-CZ" altLang="en-US" sz="1400" dirty="0"/>
          </a:p>
          <a:p>
            <a:pPr marL="0" indent="0">
              <a:buFont typeface="Arial" panose="020B0604020202020204" pitchFamily="34" charset="0"/>
              <a:buNone/>
            </a:pPr>
            <a:r>
              <a:rPr lang="pt-BR" altLang="en-US" sz="1400" dirty="0"/>
              <a:t>H    1.676   0.244   1.577</a:t>
            </a:r>
            <a:endParaRPr lang="en-US" altLang="en-US" sz="1400" dirty="0"/>
          </a:p>
        </p:txBody>
      </p:sp>
    </p:spTree>
    <p:extLst>
      <p:ext uri="{BB962C8B-B14F-4D97-AF65-F5344CB8AC3E}">
        <p14:creationId xmlns:p14="http://schemas.microsoft.com/office/powerpoint/2010/main" val="2628669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66560" y="365040"/>
            <a:ext cx="11257560" cy="824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ea typeface="DejaVu Sans"/>
              </a:rPr>
              <a:t>Partial charges: what are they and how to get them</a:t>
            </a:r>
          </a:p>
        </p:txBody>
      </p:sp>
      <p:sp>
        <p:nvSpPr>
          <p:cNvPr id="5" name="Zástupný symbol pro obsah 2">
            <a:extLst>
              <a:ext uri="{FF2B5EF4-FFF2-40B4-BE49-F238E27FC236}">
                <a16:creationId xmlns:a16="http://schemas.microsoft.com/office/drawing/2014/main" id="{EAD30299-1E29-4EC3-9DCC-88D342A90326}"/>
              </a:ext>
            </a:extLst>
          </p:cNvPr>
          <p:cNvSpPr txBox="1">
            <a:spLocks/>
          </p:cNvSpPr>
          <p:nvPr/>
        </p:nvSpPr>
        <p:spPr>
          <a:xfrm>
            <a:off x="466560" y="1412776"/>
            <a:ext cx="11257560" cy="53285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US" altLang="en-US" sz="2400" b="1"/>
              <a:t>GAUSSIAN keywords:</a:t>
            </a:r>
          </a:p>
          <a:p>
            <a:pPr marL="0" indent="0" eaLnBrk="0" fontAlgn="base" hangingPunct="0">
              <a:spcBef>
                <a:spcPct val="0"/>
              </a:spcBef>
              <a:spcAft>
                <a:spcPct val="0"/>
              </a:spcAft>
              <a:buFont typeface="Arial" panose="020B0604020202020204" pitchFamily="34" charset="0"/>
              <a:buNone/>
            </a:pPr>
            <a:r>
              <a:rPr lang="en-US" altLang="en-US" sz="2400">
                <a:latin typeface="+mj-lt"/>
              </a:rPr>
              <a:t>#P HF/6-31G* Geom=check SCF=Tight Pop=MK IOp(</a:t>
            </a:r>
            <a:r>
              <a:rPr lang="en-US" altLang="en-US" sz="2400" b="1">
                <a:latin typeface="+mj-lt"/>
              </a:rPr>
              <a:t>6/33=2,</a:t>
            </a:r>
            <a:r>
              <a:rPr lang="en-US" altLang="en-US" sz="2400" b="1"/>
              <a:t> 6/50=1</a:t>
            </a:r>
            <a:r>
              <a:rPr lang="en-US" altLang="en-US" sz="2400"/>
              <a:t>,</a:t>
            </a:r>
            <a:r>
              <a:rPr lang="en-US" altLang="en-US" sz="2400">
                <a:latin typeface="+mj-lt"/>
              </a:rPr>
              <a:t>6/41=10,6/42=17)</a:t>
            </a:r>
            <a:r>
              <a:rPr lang="en-US" altLang="en-US" sz="800">
                <a:latin typeface="+mj-lt"/>
              </a:rPr>
              <a:t> </a:t>
            </a:r>
            <a:endParaRPr lang="en-US" altLang="en-US" sz="4800">
              <a:latin typeface="+mj-lt"/>
            </a:endParaRPr>
          </a:p>
          <a:p>
            <a:pPr>
              <a:buFont typeface="Wingdings" panose="05000000000000000000" pitchFamily="2" charset="2"/>
              <a:buNone/>
            </a:pPr>
            <a:endParaRPr lang="en-US" sz="800"/>
          </a:p>
          <a:p>
            <a:r>
              <a:rPr lang="en-US" altLang="en-US" sz="1800" b="1"/>
              <a:t>Geom=check </a:t>
            </a:r>
            <a:r>
              <a:rPr lang="en-US" altLang="en-US" sz="1800"/>
              <a:t>– takes coordinates from checkpoint file</a:t>
            </a:r>
          </a:p>
          <a:p>
            <a:r>
              <a:rPr lang="en-US" altLang="en-US" sz="1800" b="1"/>
              <a:t>SCF=Tight </a:t>
            </a:r>
            <a:r>
              <a:rPr lang="en-US" altLang="en-US" sz="1800"/>
              <a:t>– SCF procedure convergence criterion</a:t>
            </a:r>
          </a:p>
          <a:p>
            <a:r>
              <a:rPr lang="en-US" altLang="en-US" sz="1800" b="1"/>
              <a:t>Pop=MK</a:t>
            </a:r>
            <a:r>
              <a:rPr lang="en-US" altLang="en-US" sz="1800"/>
              <a:t> - </a:t>
            </a:r>
            <a:r>
              <a:rPr lang="en-US" sz="1800"/>
              <a:t>Produce charges fit to the electrostatic potential at points selected according to the Merz-Singh-Kollman scheme</a:t>
            </a:r>
            <a:endParaRPr lang="en-US" sz="1800" b="1"/>
          </a:p>
          <a:p>
            <a:r>
              <a:rPr lang="en-US" sz="1800" b="1"/>
              <a:t>IOp 6/33=2 </a:t>
            </a:r>
            <a:r>
              <a:rPr lang="en-US" sz="1800"/>
              <a:t>makes Gaussian write out the potential points and the potentials - </a:t>
            </a:r>
            <a:r>
              <a:rPr lang="en-US" sz="1800" b="1" i="1"/>
              <a:t>Do not change.</a:t>
            </a:r>
            <a:endParaRPr lang="cs-CZ" sz="1800" b="1" i="1"/>
          </a:p>
          <a:p>
            <a:r>
              <a:rPr lang="cs-CZ" altLang="en-US" sz="1800" b="1"/>
              <a:t>IOp 6/50=1</a:t>
            </a:r>
            <a:r>
              <a:rPr lang="cs-CZ" altLang="en-US" sz="1800"/>
              <a:t> generates </a:t>
            </a:r>
            <a:r>
              <a:rPr lang="en-US" sz="1800"/>
              <a:t>data file for Antechamber</a:t>
            </a:r>
            <a:endParaRPr lang="en-US" altLang="en-US" sz="1800"/>
          </a:p>
          <a:p>
            <a:r>
              <a:rPr lang="en-US" sz="1800" b="1"/>
              <a:t>IOp 6/41=10 </a:t>
            </a:r>
            <a:r>
              <a:rPr lang="en-US" sz="1800"/>
              <a:t>specifies that 10 concentric layers of points are used for each atom.</a:t>
            </a:r>
          </a:p>
          <a:p>
            <a:r>
              <a:rPr lang="en-US" sz="1800" b="1"/>
              <a:t>IOp 6/42=17 </a:t>
            </a:r>
            <a:r>
              <a:rPr lang="en-US" sz="1800"/>
              <a:t>specifies the density points in each layer - 17 gives 2500 points per atom. For larger molecules it may be necessary to reduce this slightly. The maximum number of ESP points that RESP can utilize is 99,999. The value of 17 can be reduced to any integer value.</a:t>
            </a:r>
            <a:endParaRPr lang="cs-CZ" sz="1800" dirty="0"/>
          </a:p>
        </p:txBody>
      </p:sp>
    </p:spTree>
    <p:extLst>
      <p:ext uri="{BB962C8B-B14F-4D97-AF65-F5344CB8AC3E}">
        <p14:creationId xmlns:p14="http://schemas.microsoft.com/office/powerpoint/2010/main" val="86678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66560" y="365040"/>
            <a:ext cx="11257560" cy="824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ea typeface="DejaVu Sans"/>
              </a:rPr>
              <a:t>Partial charges: what are they and how to get them</a:t>
            </a:r>
          </a:p>
        </p:txBody>
      </p:sp>
      <p:sp>
        <p:nvSpPr>
          <p:cNvPr id="8" name="Zástupný symbol pro obsah 2">
            <a:extLst>
              <a:ext uri="{FF2B5EF4-FFF2-40B4-BE49-F238E27FC236}">
                <a16:creationId xmlns:a16="http://schemas.microsoft.com/office/drawing/2014/main" id="{7C71E776-02C2-479D-9B98-DF83F82F438E}"/>
              </a:ext>
            </a:extLst>
          </p:cNvPr>
          <p:cNvSpPr txBox="1">
            <a:spLocks/>
          </p:cNvSpPr>
          <p:nvPr/>
        </p:nvSpPr>
        <p:spPr>
          <a:xfrm>
            <a:off x="466559" y="1189440"/>
            <a:ext cx="11459551" cy="5328592"/>
          </a:xfrm>
          <a:prstGeom prst="rect">
            <a:avLst/>
          </a:prstGeom>
          <a:solidFill>
            <a:schemeClr val="bg1"/>
          </a:solidFill>
        </p:spPr>
        <p:txBody>
          <a:bodyPr numCol="2">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en-US" sz="1400" b="1" dirty="0"/>
              <a:t>%mem=7000MB</a:t>
            </a:r>
            <a:endParaRPr lang="cs-CZ" altLang="en-US" sz="1400" b="1" dirty="0"/>
          </a:p>
          <a:p>
            <a:pPr marL="0" indent="0">
              <a:buFont typeface="Arial" panose="020B0604020202020204" pitchFamily="34" charset="0"/>
              <a:buNone/>
            </a:pPr>
            <a:r>
              <a:rPr lang="en-US" altLang="en-US" sz="1400" b="1" dirty="0"/>
              <a:t>%</a:t>
            </a:r>
            <a:r>
              <a:rPr lang="en-US" altLang="en-US" sz="1400" b="1" dirty="0" err="1"/>
              <a:t>nproc</a:t>
            </a:r>
            <a:r>
              <a:rPr lang="en-US" altLang="en-US" sz="1400" b="1" dirty="0"/>
              <a:t>=4</a:t>
            </a:r>
            <a:endParaRPr lang="cs-CZ" altLang="en-US" sz="1400" b="1" dirty="0"/>
          </a:p>
          <a:p>
            <a:pPr marL="0" indent="0">
              <a:buFont typeface="Arial" panose="020B0604020202020204" pitchFamily="34" charset="0"/>
              <a:buNone/>
            </a:pPr>
            <a:r>
              <a:rPr lang="en-US" altLang="en-US" sz="1400" b="1" dirty="0"/>
              <a:t>%</a:t>
            </a:r>
            <a:r>
              <a:rPr lang="en-US" altLang="en-US" sz="1400" b="1" dirty="0" err="1"/>
              <a:t>chk</a:t>
            </a:r>
            <a:r>
              <a:rPr lang="en-US" altLang="en-US" sz="1400" b="1" dirty="0"/>
              <a:t>=resp_b3lyp-opt</a:t>
            </a:r>
            <a:endParaRPr lang="cs-CZ" altLang="en-US" sz="1400" b="1" dirty="0"/>
          </a:p>
          <a:p>
            <a:pPr marL="0" indent="0">
              <a:buFont typeface="Arial" panose="020B0604020202020204" pitchFamily="34" charset="0"/>
              <a:buNone/>
            </a:pPr>
            <a:r>
              <a:rPr lang="en-US" altLang="en-US" sz="1400" b="1" dirty="0"/>
              <a:t>#</a:t>
            </a:r>
            <a:r>
              <a:rPr lang="cs-CZ" altLang="en-US" sz="1400" b="1" dirty="0"/>
              <a:t>P </a:t>
            </a:r>
            <a:r>
              <a:rPr lang="en-US" altLang="en-US" sz="1400" b="1" dirty="0"/>
              <a:t>B3LYP/6-31G* opt </a:t>
            </a:r>
            <a:r>
              <a:rPr lang="en-US" altLang="en-US" sz="1400" b="1" dirty="0" err="1"/>
              <a:t>scf</a:t>
            </a:r>
            <a:r>
              <a:rPr lang="en-US" altLang="en-US" sz="1400" b="1" dirty="0"/>
              <a:t>=tight </a:t>
            </a:r>
            <a:r>
              <a:rPr lang="en-US" altLang="en-US" sz="1400" b="1" dirty="0" err="1"/>
              <a:t>freq</a:t>
            </a:r>
            <a:r>
              <a:rPr lang="en-US" altLang="en-US" sz="1400" b="1" dirty="0"/>
              <a:t>=</a:t>
            </a:r>
            <a:r>
              <a:rPr lang="en-US" altLang="en-US" sz="1400" b="1" dirty="0" err="1"/>
              <a:t>NoRaman</a:t>
            </a:r>
            <a:endParaRPr lang="cs-CZ" altLang="en-US" sz="1400" b="1" dirty="0"/>
          </a:p>
          <a:p>
            <a:pPr marL="0" indent="0">
              <a:buFont typeface="Arial" panose="020B0604020202020204" pitchFamily="34" charset="0"/>
              <a:buNone/>
            </a:pPr>
            <a:endParaRPr lang="cs-CZ" altLang="en-US" sz="1400" b="1" dirty="0"/>
          </a:p>
          <a:p>
            <a:pPr marL="0" indent="0">
              <a:buFont typeface="Arial" panose="020B0604020202020204" pitchFamily="34" charset="0"/>
              <a:buNone/>
            </a:pPr>
            <a:r>
              <a:rPr lang="en-US" altLang="en-US" sz="1400" b="1" dirty="0"/>
              <a:t>hpo42-</a:t>
            </a:r>
            <a:endParaRPr lang="cs-CZ" altLang="en-US" sz="1400" b="1" dirty="0"/>
          </a:p>
          <a:p>
            <a:pPr marL="0" indent="0">
              <a:buFont typeface="Arial" panose="020B0604020202020204" pitchFamily="34" charset="0"/>
              <a:buNone/>
            </a:pPr>
            <a:endParaRPr lang="cs-CZ" altLang="en-US" sz="1400" b="1" dirty="0"/>
          </a:p>
          <a:p>
            <a:pPr marL="0" indent="0">
              <a:buFont typeface="Arial" panose="020B0604020202020204" pitchFamily="34" charset="0"/>
              <a:buNone/>
            </a:pPr>
            <a:r>
              <a:rPr lang="en-US" altLang="en-US" sz="1400" b="1" dirty="0"/>
              <a:t>-2 1</a:t>
            </a:r>
            <a:endParaRPr lang="cs-CZ" altLang="en-US" sz="1400" b="1" dirty="0"/>
          </a:p>
          <a:p>
            <a:pPr marL="0" indent="0">
              <a:buFont typeface="Arial" panose="020B0604020202020204" pitchFamily="34" charset="0"/>
              <a:buNone/>
            </a:pPr>
            <a:r>
              <a:rPr lang="en-US" altLang="en-US" sz="1400" b="1" dirty="0"/>
              <a:t>P    1.183   1.676   0.035</a:t>
            </a:r>
            <a:endParaRPr lang="cs-CZ" altLang="en-US" sz="1400" b="1" dirty="0"/>
          </a:p>
          <a:p>
            <a:pPr marL="0" indent="0">
              <a:buFont typeface="Arial" panose="020B0604020202020204" pitchFamily="34" charset="0"/>
              <a:buNone/>
            </a:pPr>
            <a:r>
              <a:rPr lang="en-US" altLang="en-US" sz="1400" b="1" dirty="0"/>
              <a:t>O    1.834   0.348   0.618</a:t>
            </a:r>
            <a:endParaRPr lang="cs-CZ" altLang="en-US" sz="1400" b="1" dirty="0"/>
          </a:p>
          <a:p>
            <a:pPr marL="0" indent="0">
              <a:buFont typeface="Arial" panose="020B0604020202020204" pitchFamily="34" charset="0"/>
              <a:buNone/>
            </a:pPr>
            <a:r>
              <a:rPr lang="en-US" altLang="en-US" sz="1400" b="1" dirty="0"/>
              <a:t>O   -0.399   1.584   0.122</a:t>
            </a:r>
            <a:endParaRPr lang="cs-CZ" altLang="en-US" sz="1400" b="1" dirty="0"/>
          </a:p>
          <a:p>
            <a:pPr marL="0" indent="0">
              <a:buFont typeface="Arial" panose="020B0604020202020204" pitchFamily="34" charset="0"/>
              <a:buNone/>
            </a:pPr>
            <a:r>
              <a:rPr lang="en-US" altLang="en-US" sz="1400" b="1" dirty="0"/>
              <a:t>O    1.612   1.834  -1.489</a:t>
            </a:r>
            <a:endParaRPr lang="cs-CZ" altLang="en-US" sz="1400" b="1" dirty="0"/>
          </a:p>
          <a:p>
            <a:pPr marL="0" indent="0">
              <a:buFont typeface="Arial" panose="020B0604020202020204" pitchFamily="34" charset="0"/>
              <a:buNone/>
            </a:pPr>
            <a:r>
              <a:rPr lang="en-US" altLang="en-US" sz="1400" b="1" dirty="0"/>
              <a:t>O    1.708   2.964   0.817</a:t>
            </a:r>
            <a:endParaRPr lang="cs-CZ" altLang="en-US" sz="1400" b="1" dirty="0"/>
          </a:p>
          <a:p>
            <a:pPr marL="0" indent="0">
              <a:buFont typeface="Arial" panose="020B0604020202020204" pitchFamily="34" charset="0"/>
              <a:buNone/>
            </a:pPr>
            <a:r>
              <a:rPr lang="en-US" altLang="en-US" sz="1400" b="1" dirty="0"/>
              <a:t>H    1.676   0.244   1.577</a:t>
            </a:r>
            <a:endParaRPr lang="cs-CZ" altLang="en-US" sz="1400" b="1" dirty="0"/>
          </a:p>
          <a:p>
            <a:pPr marL="0" indent="0">
              <a:buFont typeface="Arial" panose="020B0604020202020204" pitchFamily="34" charset="0"/>
              <a:buNone/>
            </a:pPr>
            <a:endParaRPr lang="cs-CZ" altLang="en-US" sz="1400" b="1" dirty="0"/>
          </a:p>
          <a:p>
            <a:pPr marL="0" indent="0">
              <a:buFont typeface="Arial" panose="020B0604020202020204" pitchFamily="34" charset="0"/>
              <a:buNone/>
            </a:pPr>
            <a:endParaRPr lang="cs-CZ" altLang="en-US" sz="1400" b="1" dirty="0"/>
          </a:p>
          <a:p>
            <a:pPr marL="0" indent="0">
              <a:buFont typeface="Arial" panose="020B0604020202020204" pitchFamily="34" charset="0"/>
              <a:buNone/>
            </a:pPr>
            <a:r>
              <a:rPr lang="en-US" altLang="en-US" sz="1400" b="1" dirty="0"/>
              <a:t>--Link1—</a:t>
            </a:r>
            <a:endParaRPr lang="cs-CZ" altLang="en-US" sz="1400" b="1" dirty="0"/>
          </a:p>
          <a:p>
            <a:pPr marL="0" indent="0">
              <a:buFont typeface="Arial" panose="020B0604020202020204" pitchFamily="34" charset="0"/>
              <a:buNone/>
            </a:pPr>
            <a:r>
              <a:rPr lang="en-US" altLang="en-US" sz="1400" b="1" dirty="0"/>
              <a:t>%mem=7000MB</a:t>
            </a:r>
            <a:endParaRPr lang="cs-CZ" altLang="en-US" sz="1400" b="1" dirty="0"/>
          </a:p>
          <a:p>
            <a:pPr marL="0" indent="0">
              <a:buFont typeface="Arial" panose="020B0604020202020204" pitchFamily="34" charset="0"/>
              <a:buNone/>
            </a:pPr>
            <a:r>
              <a:rPr lang="en-US" altLang="en-US" sz="1400" b="1" dirty="0"/>
              <a:t>%</a:t>
            </a:r>
            <a:r>
              <a:rPr lang="en-US" altLang="en-US" sz="1400" b="1" dirty="0" err="1"/>
              <a:t>nproc</a:t>
            </a:r>
            <a:r>
              <a:rPr lang="en-US" altLang="en-US" sz="1400" b="1" dirty="0"/>
              <a:t>=4</a:t>
            </a:r>
            <a:endParaRPr lang="cs-CZ" altLang="en-US" sz="1400" b="1" dirty="0"/>
          </a:p>
          <a:p>
            <a:pPr marL="0" indent="0">
              <a:buFont typeface="Arial" panose="020B0604020202020204" pitchFamily="34" charset="0"/>
              <a:buNone/>
            </a:pPr>
            <a:r>
              <a:rPr lang="en-US" altLang="en-US" sz="1400" b="1" dirty="0"/>
              <a:t>%</a:t>
            </a:r>
            <a:r>
              <a:rPr lang="en-US" altLang="en-US" sz="1400" b="1" dirty="0" err="1"/>
              <a:t>chk</a:t>
            </a:r>
            <a:r>
              <a:rPr lang="en-US" altLang="en-US" sz="1400" b="1" dirty="0"/>
              <a:t>=resp_b3lyp-opt</a:t>
            </a:r>
            <a:endParaRPr lang="cs-CZ" altLang="en-US" sz="1400" b="1" dirty="0"/>
          </a:p>
          <a:p>
            <a:pPr marL="0" indent="0">
              <a:buFont typeface="Arial" panose="020B0604020202020204" pitchFamily="34" charset="0"/>
              <a:buNone/>
            </a:pPr>
            <a:r>
              <a:rPr lang="en-US" altLang="en-US" sz="1400" b="1" dirty="0"/>
              <a:t>#P HF/6-31G* SCF=Tight Pop=(MK) </a:t>
            </a:r>
            <a:r>
              <a:rPr lang="en-US" altLang="en-US" sz="1400" b="1" dirty="0" err="1"/>
              <a:t>Geom</a:t>
            </a:r>
            <a:r>
              <a:rPr lang="en-US" altLang="en-US" sz="1400" b="1" dirty="0"/>
              <a:t>=check </a:t>
            </a:r>
            <a:r>
              <a:rPr lang="en-US" altLang="en-US" sz="1400" b="1" dirty="0" err="1"/>
              <a:t>IOp</a:t>
            </a:r>
            <a:r>
              <a:rPr lang="en-US" altLang="en-US" sz="1400" b="1" dirty="0"/>
              <a:t>(6/33=2) </a:t>
            </a:r>
            <a:r>
              <a:rPr lang="cs-CZ" altLang="en-US" sz="1400" b="1" dirty="0"/>
              <a:t>IO</a:t>
            </a:r>
            <a:r>
              <a:rPr lang="en-US" altLang="en-US" sz="1400" b="1" dirty="0"/>
              <a:t>p(6/50=1)</a:t>
            </a:r>
            <a:r>
              <a:rPr lang="cs-CZ" altLang="en-US" sz="1400" b="1" dirty="0"/>
              <a:t> IO</a:t>
            </a:r>
            <a:r>
              <a:rPr lang="en-US" altLang="en-US" sz="1400" b="1" dirty="0"/>
              <a:t>p(6/4</a:t>
            </a:r>
            <a:r>
              <a:rPr lang="cs-CZ" altLang="en-US" sz="1400" b="1" dirty="0"/>
              <a:t>1</a:t>
            </a:r>
            <a:r>
              <a:rPr lang="en-US" altLang="en-US" sz="1400" b="1" dirty="0"/>
              <a:t>=</a:t>
            </a:r>
            <a:r>
              <a:rPr lang="cs-CZ" altLang="en-US" sz="1400" b="1" dirty="0"/>
              <a:t>10</a:t>
            </a:r>
            <a:r>
              <a:rPr lang="en-US" altLang="en-US" sz="1400" b="1" dirty="0"/>
              <a:t>)</a:t>
            </a:r>
            <a:r>
              <a:rPr lang="cs-CZ" altLang="en-US" sz="1400" b="1" dirty="0"/>
              <a:t> IO</a:t>
            </a:r>
            <a:r>
              <a:rPr lang="en-US" altLang="en-US" sz="1400" b="1" dirty="0"/>
              <a:t>p(6/4</a:t>
            </a:r>
            <a:r>
              <a:rPr lang="cs-CZ" altLang="en-US" sz="1400" b="1" dirty="0"/>
              <a:t>2</a:t>
            </a:r>
            <a:r>
              <a:rPr lang="en-US" altLang="en-US" sz="1400" b="1" dirty="0"/>
              <a:t>=</a:t>
            </a:r>
            <a:r>
              <a:rPr lang="cs-CZ" altLang="en-US" sz="1400" b="1" dirty="0"/>
              <a:t>17</a:t>
            </a:r>
            <a:r>
              <a:rPr lang="en-US" altLang="en-US" sz="1400" b="1" dirty="0"/>
              <a:t>)</a:t>
            </a:r>
            <a:endParaRPr lang="cs-CZ" altLang="en-US" sz="1400" b="1" dirty="0"/>
          </a:p>
          <a:p>
            <a:pPr marL="0" indent="0">
              <a:buFont typeface="Arial" panose="020B0604020202020204" pitchFamily="34" charset="0"/>
              <a:buNone/>
            </a:pPr>
            <a:endParaRPr lang="cs-CZ" altLang="en-US" sz="1400" b="1" dirty="0"/>
          </a:p>
          <a:p>
            <a:pPr marL="0" indent="0">
              <a:buFont typeface="Arial" panose="020B0604020202020204" pitchFamily="34" charset="0"/>
              <a:buNone/>
            </a:pPr>
            <a:r>
              <a:rPr lang="en-US" altLang="en-US" sz="1400" b="1" dirty="0"/>
              <a:t>hpo42-</a:t>
            </a:r>
            <a:endParaRPr lang="cs-CZ" altLang="en-US" sz="1400" b="1" dirty="0"/>
          </a:p>
          <a:p>
            <a:pPr marL="0" indent="0">
              <a:buFont typeface="Arial" panose="020B0604020202020204" pitchFamily="34" charset="0"/>
              <a:buNone/>
            </a:pPr>
            <a:endParaRPr lang="cs-CZ" altLang="en-US" sz="1400" b="1" dirty="0"/>
          </a:p>
          <a:p>
            <a:pPr marL="0" indent="0">
              <a:buFont typeface="Arial" panose="020B0604020202020204" pitchFamily="34" charset="0"/>
              <a:buNone/>
            </a:pPr>
            <a:r>
              <a:rPr lang="en-US" altLang="en-US" sz="1400" b="1" dirty="0"/>
              <a:t>-2 1</a:t>
            </a:r>
            <a:endParaRPr lang="cs-CZ" altLang="en-US" sz="1400" b="1" dirty="0"/>
          </a:p>
          <a:p>
            <a:pPr marL="0" indent="0">
              <a:buFont typeface="Arial" panose="020B0604020202020204" pitchFamily="34" charset="0"/>
              <a:buNone/>
            </a:pPr>
            <a:endParaRPr lang="cs-CZ" altLang="en-US" sz="1400" b="1" dirty="0"/>
          </a:p>
          <a:p>
            <a:pPr marL="0" indent="0">
              <a:buFont typeface="Arial" panose="020B0604020202020204" pitchFamily="34" charset="0"/>
              <a:buNone/>
            </a:pPr>
            <a:r>
              <a:rPr lang="en-US" altLang="en-US" sz="1400" b="1" dirty="0"/>
              <a:t>hpo4.gesp</a:t>
            </a:r>
            <a:endParaRPr lang="cs-CZ" altLang="en-US" sz="1400" b="1" dirty="0"/>
          </a:p>
        </p:txBody>
      </p:sp>
    </p:spTree>
    <p:extLst>
      <p:ext uri="{BB962C8B-B14F-4D97-AF65-F5344CB8AC3E}">
        <p14:creationId xmlns:p14="http://schemas.microsoft.com/office/powerpoint/2010/main" val="38087983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66560" y="365040"/>
            <a:ext cx="11257560" cy="824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ea typeface="DejaVu Sans"/>
              </a:rPr>
              <a:t>Partial charges: what are they and how to get them</a:t>
            </a:r>
          </a:p>
        </p:txBody>
      </p:sp>
      <p:sp>
        <p:nvSpPr>
          <p:cNvPr id="5" name="Zástupný symbol pro obsah 2">
            <a:extLst>
              <a:ext uri="{FF2B5EF4-FFF2-40B4-BE49-F238E27FC236}">
                <a16:creationId xmlns:a16="http://schemas.microsoft.com/office/drawing/2014/main" id="{732BA228-FE9E-49B2-9314-9ED98558F1C0}"/>
              </a:ext>
            </a:extLst>
          </p:cNvPr>
          <p:cNvSpPr txBox="1">
            <a:spLocks/>
          </p:cNvSpPr>
          <p:nvPr/>
        </p:nvSpPr>
        <p:spPr>
          <a:xfrm>
            <a:off x="466560" y="1412776"/>
            <a:ext cx="11042520" cy="508018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cs-CZ" altLang="en-US" sz="2400" b="1" dirty="0" err="1"/>
              <a:t>Antechamber</a:t>
            </a:r>
            <a:r>
              <a:rPr lang="en-US" altLang="en-US" sz="2400" b="1" dirty="0"/>
              <a:t>:</a:t>
            </a:r>
            <a:endParaRPr lang="cs-CZ" altLang="en-US" sz="2400" b="1" dirty="0"/>
          </a:p>
          <a:p>
            <a:pPr marL="0" indent="0">
              <a:buFont typeface="Arial" panose="020B0604020202020204" pitchFamily="34" charset="0"/>
              <a:buNone/>
            </a:pPr>
            <a:r>
              <a:rPr lang="cs-CZ" altLang="en-US" sz="1800" b="1" dirty="0" err="1"/>
              <a:t>Old</a:t>
            </a:r>
            <a:r>
              <a:rPr lang="cs-CZ" altLang="en-US" sz="1800" b="1" dirty="0"/>
              <a:t> style</a:t>
            </a:r>
          </a:p>
          <a:p>
            <a:pPr marL="0" indent="0">
              <a:buFont typeface="Arial" panose="020B0604020202020204" pitchFamily="34" charset="0"/>
              <a:buNone/>
            </a:pPr>
            <a:r>
              <a:rPr lang="en-US" altLang="en-US" sz="1800" dirty="0"/>
              <a:t>antechamber -</a:t>
            </a:r>
            <a:r>
              <a:rPr lang="en-US" altLang="en-US" sz="1800" dirty="0" err="1"/>
              <a:t>i</a:t>
            </a:r>
            <a:r>
              <a:rPr lang="en-US" altLang="en-US" sz="1800" dirty="0"/>
              <a:t> resp_b3lyp-opt_hf-sp.log -fi gout -o h3po4.mol2 -</a:t>
            </a:r>
            <a:r>
              <a:rPr lang="en-US" altLang="en-US" sz="1800" dirty="0" err="1"/>
              <a:t>fo</a:t>
            </a:r>
            <a:r>
              <a:rPr lang="en-US" altLang="en-US" sz="1800" dirty="0"/>
              <a:t> mol2 -at gaff -c resp</a:t>
            </a:r>
            <a:endParaRPr lang="cs-CZ" altLang="en-US" sz="1800" dirty="0"/>
          </a:p>
          <a:p>
            <a:pPr marL="0" indent="0">
              <a:buFont typeface="Arial" panose="020B0604020202020204" pitchFamily="34" charset="0"/>
              <a:buNone/>
            </a:pPr>
            <a:endParaRPr lang="cs-CZ" altLang="en-US" sz="1800" b="1" dirty="0"/>
          </a:p>
          <a:p>
            <a:pPr marL="0" indent="0">
              <a:buFont typeface="Arial" panose="020B0604020202020204" pitchFamily="34" charset="0"/>
              <a:buNone/>
            </a:pPr>
            <a:r>
              <a:rPr lang="cs-CZ" altLang="en-US" sz="1800" b="1" dirty="0"/>
              <a:t>New style</a:t>
            </a:r>
          </a:p>
          <a:p>
            <a:pPr marL="0" indent="0">
              <a:buFont typeface="Arial" panose="020B0604020202020204" pitchFamily="34" charset="0"/>
              <a:buNone/>
            </a:pPr>
            <a:r>
              <a:rPr lang="en-US" altLang="en-US" sz="1800" dirty="0"/>
              <a:t>antechamber -</a:t>
            </a:r>
            <a:r>
              <a:rPr lang="en-US" altLang="en-US" sz="1800" dirty="0" err="1"/>
              <a:t>i</a:t>
            </a:r>
            <a:r>
              <a:rPr lang="en-US" altLang="en-US" sz="1800" dirty="0"/>
              <a:t> </a:t>
            </a:r>
            <a:r>
              <a:rPr lang="cs-CZ" altLang="en-US" sz="1800" dirty="0"/>
              <a:t>hpo4.gesp</a:t>
            </a:r>
            <a:r>
              <a:rPr lang="en-US" altLang="en-US" sz="1800" dirty="0"/>
              <a:t> -fi g</a:t>
            </a:r>
            <a:r>
              <a:rPr lang="cs-CZ" altLang="en-US" sz="1800" dirty="0" err="1"/>
              <a:t>esp</a:t>
            </a:r>
            <a:r>
              <a:rPr lang="en-US" altLang="en-US" sz="1800" dirty="0"/>
              <a:t> -o </a:t>
            </a:r>
            <a:r>
              <a:rPr lang="cs-CZ" altLang="en-US" sz="1800" dirty="0"/>
              <a:t>hpo4.prepc</a:t>
            </a:r>
            <a:r>
              <a:rPr lang="en-US" altLang="en-US" sz="1800" dirty="0"/>
              <a:t> -</a:t>
            </a:r>
            <a:r>
              <a:rPr lang="en-US" altLang="en-US" sz="1800" dirty="0" err="1"/>
              <a:t>fo</a:t>
            </a:r>
            <a:r>
              <a:rPr lang="en-US" altLang="en-US" sz="1800" dirty="0"/>
              <a:t> </a:t>
            </a:r>
            <a:r>
              <a:rPr lang="cs-CZ" altLang="en-US" sz="1800" dirty="0" err="1"/>
              <a:t>prepc</a:t>
            </a:r>
            <a:r>
              <a:rPr lang="en-US" altLang="en-US" sz="1800" dirty="0"/>
              <a:t> -at </a:t>
            </a:r>
            <a:r>
              <a:rPr lang="cs-CZ" altLang="en-US" sz="1800" dirty="0"/>
              <a:t>amber</a:t>
            </a:r>
            <a:r>
              <a:rPr lang="en-US" altLang="en-US" sz="1800" dirty="0"/>
              <a:t> -c resp</a:t>
            </a:r>
          </a:p>
          <a:p>
            <a:pPr>
              <a:buFont typeface="Wingdings" panose="05000000000000000000" pitchFamily="2" charset="2"/>
              <a:buNone/>
            </a:pPr>
            <a:endParaRPr lang="cs-CZ" altLang="en-US" sz="2400" dirty="0"/>
          </a:p>
        </p:txBody>
      </p:sp>
    </p:spTree>
    <p:extLst>
      <p:ext uri="{BB962C8B-B14F-4D97-AF65-F5344CB8AC3E}">
        <p14:creationId xmlns:p14="http://schemas.microsoft.com/office/powerpoint/2010/main" val="4154393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66560" y="365040"/>
            <a:ext cx="11257560" cy="824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ea typeface="DejaVu Sans"/>
              </a:rPr>
              <a:t>Partial charges: what are they and how to get them</a:t>
            </a:r>
          </a:p>
        </p:txBody>
      </p:sp>
      <p:sp>
        <p:nvSpPr>
          <p:cNvPr id="23" name="Zástupný symbol pro obsah 2">
            <a:extLst>
              <a:ext uri="{FF2B5EF4-FFF2-40B4-BE49-F238E27FC236}">
                <a16:creationId xmlns:a16="http://schemas.microsoft.com/office/drawing/2014/main" id="{B6B530D6-B3F6-45D5-9391-A24BE912255A}"/>
              </a:ext>
            </a:extLst>
          </p:cNvPr>
          <p:cNvSpPr txBox="1">
            <a:spLocks/>
          </p:cNvSpPr>
          <p:nvPr/>
        </p:nvSpPr>
        <p:spPr>
          <a:xfrm>
            <a:off x="400810" y="1189440"/>
            <a:ext cx="11323310" cy="521136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en-US" sz="3200" b="1" dirty="0"/>
              <a:t>Non-standard residue (connected)</a:t>
            </a:r>
          </a:p>
          <a:p>
            <a:pPr marL="0" indent="0">
              <a:buFont typeface="Arial" panose="020B0604020202020204" pitchFamily="34" charset="0"/>
              <a:buNone/>
            </a:pPr>
            <a:r>
              <a:rPr lang="en-US" altLang="en-US" sz="2400" dirty="0"/>
              <a:t> – </a:t>
            </a:r>
            <a:r>
              <a:rPr lang="en-US" altLang="en-US" sz="2400" b="1" dirty="0"/>
              <a:t>HIGHWAY TO HELL!!!</a:t>
            </a:r>
          </a:p>
          <a:p>
            <a:pPr marL="0" indent="0">
              <a:buFont typeface="Arial" panose="020B0604020202020204" pitchFamily="34" charset="0"/>
              <a:buNone/>
            </a:pPr>
            <a:endParaRPr lang="en-US" altLang="en-US" sz="2400" b="1" dirty="0"/>
          </a:p>
          <a:p>
            <a:pPr marL="457200" indent="-457200">
              <a:buFont typeface="+mj-lt"/>
              <a:buAutoNum type="arabicPeriod"/>
            </a:pPr>
            <a:r>
              <a:rPr lang="en-US" altLang="en-US" sz="2400" dirty="0">
                <a:solidFill>
                  <a:srgbClr val="FF0000"/>
                </a:solidFill>
              </a:rPr>
              <a:t>Add capping groups</a:t>
            </a:r>
          </a:p>
          <a:p>
            <a:pPr marL="457200" indent="-457200">
              <a:buFont typeface="+mj-lt"/>
              <a:buAutoNum type="arabicPeriod"/>
            </a:pPr>
            <a:r>
              <a:rPr lang="en-US" altLang="en-US" sz="2400" dirty="0">
                <a:solidFill>
                  <a:srgbClr val="FF0000"/>
                </a:solidFill>
              </a:rPr>
              <a:t>Optimize geometry in </a:t>
            </a:r>
            <a:r>
              <a:rPr lang="en-US" altLang="en-US" sz="2400" i="1" dirty="0">
                <a:solidFill>
                  <a:srgbClr val="FF0000"/>
                </a:solidFill>
              </a:rPr>
              <a:t>Gaussian</a:t>
            </a:r>
          </a:p>
          <a:p>
            <a:pPr marL="457200" indent="-457200">
              <a:buFont typeface="+mj-lt"/>
              <a:buAutoNum type="arabicPeriod"/>
            </a:pPr>
            <a:r>
              <a:rPr lang="en-US" altLang="en-US" sz="2400" dirty="0">
                <a:solidFill>
                  <a:srgbClr val="FF0000"/>
                </a:solidFill>
              </a:rPr>
              <a:t>Make single point calculation in </a:t>
            </a:r>
            <a:r>
              <a:rPr lang="en-US" altLang="en-US" sz="2400" i="1" dirty="0">
                <a:solidFill>
                  <a:srgbClr val="FF0000"/>
                </a:solidFill>
              </a:rPr>
              <a:t>Gaussian</a:t>
            </a:r>
            <a:r>
              <a:rPr lang="en-US" altLang="en-US" sz="2400" dirty="0">
                <a:solidFill>
                  <a:srgbClr val="FF0000"/>
                </a:solidFill>
              </a:rPr>
              <a:t> to get ESP</a:t>
            </a:r>
          </a:p>
          <a:p>
            <a:pPr marL="457200" indent="-457200">
              <a:buFont typeface="+mj-lt"/>
              <a:buAutoNum type="arabicPeriod"/>
            </a:pPr>
            <a:r>
              <a:rPr lang="en-US" altLang="en-US" sz="2400" dirty="0">
                <a:solidFill>
                  <a:srgbClr val="FF0000"/>
                </a:solidFill>
              </a:rPr>
              <a:t>Run </a:t>
            </a:r>
            <a:r>
              <a:rPr lang="en-US" altLang="en-US" sz="2400" i="1" dirty="0">
                <a:solidFill>
                  <a:srgbClr val="FF0000"/>
                </a:solidFill>
              </a:rPr>
              <a:t>Antechamber</a:t>
            </a:r>
            <a:r>
              <a:rPr lang="en-US" altLang="en-US" sz="2400" dirty="0">
                <a:solidFill>
                  <a:srgbClr val="FF0000"/>
                </a:solidFill>
              </a:rPr>
              <a:t> to derive FF params</a:t>
            </a:r>
          </a:p>
          <a:p>
            <a:pPr marL="914400" lvl="1" indent="-457200">
              <a:buFont typeface="+mj-lt"/>
              <a:buAutoNum type="arabicPeriod"/>
            </a:pPr>
            <a:r>
              <a:rPr lang="en-US" altLang="en-US" sz="2000" dirty="0">
                <a:solidFill>
                  <a:srgbClr val="FF0000"/>
                </a:solidFill>
              </a:rPr>
              <a:t>Prepare </a:t>
            </a:r>
            <a:r>
              <a:rPr lang="en-US" altLang="en-US" sz="2000" i="1" dirty="0">
                <a:solidFill>
                  <a:srgbClr val="FF0000"/>
                </a:solidFill>
              </a:rPr>
              <a:t>.</a:t>
            </a:r>
            <a:r>
              <a:rPr lang="en-US" altLang="en-US" sz="2000" i="1" dirty="0" err="1">
                <a:solidFill>
                  <a:srgbClr val="FF0000"/>
                </a:solidFill>
              </a:rPr>
              <a:t>respadd</a:t>
            </a:r>
            <a:r>
              <a:rPr lang="en-US" altLang="en-US" sz="2000" dirty="0">
                <a:solidFill>
                  <a:srgbClr val="FF0000"/>
                </a:solidFill>
              </a:rPr>
              <a:t> file</a:t>
            </a:r>
          </a:p>
          <a:p>
            <a:pPr marL="914400" lvl="1" indent="-457200">
              <a:buFont typeface="+mj-lt"/>
              <a:buAutoNum type="arabicPeriod"/>
            </a:pPr>
            <a:r>
              <a:rPr lang="en-US" altLang="en-US" sz="2000" dirty="0">
                <a:solidFill>
                  <a:srgbClr val="FF0000"/>
                </a:solidFill>
              </a:rPr>
              <a:t>Do 2 stage fitting of the charges using </a:t>
            </a:r>
            <a:r>
              <a:rPr lang="en-US" altLang="en-US" sz="2000" i="1" dirty="0">
                <a:solidFill>
                  <a:srgbClr val="FF0000"/>
                </a:solidFill>
              </a:rPr>
              <a:t>resp</a:t>
            </a:r>
            <a:r>
              <a:rPr lang="en-US" altLang="en-US" sz="2000" dirty="0">
                <a:solidFill>
                  <a:srgbClr val="FF0000"/>
                </a:solidFill>
              </a:rPr>
              <a:t> utility  </a:t>
            </a:r>
          </a:p>
          <a:p>
            <a:pPr marL="457200" indent="-457200">
              <a:buFont typeface="+mj-lt"/>
              <a:buAutoNum type="arabicPeriod"/>
            </a:pPr>
            <a:r>
              <a:rPr lang="en-US" altLang="en-US" sz="2400" dirty="0"/>
              <a:t>Export to amber style parameter and input coordinate files</a:t>
            </a:r>
          </a:p>
          <a:p>
            <a:pPr marL="457200" indent="-457200">
              <a:buFont typeface="+mj-lt"/>
              <a:buAutoNum type="arabicPeriod"/>
            </a:pPr>
            <a:r>
              <a:rPr lang="en-US" altLang="en-US" sz="2400" dirty="0"/>
              <a:t>Convert using </a:t>
            </a:r>
            <a:r>
              <a:rPr lang="en-US" altLang="en-US" sz="2400" i="1" dirty="0" err="1"/>
              <a:t>Acpype</a:t>
            </a:r>
            <a:endParaRPr lang="en-US" altLang="en-US" sz="2400" i="1" dirty="0"/>
          </a:p>
          <a:p>
            <a:pPr marL="0" indent="0">
              <a:buFont typeface="Arial" panose="020B0604020202020204" pitchFamily="34" charset="0"/>
              <a:buNone/>
            </a:pPr>
            <a:endParaRPr lang="en-US" altLang="en-US" sz="1400" dirty="0"/>
          </a:p>
        </p:txBody>
      </p:sp>
    </p:spTree>
    <p:extLst>
      <p:ext uri="{BB962C8B-B14F-4D97-AF65-F5344CB8AC3E}">
        <p14:creationId xmlns:p14="http://schemas.microsoft.com/office/powerpoint/2010/main" val="3939302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66560" y="365040"/>
            <a:ext cx="11257560" cy="824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ea typeface="DejaVu Sans"/>
              </a:rPr>
              <a:t>Partial charges: what are they and how to get them</a:t>
            </a:r>
          </a:p>
        </p:txBody>
      </p:sp>
      <p:sp>
        <p:nvSpPr>
          <p:cNvPr id="23" name="Zástupný symbol pro obsah 2">
            <a:extLst>
              <a:ext uri="{FF2B5EF4-FFF2-40B4-BE49-F238E27FC236}">
                <a16:creationId xmlns:a16="http://schemas.microsoft.com/office/drawing/2014/main" id="{B6B530D6-B3F6-45D5-9391-A24BE912255A}"/>
              </a:ext>
            </a:extLst>
          </p:cNvPr>
          <p:cNvSpPr txBox="1">
            <a:spLocks/>
          </p:cNvSpPr>
          <p:nvPr/>
        </p:nvSpPr>
        <p:spPr>
          <a:xfrm>
            <a:off x="400810" y="1189440"/>
            <a:ext cx="11323310" cy="521136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en-US" sz="2400" b="1" dirty="0"/>
              <a:t>Capping groups</a:t>
            </a:r>
            <a:r>
              <a:rPr lang="en-US" sz="2400" b="1" i="1" dirty="0"/>
              <a:t> </a:t>
            </a:r>
          </a:p>
          <a:p>
            <a:pPr marL="0" indent="0">
              <a:buFont typeface="Arial" panose="020B0604020202020204" pitchFamily="34" charset="0"/>
              <a:buNone/>
            </a:pPr>
            <a:endParaRPr lang="en-US" sz="2400" b="1" i="1" dirty="0"/>
          </a:p>
          <a:p>
            <a:pPr marL="0" indent="0">
              <a:buFont typeface="Arial" panose="020B0604020202020204" pitchFamily="34" charset="0"/>
              <a:buNone/>
            </a:pPr>
            <a:endParaRPr lang="en-US" sz="2400" b="1" i="1" dirty="0"/>
          </a:p>
          <a:p>
            <a:pPr marL="0" indent="0">
              <a:buFont typeface="Arial" panose="020B0604020202020204" pitchFamily="34" charset="0"/>
              <a:buNone/>
            </a:pPr>
            <a:endParaRPr lang="en-US" sz="2400" b="1" i="1" dirty="0"/>
          </a:p>
          <a:p>
            <a:pPr marL="0" indent="0">
              <a:buFont typeface="Arial" panose="020B0604020202020204" pitchFamily="34" charset="0"/>
              <a:buNone/>
            </a:pPr>
            <a:endParaRPr lang="en-US" sz="2400" b="1" i="1" dirty="0"/>
          </a:p>
          <a:p>
            <a:pPr marL="0" indent="0">
              <a:buFont typeface="Arial" panose="020B0604020202020204" pitchFamily="34" charset="0"/>
              <a:buNone/>
            </a:pPr>
            <a:endParaRPr lang="en-US" sz="2400" b="1" i="1" dirty="0"/>
          </a:p>
          <a:p>
            <a:pPr marL="0" indent="0">
              <a:buFont typeface="Arial" panose="020B0604020202020204" pitchFamily="34" charset="0"/>
              <a:buNone/>
            </a:pPr>
            <a:endParaRPr lang="en-US" sz="2400" b="1" i="1" dirty="0"/>
          </a:p>
          <a:p>
            <a:pPr marL="0" indent="0">
              <a:buFont typeface="Arial" panose="020B0604020202020204" pitchFamily="34" charset="0"/>
              <a:buNone/>
            </a:pPr>
            <a:endParaRPr lang="en-US" sz="2400" b="1" i="1" dirty="0"/>
          </a:p>
          <a:p>
            <a:pPr marL="0" indent="0">
              <a:buFont typeface="Arial" panose="020B0604020202020204" pitchFamily="34" charset="0"/>
              <a:buNone/>
            </a:pPr>
            <a:endParaRPr lang="en-US" sz="2400" b="1" i="1" dirty="0"/>
          </a:p>
          <a:p>
            <a:pPr marL="0" indent="0">
              <a:buFont typeface="Arial" panose="020B0604020202020204" pitchFamily="34" charset="0"/>
              <a:buNone/>
            </a:pPr>
            <a:r>
              <a:rPr lang="en-US" sz="2400" b="1" i="1" dirty="0"/>
              <a:t>TASK2</a:t>
            </a:r>
            <a:r>
              <a:rPr lang="en-US" sz="2400" dirty="0"/>
              <a:t> </a:t>
            </a:r>
            <a:r>
              <a:rPr lang="en-US" sz="2400" dirty="0">
                <a:latin typeface="Courier New" panose="02070309020205020404" pitchFamily="49" charset="0"/>
                <a:cs typeface="Courier New" panose="02070309020205020404" pitchFamily="49" charset="0"/>
              </a:rPr>
              <a:t>-&gt;</a:t>
            </a:r>
            <a:r>
              <a:rPr lang="en-US" sz="2400" dirty="0"/>
              <a:t> Prepare FF parameters for </a:t>
            </a:r>
            <a:r>
              <a:rPr lang="en-US" sz="2400" dirty="0" err="1"/>
              <a:t>cysteinamide</a:t>
            </a:r>
            <a:r>
              <a:rPr lang="en-US" sz="2400" dirty="0"/>
              <a:t> </a:t>
            </a:r>
            <a:endParaRPr lang="en-US" altLang="en-US" sz="2400" b="1" dirty="0"/>
          </a:p>
          <a:p>
            <a:pPr marL="0" indent="0">
              <a:buFont typeface="Arial" panose="020B0604020202020204" pitchFamily="34" charset="0"/>
              <a:buNone/>
            </a:pPr>
            <a:endParaRPr lang="en-US" altLang="en-US" sz="2400" b="1" dirty="0"/>
          </a:p>
          <a:p>
            <a:pPr marL="0" indent="0">
              <a:buFont typeface="Arial" panose="020B0604020202020204" pitchFamily="34" charset="0"/>
              <a:buNone/>
            </a:pPr>
            <a:endParaRPr lang="en-US" altLang="en-US" sz="1400" dirty="0"/>
          </a:p>
        </p:txBody>
      </p:sp>
      <p:pic>
        <p:nvPicPr>
          <p:cNvPr id="3" name="Picture 2">
            <a:extLst>
              <a:ext uri="{FF2B5EF4-FFF2-40B4-BE49-F238E27FC236}">
                <a16:creationId xmlns:a16="http://schemas.microsoft.com/office/drawing/2014/main" id="{56B61FCE-3B90-45A3-8D34-700277DD1527}"/>
              </a:ext>
            </a:extLst>
          </p:cNvPr>
          <p:cNvPicPr>
            <a:picLocks noChangeAspect="1"/>
          </p:cNvPicPr>
          <p:nvPr/>
        </p:nvPicPr>
        <p:blipFill>
          <a:blip r:embed="rId2"/>
          <a:stretch>
            <a:fillRect/>
          </a:stretch>
        </p:blipFill>
        <p:spPr>
          <a:xfrm>
            <a:off x="2556802" y="1819275"/>
            <a:ext cx="7077075" cy="3219450"/>
          </a:xfrm>
          <a:prstGeom prst="rect">
            <a:avLst/>
          </a:prstGeom>
        </p:spPr>
      </p:pic>
    </p:spTree>
    <p:extLst>
      <p:ext uri="{BB962C8B-B14F-4D97-AF65-F5344CB8AC3E}">
        <p14:creationId xmlns:p14="http://schemas.microsoft.com/office/powerpoint/2010/main" val="991794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66560" y="365040"/>
            <a:ext cx="11257560" cy="824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ea typeface="DejaVu Sans"/>
              </a:rPr>
              <a:t>Partial charges: what are they and how to get them</a:t>
            </a:r>
          </a:p>
        </p:txBody>
      </p:sp>
      <p:sp>
        <p:nvSpPr>
          <p:cNvPr id="23" name="Zástupný symbol pro obsah 2">
            <a:extLst>
              <a:ext uri="{FF2B5EF4-FFF2-40B4-BE49-F238E27FC236}">
                <a16:creationId xmlns:a16="http://schemas.microsoft.com/office/drawing/2014/main" id="{B6B530D6-B3F6-45D5-9391-A24BE912255A}"/>
              </a:ext>
            </a:extLst>
          </p:cNvPr>
          <p:cNvSpPr txBox="1">
            <a:spLocks/>
          </p:cNvSpPr>
          <p:nvPr/>
        </p:nvSpPr>
        <p:spPr>
          <a:xfrm>
            <a:off x="400810" y="1189440"/>
            <a:ext cx="11323310" cy="521136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en-US" sz="2400" b="1" dirty="0" err="1"/>
              <a:t>Cysteinamide</a:t>
            </a:r>
            <a:r>
              <a:rPr lang="en-US" altLang="en-US" sz="2400" b="1" dirty="0"/>
              <a:t> on mercury surface: </a:t>
            </a:r>
          </a:p>
          <a:p>
            <a:pPr marL="0" indent="0">
              <a:buFont typeface="Arial" panose="020B0604020202020204" pitchFamily="34" charset="0"/>
              <a:buNone/>
            </a:pPr>
            <a:endParaRPr lang="en-US" altLang="en-US" sz="2400" b="1" dirty="0"/>
          </a:p>
          <a:p>
            <a:pPr marL="0" indent="0">
              <a:buFont typeface="Arial" panose="020B0604020202020204" pitchFamily="34" charset="0"/>
              <a:buNone/>
            </a:pPr>
            <a:endParaRPr lang="en-US" altLang="en-US" sz="1400" dirty="0"/>
          </a:p>
        </p:txBody>
      </p:sp>
      <p:pic>
        <p:nvPicPr>
          <p:cNvPr id="6" name="Picture 5">
            <a:extLst>
              <a:ext uri="{FF2B5EF4-FFF2-40B4-BE49-F238E27FC236}">
                <a16:creationId xmlns:a16="http://schemas.microsoft.com/office/drawing/2014/main" id="{C4B3CDAB-36D9-43C0-AF8F-B3214DC8EC8E}"/>
              </a:ext>
            </a:extLst>
          </p:cNvPr>
          <p:cNvPicPr>
            <a:picLocks noChangeAspect="1"/>
          </p:cNvPicPr>
          <p:nvPr/>
        </p:nvPicPr>
        <p:blipFill>
          <a:blip r:embed="rId2"/>
          <a:stretch>
            <a:fillRect/>
          </a:stretch>
        </p:blipFill>
        <p:spPr>
          <a:xfrm>
            <a:off x="466560" y="1702020"/>
            <a:ext cx="3632442" cy="4504228"/>
          </a:xfrm>
          <a:prstGeom prst="rect">
            <a:avLst/>
          </a:prstGeom>
        </p:spPr>
      </p:pic>
      <p:pic>
        <p:nvPicPr>
          <p:cNvPr id="8" name="Picture 7">
            <a:extLst>
              <a:ext uri="{FF2B5EF4-FFF2-40B4-BE49-F238E27FC236}">
                <a16:creationId xmlns:a16="http://schemas.microsoft.com/office/drawing/2014/main" id="{C8E9D39C-A753-4CC5-8984-0B63B35399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45296" y="1702020"/>
            <a:ext cx="1896862" cy="1955260"/>
          </a:xfrm>
          <a:prstGeom prst="rect">
            <a:avLst/>
          </a:prstGeom>
        </p:spPr>
      </p:pic>
      <p:cxnSp>
        <p:nvCxnSpPr>
          <p:cNvPr id="12" name="Straight Connector 11">
            <a:extLst>
              <a:ext uri="{FF2B5EF4-FFF2-40B4-BE49-F238E27FC236}">
                <a16:creationId xmlns:a16="http://schemas.microsoft.com/office/drawing/2014/main" id="{246C5CBC-DF1F-4684-ADA1-1031B441378C}"/>
              </a:ext>
            </a:extLst>
          </p:cNvPr>
          <p:cNvCxnSpPr/>
          <p:nvPr/>
        </p:nvCxnSpPr>
        <p:spPr>
          <a:xfrm flipV="1">
            <a:off x="5710136" y="2889115"/>
            <a:ext cx="352329" cy="1556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AD7E3A-228C-4067-AD92-F5E86495AE5E}"/>
              </a:ext>
            </a:extLst>
          </p:cNvPr>
          <p:cNvCxnSpPr/>
          <p:nvPr/>
        </p:nvCxnSpPr>
        <p:spPr>
          <a:xfrm flipH="1" flipV="1">
            <a:off x="4630366" y="2817490"/>
            <a:ext cx="272374" cy="14944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F274A0E7-2BBD-422D-8AA8-B14C225A12D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76874" y="1702020"/>
            <a:ext cx="1992904" cy="1955260"/>
          </a:xfrm>
          <a:prstGeom prst="rect">
            <a:avLst/>
          </a:prstGeom>
        </p:spPr>
      </p:pic>
      <p:pic>
        <p:nvPicPr>
          <p:cNvPr id="18" name="Picture 17">
            <a:extLst>
              <a:ext uri="{FF2B5EF4-FFF2-40B4-BE49-F238E27FC236}">
                <a16:creationId xmlns:a16="http://schemas.microsoft.com/office/drawing/2014/main" id="{C41BC773-C92C-4914-8A3D-16F1A4E0384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45297" y="3869157"/>
            <a:ext cx="1896862" cy="2194564"/>
          </a:xfrm>
          <a:prstGeom prst="rect">
            <a:avLst/>
          </a:prstGeom>
        </p:spPr>
      </p:pic>
      <p:pic>
        <p:nvPicPr>
          <p:cNvPr id="20" name="Picture 19">
            <a:extLst>
              <a:ext uri="{FF2B5EF4-FFF2-40B4-BE49-F238E27FC236}">
                <a16:creationId xmlns:a16="http://schemas.microsoft.com/office/drawing/2014/main" id="{C6A31920-8B3B-4846-BCD3-2AAAB4853B7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76874" y="3795120"/>
            <a:ext cx="1958051" cy="2194564"/>
          </a:xfrm>
          <a:prstGeom prst="rect">
            <a:avLst/>
          </a:prstGeom>
        </p:spPr>
      </p:pic>
      <p:sp>
        <p:nvSpPr>
          <p:cNvPr id="21" name="Oval 20">
            <a:extLst>
              <a:ext uri="{FF2B5EF4-FFF2-40B4-BE49-F238E27FC236}">
                <a16:creationId xmlns:a16="http://schemas.microsoft.com/office/drawing/2014/main" id="{B0EE910E-0712-4149-AC01-708A15383566}"/>
              </a:ext>
            </a:extLst>
          </p:cNvPr>
          <p:cNvSpPr/>
          <p:nvPr/>
        </p:nvSpPr>
        <p:spPr>
          <a:xfrm>
            <a:off x="7986409" y="1994170"/>
            <a:ext cx="466927" cy="894945"/>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89A6D10-9BAC-4FA8-88C1-CAB06A382BE3}"/>
              </a:ext>
            </a:extLst>
          </p:cNvPr>
          <p:cNvSpPr/>
          <p:nvPr/>
        </p:nvSpPr>
        <p:spPr>
          <a:xfrm>
            <a:off x="4943209" y="5226922"/>
            <a:ext cx="1000391" cy="979326"/>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C5AB9408-76E6-4BC8-B596-8C1206B8A4FB}"/>
              </a:ext>
            </a:extLst>
          </p:cNvPr>
          <p:cNvCxnSpPr>
            <a:cxnSpLocks/>
          </p:cNvCxnSpPr>
          <p:nvPr/>
        </p:nvCxnSpPr>
        <p:spPr>
          <a:xfrm flipV="1">
            <a:off x="6828817" y="2319993"/>
            <a:ext cx="298545" cy="21892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9DEAA1C-1E5F-4E73-BEEB-B28073F23D94}"/>
              </a:ext>
            </a:extLst>
          </p:cNvPr>
          <p:cNvCxnSpPr>
            <a:cxnSpLocks/>
          </p:cNvCxnSpPr>
          <p:nvPr/>
        </p:nvCxnSpPr>
        <p:spPr>
          <a:xfrm flipH="1">
            <a:off x="4345296" y="4435813"/>
            <a:ext cx="343436" cy="23346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DF73954-ED68-419C-9062-94D789F247A6}"/>
              </a:ext>
            </a:extLst>
          </p:cNvPr>
          <p:cNvCxnSpPr>
            <a:endCxn id="16" idx="1"/>
          </p:cNvCxnSpPr>
          <p:nvPr/>
        </p:nvCxnSpPr>
        <p:spPr>
          <a:xfrm>
            <a:off x="6062465" y="2679650"/>
            <a:ext cx="614409"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CA611B8-9070-480E-850E-4E38593A3999}"/>
              </a:ext>
            </a:extLst>
          </p:cNvPr>
          <p:cNvCxnSpPr>
            <a:cxnSpLocks/>
          </p:cNvCxnSpPr>
          <p:nvPr/>
        </p:nvCxnSpPr>
        <p:spPr>
          <a:xfrm flipH="1">
            <a:off x="5710137" y="3219855"/>
            <a:ext cx="1267952" cy="108949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4C56076A-ED28-4085-8C05-B099ED5D44F5}"/>
              </a:ext>
            </a:extLst>
          </p:cNvPr>
          <p:cNvCxnSpPr/>
          <p:nvPr/>
        </p:nvCxnSpPr>
        <p:spPr>
          <a:xfrm>
            <a:off x="6214408" y="5137505"/>
            <a:ext cx="614409"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8A9614BA-82ED-49F2-AA64-E2E8FB82F3DF}"/>
              </a:ext>
            </a:extLst>
          </p:cNvPr>
          <p:cNvSpPr/>
          <p:nvPr/>
        </p:nvSpPr>
        <p:spPr>
          <a:xfrm>
            <a:off x="6619124" y="3832378"/>
            <a:ext cx="1104638" cy="1292195"/>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3614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66560" y="365040"/>
            <a:ext cx="11257560" cy="824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ea typeface="DejaVu Sans"/>
              </a:rPr>
              <a:t>Partial charges: what are they and how to get them</a:t>
            </a:r>
          </a:p>
        </p:txBody>
      </p:sp>
      <p:sp>
        <p:nvSpPr>
          <p:cNvPr id="23" name="Zástupný symbol pro obsah 2">
            <a:extLst>
              <a:ext uri="{FF2B5EF4-FFF2-40B4-BE49-F238E27FC236}">
                <a16:creationId xmlns:a16="http://schemas.microsoft.com/office/drawing/2014/main" id="{B6B530D6-B3F6-45D5-9391-A24BE912255A}"/>
              </a:ext>
            </a:extLst>
          </p:cNvPr>
          <p:cNvSpPr txBox="1">
            <a:spLocks/>
          </p:cNvSpPr>
          <p:nvPr/>
        </p:nvSpPr>
        <p:spPr>
          <a:xfrm>
            <a:off x="400810" y="1189440"/>
            <a:ext cx="11323310" cy="521136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cs-CZ" altLang="en-US" sz="2400" b="1" dirty="0" err="1"/>
              <a:t>Cisplatin</a:t>
            </a:r>
            <a:endParaRPr lang="en-US" sz="2400" b="1" i="1" dirty="0"/>
          </a:p>
          <a:p>
            <a:pPr marL="0" indent="0">
              <a:buFont typeface="Arial" panose="020B0604020202020204" pitchFamily="34" charset="0"/>
              <a:buNone/>
            </a:pPr>
            <a:endParaRPr lang="en-US" sz="2400" b="1" i="1" dirty="0"/>
          </a:p>
          <a:p>
            <a:pPr marL="0" indent="0">
              <a:buFont typeface="Arial" panose="020B0604020202020204" pitchFamily="34" charset="0"/>
              <a:buNone/>
            </a:pPr>
            <a:endParaRPr lang="en-US" sz="2400" b="1" i="1" dirty="0"/>
          </a:p>
          <a:p>
            <a:pPr marL="0" indent="0">
              <a:buFont typeface="Arial" panose="020B0604020202020204" pitchFamily="34" charset="0"/>
              <a:buNone/>
            </a:pPr>
            <a:endParaRPr lang="en-US" sz="2400" b="1" i="1" dirty="0"/>
          </a:p>
          <a:p>
            <a:pPr marL="0" indent="0">
              <a:buFont typeface="Arial" panose="020B0604020202020204" pitchFamily="34" charset="0"/>
              <a:buNone/>
            </a:pPr>
            <a:endParaRPr lang="en-US" sz="2400" b="1" i="1" dirty="0"/>
          </a:p>
          <a:p>
            <a:pPr marL="0" indent="0">
              <a:buFont typeface="Arial" panose="020B0604020202020204" pitchFamily="34" charset="0"/>
              <a:buNone/>
            </a:pPr>
            <a:endParaRPr lang="en-US" sz="2400" b="1" i="1" dirty="0"/>
          </a:p>
          <a:p>
            <a:pPr marL="0" indent="0">
              <a:buFont typeface="Arial" panose="020B0604020202020204" pitchFamily="34" charset="0"/>
              <a:buNone/>
            </a:pPr>
            <a:endParaRPr lang="en-US" sz="2400" b="1" i="1" dirty="0"/>
          </a:p>
          <a:p>
            <a:pPr marL="0" indent="0">
              <a:buFont typeface="Arial" panose="020B0604020202020204" pitchFamily="34" charset="0"/>
              <a:buNone/>
            </a:pPr>
            <a:endParaRPr lang="en-US" sz="2400" b="1" i="1" dirty="0"/>
          </a:p>
          <a:p>
            <a:pPr marL="0" indent="0">
              <a:buFont typeface="Arial" panose="020B0604020202020204" pitchFamily="34" charset="0"/>
              <a:buNone/>
            </a:pPr>
            <a:endParaRPr lang="en-US" sz="2400" b="1" i="1" dirty="0"/>
          </a:p>
          <a:p>
            <a:pPr marL="0" indent="0">
              <a:buFont typeface="Arial" panose="020B0604020202020204" pitchFamily="34" charset="0"/>
              <a:buNone/>
            </a:pPr>
            <a:r>
              <a:rPr lang="en-US" sz="2400" b="1" i="1" dirty="0"/>
              <a:t>TASK</a:t>
            </a:r>
            <a:r>
              <a:rPr lang="cs-CZ" sz="2400" b="1" i="1" dirty="0"/>
              <a:t>3</a:t>
            </a:r>
            <a:r>
              <a:rPr lang="en-US" sz="2400" dirty="0"/>
              <a:t> </a:t>
            </a:r>
            <a:r>
              <a:rPr lang="en-US" sz="2400" dirty="0">
                <a:latin typeface="Courier New" panose="02070309020205020404" pitchFamily="49" charset="0"/>
                <a:cs typeface="Courier New" panose="02070309020205020404" pitchFamily="49" charset="0"/>
              </a:rPr>
              <a:t>-&gt;</a:t>
            </a:r>
            <a:r>
              <a:rPr lang="en-US" sz="2400" dirty="0"/>
              <a:t> </a:t>
            </a:r>
            <a:r>
              <a:rPr lang="cs-CZ" sz="2400" dirty="0" err="1"/>
              <a:t>Calculate</a:t>
            </a:r>
            <a:r>
              <a:rPr lang="cs-CZ" sz="2400" dirty="0"/>
              <a:t> RESP </a:t>
            </a:r>
            <a:r>
              <a:rPr lang="cs-CZ" sz="2400" dirty="0" err="1"/>
              <a:t>charges</a:t>
            </a:r>
            <a:r>
              <a:rPr lang="cs-CZ" sz="2400" dirty="0"/>
              <a:t> </a:t>
            </a:r>
            <a:r>
              <a:rPr lang="cs-CZ" sz="2400" dirty="0" err="1"/>
              <a:t>for</a:t>
            </a:r>
            <a:r>
              <a:rPr lang="cs-CZ" sz="2400" dirty="0"/>
              <a:t> </a:t>
            </a:r>
            <a:r>
              <a:rPr lang="cs-CZ" sz="2400" dirty="0" err="1"/>
              <a:t>cisplatin</a:t>
            </a:r>
            <a:r>
              <a:rPr lang="cs-CZ" sz="2400" dirty="0"/>
              <a:t> (and </a:t>
            </a:r>
            <a:r>
              <a:rPr lang="cs-CZ" sz="2400" dirty="0" err="1"/>
              <a:t>its</a:t>
            </a:r>
            <a:r>
              <a:rPr lang="cs-CZ" sz="2400" dirty="0"/>
              <a:t> </a:t>
            </a:r>
            <a:r>
              <a:rPr lang="cs-CZ" sz="2400" dirty="0" err="1"/>
              <a:t>hydrated</a:t>
            </a:r>
            <a:r>
              <a:rPr lang="cs-CZ" sz="2400" dirty="0"/>
              <a:t> </a:t>
            </a:r>
            <a:r>
              <a:rPr lang="cs-CZ" sz="2400" dirty="0" err="1"/>
              <a:t>forms</a:t>
            </a:r>
            <a:r>
              <a:rPr lang="cs-CZ" sz="2400" dirty="0"/>
              <a:t>) and </a:t>
            </a:r>
            <a:r>
              <a:rPr lang="cs-CZ" sz="2400" dirty="0" err="1"/>
              <a:t>for</a:t>
            </a:r>
            <a:r>
              <a:rPr lang="cs-CZ" sz="2400" dirty="0"/>
              <a:t> cis0 </a:t>
            </a:r>
            <a:r>
              <a:rPr lang="cs-CZ" sz="2400" dirty="0" err="1"/>
              <a:t>prepare</a:t>
            </a:r>
            <a:r>
              <a:rPr lang="cs-CZ" sz="2400" dirty="0"/>
              <a:t> </a:t>
            </a:r>
            <a:r>
              <a:rPr lang="cs-CZ" sz="2400" i="1" dirty="0"/>
              <a:t>.</a:t>
            </a:r>
            <a:r>
              <a:rPr lang="cs-CZ" sz="2400" i="1" dirty="0" err="1"/>
              <a:t>itp</a:t>
            </a:r>
            <a:r>
              <a:rPr lang="cs-CZ" sz="2400" i="1" dirty="0"/>
              <a:t> </a:t>
            </a:r>
            <a:r>
              <a:rPr lang="cs-CZ" sz="2400" dirty="0" err="1"/>
              <a:t>file</a:t>
            </a:r>
            <a:r>
              <a:rPr lang="cs-CZ" sz="2400" dirty="0"/>
              <a:t> </a:t>
            </a:r>
            <a:r>
              <a:rPr lang="cs-CZ" sz="2400" dirty="0" err="1"/>
              <a:t>from</a:t>
            </a:r>
            <a:r>
              <a:rPr lang="cs-CZ" sz="2400" dirty="0"/>
              <a:t> </a:t>
            </a:r>
            <a:r>
              <a:rPr lang="cs-CZ" sz="2400" dirty="0" err="1"/>
              <a:t>scratch</a:t>
            </a:r>
            <a:r>
              <a:rPr lang="cs-CZ" sz="2400" dirty="0"/>
              <a:t> </a:t>
            </a:r>
            <a:r>
              <a:rPr lang="cs-CZ" sz="2400" dirty="0" err="1"/>
              <a:t>using</a:t>
            </a:r>
            <a:r>
              <a:rPr lang="cs-CZ" sz="2400" dirty="0"/>
              <a:t> </a:t>
            </a:r>
            <a:r>
              <a:rPr lang="cs-CZ" sz="2400" dirty="0" err="1"/>
              <a:t>paper</a:t>
            </a:r>
            <a:r>
              <a:rPr lang="cs-CZ" sz="2400" dirty="0"/>
              <a:t> </a:t>
            </a:r>
            <a:r>
              <a:rPr lang="cs-CZ" sz="2400" dirty="0" err="1"/>
              <a:t>of</a:t>
            </a:r>
            <a:r>
              <a:rPr lang="cs-CZ" sz="2400" dirty="0"/>
              <a:t> </a:t>
            </a:r>
            <a:r>
              <a:rPr lang="cs-CZ" sz="2400" b="1" i="1" dirty="0"/>
              <a:t>Ruano2022</a:t>
            </a:r>
            <a:r>
              <a:rPr lang="cs-CZ" sz="2400" dirty="0"/>
              <a:t> </a:t>
            </a:r>
            <a:r>
              <a:rPr lang="cs-CZ" sz="2400" i="1" dirty="0"/>
              <a:t>(SI)</a:t>
            </a:r>
            <a:r>
              <a:rPr lang="en-US" sz="2400" dirty="0"/>
              <a:t> </a:t>
            </a:r>
            <a:endParaRPr lang="en-US" altLang="en-US" sz="2400" b="1" dirty="0"/>
          </a:p>
          <a:p>
            <a:pPr marL="0" indent="0">
              <a:buFont typeface="Arial" panose="020B0604020202020204" pitchFamily="34" charset="0"/>
              <a:buNone/>
            </a:pPr>
            <a:endParaRPr lang="en-US" altLang="en-US" sz="2400" b="1" dirty="0"/>
          </a:p>
          <a:p>
            <a:pPr marL="0" indent="0">
              <a:buFont typeface="Arial" panose="020B0604020202020204" pitchFamily="34" charset="0"/>
              <a:buNone/>
            </a:pPr>
            <a:endParaRPr lang="en-US" altLang="en-US" sz="1400" dirty="0"/>
          </a:p>
        </p:txBody>
      </p:sp>
      <p:pic>
        <p:nvPicPr>
          <p:cNvPr id="7" name="Picture 6">
            <a:extLst>
              <a:ext uri="{FF2B5EF4-FFF2-40B4-BE49-F238E27FC236}">
                <a16:creationId xmlns:a16="http://schemas.microsoft.com/office/drawing/2014/main" id="{C481376F-74F2-4895-BFFE-EDBD67BCA8FA}"/>
              </a:ext>
            </a:extLst>
          </p:cNvPr>
          <p:cNvPicPr>
            <a:picLocks noChangeAspect="1"/>
          </p:cNvPicPr>
          <p:nvPr/>
        </p:nvPicPr>
        <p:blipFill>
          <a:blip r:embed="rId2"/>
          <a:stretch>
            <a:fillRect/>
          </a:stretch>
        </p:blipFill>
        <p:spPr>
          <a:xfrm>
            <a:off x="4381657" y="1822164"/>
            <a:ext cx="3361616" cy="3213672"/>
          </a:xfrm>
          <a:prstGeom prst="rect">
            <a:avLst/>
          </a:prstGeom>
        </p:spPr>
      </p:pic>
    </p:spTree>
    <p:extLst>
      <p:ext uri="{BB962C8B-B14F-4D97-AF65-F5344CB8AC3E}">
        <p14:creationId xmlns:p14="http://schemas.microsoft.com/office/powerpoint/2010/main" val="3414620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66560" y="365040"/>
            <a:ext cx="11257560" cy="824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nSpc>
                <a:spcPct val="90000"/>
              </a:lnSpc>
            </a:pPr>
            <a:r>
              <a:rPr lang="en-US" sz="3600" b="1" strike="noStrike" spc="-1" dirty="0">
                <a:solidFill>
                  <a:srgbClr val="21A9C0"/>
                </a:solidFill>
                <a:latin typeface="Arial"/>
                <a:ea typeface="DejaVu Sans"/>
              </a:rPr>
              <a:t>Free energy of solvation using Accelerated Weight Histogram (AWH) method</a:t>
            </a:r>
          </a:p>
        </p:txBody>
      </p:sp>
      <p:sp>
        <p:nvSpPr>
          <p:cNvPr id="6" name="Zástupný symbol pro obsah 2">
            <a:extLst>
              <a:ext uri="{FF2B5EF4-FFF2-40B4-BE49-F238E27FC236}">
                <a16:creationId xmlns:a16="http://schemas.microsoft.com/office/drawing/2014/main" id="{17A88ABF-69FB-4BDE-A0F0-0C2448956907}"/>
              </a:ext>
            </a:extLst>
          </p:cNvPr>
          <p:cNvSpPr txBox="1">
            <a:spLocks/>
          </p:cNvSpPr>
          <p:nvPr/>
        </p:nvSpPr>
        <p:spPr>
          <a:xfrm>
            <a:off x="466560" y="1412776"/>
            <a:ext cx="11257560" cy="532859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cs-CZ" sz="2400" dirty="0"/>
              <a:t>A</a:t>
            </a:r>
            <a:r>
              <a:rPr lang="en-US" sz="2400" dirty="0" err="1"/>
              <a:t>ccelerated</a:t>
            </a:r>
            <a:r>
              <a:rPr lang="en-US" sz="2400" dirty="0"/>
              <a:t> </a:t>
            </a:r>
            <a:r>
              <a:rPr lang="cs-CZ" sz="2400" dirty="0"/>
              <a:t>W</a:t>
            </a:r>
            <a:r>
              <a:rPr lang="en-US" sz="2400" dirty="0"/>
              <a:t>eight </a:t>
            </a:r>
            <a:r>
              <a:rPr lang="cs-CZ" sz="2400" dirty="0"/>
              <a:t>H</a:t>
            </a:r>
            <a:r>
              <a:rPr lang="en-US" sz="2400" dirty="0" err="1"/>
              <a:t>istogram</a:t>
            </a:r>
            <a:r>
              <a:rPr lang="en-US" sz="2400" dirty="0"/>
              <a:t> method</a:t>
            </a:r>
            <a:endParaRPr lang="cs-CZ" sz="2400" dirty="0"/>
          </a:p>
          <a:p>
            <a:pPr lvl="1"/>
            <a:r>
              <a:rPr lang="cs-CZ" sz="2000" dirty="0"/>
              <a:t>C</a:t>
            </a:r>
            <a:r>
              <a:rPr lang="en-US" sz="2000" dirty="0" err="1"/>
              <a:t>alculates</a:t>
            </a:r>
            <a:r>
              <a:rPr lang="en-US" sz="2000" dirty="0"/>
              <a:t> the PMF along a reaction coordinate by adding an adaptively determined biasing potential. </a:t>
            </a:r>
            <a:endParaRPr lang="cs-CZ" sz="2000" dirty="0"/>
          </a:p>
          <a:p>
            <a:pPr lvl="1"/>
            <a:r>
              <a:rPr lang="cs-CZ" sz="2000" dirty="0"/>
              <a:t>F</a:t>
            </a:r>
            <a:r>
              <a:rPr lang="en-US" sz="2000" dirty="0" err="1"/>
              <a:t>lattens</a:t>
            </a:r>
            <a:r>
              <a:rPr lang="en-US" sz="2000" dirty="0"/>
              <a:t> free energy barriers along the reaction coordinate by applying a history-dependent potential to the system that “fills up” free energy minima. </a:t>
            </a:r>
          </a:p>
        </p:txBody>
      </p:sp>
      <p:pic>
        <p:nvPicPr>
          <p:cNvPr id="3" name="Picture 2">
            <a:extLst>
              <a:ext uri="{FF2B5EF4-FFF2-40B4-BE49-F238E27FC236}">
                <a16:creationId xmlns:a16="http://schemas.microsoft.com/office/drawing/2014/main" id="{838933E5-B922-41F1-BBCF-EB1D1A0E0C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3990" y="3429000"/>
            <a:ext cx="5244019" cy="2913344"/>
          </a:xfrm>
          <a:prstGeom prst="rect">
            <a:avLst/>
          </a:prstGeom>
        </p:spPr>
      </p:pic>
    </p:spTree>
    <p:extLst>
      <p:ext uri="{BB962C8B-B14F-4D97-AF65-F5344CB8AC3E}">
        <p14:creationId xmlns:p14="http://schemas.microsoft.com/office/powerpoint/2010/main" val="39609553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8198</TotalTime>
  <Words>1521</Words>
  <Application>Microsoft Office PowerPoint</Application>
  <PresentationFormat>Widescreen</PresentationFormat>
  <Paragraphs>231</Paragraphs>
  <Slides>22</Slides>
  <Notes>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22</vt:i4>
      </vt:variant>
    </vt:vector>
  </HeadingPairs>
  <TitlesOfParts>
    <vt:vector size="30" baseType="lpstr">
      <vt:lpstr>Arial</vt:lpstr>
      <vt:lpstr>Calibri</vt:lpstr>
      <vt:lpstr>Courier New</vt:lpstr>
      <vt:lpstr>Symbol</vt:lpstr>
      <vt:lpstr>Times New Roman</vt:lpstr>
      <vt:lpstr>Wingdings</vt:lpstr>
      <vt:lpstr>Office Theme</vt:lpstr>
      <vt:lpstr>Office Theme</vt:lpstr>
      <vt:lpstr>PowerPoint Presentation</vt:lpstr>
      <vt:lpstr>Get ready for practical session</vt:lpstr>
      <vt:lpstr>Get ready for practical session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Michaela Palata</dc:creator>
  <dc:description/>
  <cp:lastModifiedBy>Ondra Kroutil</cp:lastModifiedBy>
  <cp:revision>378</cp:revision>
  <cp:lastPrinted>2017-09-20T07:48:49Z</cp:lastPrinted>
  <dcterms:created xsi:type="dcterms:W3CDTF">2017-09-06T10:48:47Z</dcterms:created>
  <dcterms:modified xsi:type="dcterms:W3CDTF">2023-11-02T08:09:15Z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26</vt:i4>
  </property>
  <property fmtid="{D5CDD505-2E9C-101B-9397-08002B2CF9AE}" pid="8" name="PresentationFormat">
    <vt:lpwstr>Širokoúhlá obrazovka</vt:lpwstr>
  </property>
  <property fmtid="{D5CDD505-2E9C-101B-9397-08002B2CF9AE}" pid="9" name="ScaleCrop">
    <vt:bool>false</vt:bool>
  </property>
  <property fmtid="{D5CDD505-2E9C-101B-9397-08002B2CF9AE}" pid="10" name="ShareDoc">
    <vt:bool>false</vt:bool>
  </property>
  <property fmtid="{D5CDD505-2E9C-101B-9397-08002B2CF9AE}" pid="11" name="Slides">
    <vt:i4>26</vt:i4>
  </property>
</Properties>
</file>