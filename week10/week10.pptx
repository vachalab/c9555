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7" r:id="rId2"/>
    <p:sldId id="810" r:id="rId3"/>
    <p:sldId id="837" r:id="rId4"/>
    <p:sldId id="811" r:id="rId5"/>
    <p:sldId id="850" r:id="rId6"/>
    <p:sldId id="847" r:id="rId7"/>
    <p:sldId id="823" r:id="rId8"/>
    <p:sldId id="854" r:id="rId9"/>
    <p:sldId id="849" r:id="rId10"/>
    <p:sldId id="851" r:id="rId11"/>
    <p:sldId id="852" r:id="rId12"/>
    <p:sldId id="843" r:id="rId13"/>
    <p:sldId id="835" r:id="rId14"/>
  </p:sldIdLst>
  <p:sldSz cx="12192000" cy="6858000"/>
  <p:notesSz cx="6865938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C143"/>
    <a:srgbClr val="21A9C0"/>
    <a:srgbClr val="39464A"/>
    <a:srgbClr val="62BB46"/>
    <a:srgbClr val="F6F7F7"/>
    <a:srgbClr val="EBECED"/>
    <a:srgbClr val="F0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62831-1909-5C63-6D03-6205BA46B83A}" v="334" dt="2023-11-29T15:46:05.476"/>
    <p1510:client id="{363A186A-7D36-6ED7-E863-9A965A51FF60}" v="51" dt="2023-11-29T14:23:52.382"/>
    <p1510:client id="{3FF02134-07DC-ACBD-4BFB-0CC78CB75D4E}" v="2" dt="2023-11-20T07:55:27.933"/>
    <p1510:client id="{4EBB36A3-513E-2DD9-F55A-335ADBEAB1D0}" v="58" dt="2023-10-31T12:02:24.766"/>
    <p1510:client id="{52BAD143-A802-2065-E1D1-96994DB2CC59}" v="16" dt="2023-11-30T08:46:43.203"/>
    <p1510:client id="{880253BB-16DD-A0A6-FDD3-CE6FC4916EE9}" v="464" dt="2023-11-29T13:17:46.787"/>
    <p1510:client id="{9646DE74-F67D-4747-8274-D6AA2A3FF42F}" v="45" dt="2023-09-18T08:47:12.022"/>
    <p1510:client id="{C05653FF-E00C-1C6C-6FF8-0BBDAA994EE2}" v="953" dt="2023-09-19T09:57:17.003"/>
    <p1510:client id="{C078B6D0-C756-861D-476D-035113A1C101}" v="33" dt="2023-09-19T09:58:45.578"/>
    <p1510:client id="{C466FF33-9758-6E46-3882-CFB104EB85F8}" v="465" dt="2023-09-18T14:40:58.454"/>
    <p1510:client id="{CEC7F0CF-7712-41B5-5E62-83E6E2866E5B}" v="837" dt="2023-11-21T14:54:22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6"/>
        <p:guide pos="381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879682-766A-4EC9-9AB4-6B05D94CF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EE19B-11B0-4020-A52B-9F88D94D7A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00A26804-296B-4572-A0F9-372DDB81CE0C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C4B6D-059E-45D0-AFA3-0D9EA856C1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24AFA-A144-419F-8FDA-EB926EDC5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23F7E358-18BC-4B0A-BB40-FB7A647C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5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DD6D46A3-849D-4409-B0D0-71D3CF0B43A8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810810"/>
            <a:ext cx="5492750" cy="3936117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34B23C0-22E8-4F3C-9489-1582CADF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10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Zástupný symbol pro obrázek snímku 1">
            <a:extLst>
              <a:ext uri="{FF2B5EF4-FFF2-40B4-BE49-F238E27FC236}">
                <a16:creationId xmlns:a16="http://schemas.microsoft.com/office/drawing/2014/main" id="{38BA96DA-4AED-4D58-84B8-34CF840B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Zástupný symbol pro poznámky 2">
            <a:extLst>
              <a:ext uri="{FF2B5EF4-FFF2-40B4-BE49-F238E27FC236}">
                <a16:creationId xmlns:a16="http://schemas.microsoft.com/office/drawing/2014/main" id="{F662795C-91AB-43C4-BA8F-96DF9EA6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cs-CZ">
              <a:latin typeface="Arial" panose="020B0604020202020204" pitchFamily="34" charset="0"/>
            </a:endParaRPr>
          </a:p>
        </p:txBody>
      </p:sp>
      <p:sp>
        <p:nvSpPr>
          <p:cNvPr id="24580" name="Zástupný symbol pro číslo snímku 3">
            <a:extLst>
              <a:ext uri="{FF2B5EF4-FFF2-40B4-BE49-F238E27FC236}">
                <a16:creationId xmlns:a16="http://schemas.microsoft.com/office/drawing/2014/main" id="{868B11F0-8907-433A-80EB-551E64857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2846" indent="-30109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4379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6131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67882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49634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31386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13137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94889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78E9E-F237-4B5E-8E23-061410CD0F9A}" type="slidenum">
              <a:rPr lang="cs-CZ" altLang="en-US" smtClean="0"/>
              <a:pPr/>
              <a:t>1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2788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tif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9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847581D-BF1F-49D3-8CFA-5B02D626EF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" y="0"/>
            <a:ext cx="121919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06" y="2562224"/>
            <a:ext cx="10796588" cy="23479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706" y="5105399"/>
            <a:ext cx="10796588" cy="971551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6D5F3CA-36BC-4D5C-8C42-8CED5BE448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M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0E3403-9337-4A39-8B2D-87B1289DA3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65" y="696566"/>
            <a:ext cx="2280168" cy="64997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82B0-7EFB-A55A-5C7E-712BBACC99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0337-37EF-4DF1-BD49-2A9123506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V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C790552-49A7-425E-93B6-614B6C390F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1146" y="634882"/>
            <a:ext cx="2453146" cy="78434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759ED6C-1EB3-4712-BF5C-70DCD3AAE8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6604-08F1-4707-8B60-4EB32C7D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341947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D9DB-552C-437D-8CD9-3FB1FDF8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3975101"/>
            <a:ext cx="11258550" cy="18097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AAEBC2-CD82-476B-9F09-93700AEF63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and </a:t>
            </a:r>
            <a:r>
              <a:rPr lang="cs-CZ" err="1"/>
              <a:t>contact</a:t>
            </a:r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7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 + Ma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12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and </a:t>
            </a:r>
            <a:r>
              <a:rPr lang="cs-CZ" err="1"/>
              <a:t>contact</a:t>
            </a:r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54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9898-7198-401D-B3BC-3FDCD0A3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3CC8-3D58-4CC9-9980-7B6494CB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E952B-CD96-4622-A77D-60AFBF8C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665D-584B-488A-A8B7-BB61BBA1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9CAB-B78F-4547-932E-9B52A518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B3D8-C8FD-4695-9AED-29B11F411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725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E075E-B249-44D9-B1FB-63F9B35A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01AEE-DAAA-4A1F-B4D5-C1D7F373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55FF9-EAF5-495E-B1E1-C394C4CA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E032-3DB1-4A87-8AE3-C0F98583F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725" y="365126"/>
            <a:ext cx="11258549" cy="825500"/>
          </a:xfrm>
        </p:spPr>
        <p:txBody>
          <a:bodyPr anchor="ctr"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B929-F940-434E-A2F5-04BDA1A5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24519"/>
            <a:ext cx="6542086" cy="436193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2815-0A5C-47DC-B1C0-50CE63A0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6726" y="1523999"/>
            <a:ext cx="4305300" cy="4344989"/>
          </a:xfrm>
        </p:spPr>
        <p:txBody>
          <a:bodyPr/>
          <a:lstStyle>
            <a:lvl1pPr marL="0" indent="0">
              <a:buNone/>
              <a:defRPr sz="1600">
                <a:solidFill>
                  <a:srgbClr val="21A9C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4B685-CFA1-4464-8529-905FEFC6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47864-7B38-4FF5-A909-FCBDE435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4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5CF-2973-4EFE-89BA-8E59AE0F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99087-1842-44DB-BB79-81977A08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9022D-9CCE-4F2C-9FAC-85753E6E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593CE-C65C-430F-BAA7-1712F387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CD5F8-EC74-418B-94C9-EFF8FDD9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8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E2BC1-A033-4DE0-B239-698661E5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825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50F1-72F9-4DD3-93B1-AC146414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1523999"/>
            <a:ext cx="11258550" cy="43624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2A22-6712-4C0F-85B7-FFFB9E80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919" y="6408258"/>
            <a:ext cx="7887356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rgbClr val="7AC143"/>
                </a:solidFill>
              </a:defRPr>
            </a:lvl1pPr>
          </a:lstStyle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891C1-86C2-4C30-A8CF-AC3354D3C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>
                <a:solidFill>
                  <a:srgbClr val="7AC143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1B9B6A7-7477-4E45-A58A-5FA0ADD2624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6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60" r:id="rId3"/>
    <p:sldLayoutId id="2147483651" r:id="rId4"/>
    <p:sldLayoutId id="2147483657" r:id="rId5"/>
    <p:sldLayoutId id="2147483662" r:id="rId6"/>
    <p:sldLayoutId id="2147483661" r:id="rId7"/>
    <p:sldLayoutId id="2147483650" r:id="rId8"/>
    <p:sldLayoutId id="2147483652" r:id="rId9"/>
    <p:sldLayoutId id="2147483656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A9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1A9C0"/>
        </a:buClr>
        <a:buFont typeface="Arial" panose="020B0604020202020204" pitchFamily="34" charset="0"/>
        <a:buChar char="•"/>
        <a:defRPr sz="2400" kern="1200">
          <a:solidFill>
            <a:srgbClr val="3946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2000" kern="1200">
          <a:solidFill>
            <a:srgbClr val="3946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800" kern="1200">
          <a:solidFill>
            <a:srgbClr val="3946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dpis 1">
            <a:extLst>
              <a:ext uri="{FF2B5EF4-FFF2-40B4-BE49-F238E27FC236}">
                <a16:creationId xmlns:a16="http://schemas.microsoft.com/office/drawing/2014/main" id="{E38636A8-6216-4BCE-8A5E-6572CEFC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04" y="6291445"/>
            <a:ext cx="4480036" cy="56655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7AC143"/>
                </a:solidFill>
              </a:rPr>
              <a:t>William Morton– </a:t>
            </a:r>
            <a:r>
              <a:rPr lang="fr-FR" err="1">
                <a:solidFill>
                  <a:srgbClr val="7AC143"/>
                </a:solidFill>
              </a:rPr>
              <a:t>Nov</a:t>
            </a:r>
            <a:r>
              <a:rPr lang="fr-FR">
                <a:solidFill>
                  <a:srgbClr val="7AC143"/>
                </a:solidFill>
              </a:rPr>
              <a:t> 30th, 2023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B1D9170C-9B46-4288-9A83-9C9E72152AC7}"/>
              </a:ext>
            </a:extLst>
          </p:cNvPr>
          <p:cNvSpPr/>
          <p:nvPr/>
        </p:nvSpPr>
        <p:spPr>
          <a:xfrm>
            <a:off x="762000" y="1066800"/>
            <a:ext cx="38252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769A61-85EE-391F-AD6B-C212B8E41E75}"/>
              </a:ext>
            </a:extLst>
          </p:cNvPr>
          <p:cNvSpPr txBox="1">
            <a:spLocks noChangeArrowheads="1"/>
          </p:cNvSpPr>
          <p:nvPr/>
        </p:nvSpPr>
        <p:spPr>
          <a:xfrm>
            <a:off x="206177" y="4408238"/>
            <a:ext cx="2966039" cy="78012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21A9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cs-CZ" sz="4000" cap="small"/>
              <a:t>Week 10</a:t>
            </a:r>
            <a:endParaRPr lang="cs-CZ" altLang="cs-CZ" sz="4000" cap="small"/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E4B30EF6-4641-45F0-9275-01C71BCFF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6177" y="1783566"/>
            <a:ext cx="6259507" cy="2624672"/>
          </a:xfrm>
        </p:spPr>
        <p:txBody>
          <a:bodyPr/>
          <a:lstStyle/>
          <a:p>
            <a:pPr eaLnBrk="1" hangingPunct="1"/>
            <a:r>
              <a:rPr lang="en-US" altLang="cs-CZ"/>
              <a:t>C9555: </a:t>
            </a:r>
            <a:br>
              <a:rPr lang="en-US" altLang="cs-CZ"/>
            </a:br>
            <a:r>
              <a:rPr lang="en-US" altLang="cs-CZ"/>
              <a:t>A survival guide</a:t>
            </a:r>
            <a:br>
              <a:rPr lang="en-US" altLang="cs-CZ"/>
            </a:br>
            <a:r>
              <a:rPr lang="en-US" altLang="cs-CZ"/>
              <a:t>to simulations</a:t>
            </a:r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14759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  <a:endParaRPr lang="cs-CZ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738817F-2B33-4C4B-71CC-C42BB896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err="1">
                <a:cs typeface="Arial"/>
              </a:rPr>
              <a:t>Recap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from</a:t>
            </a:r>
            <a:r>
              <a:rPr lang="cs-CZ">
                <a:cs typeface="Arial"/>
              </a:rPr>
              <a:t> last </a:t>
            </a:r>
            <a:r>
              <a:rPr lang="cs-CZ" err="1">
                <a:cs typeface="Arial"/>
              </a:rPr>
              <a:t>week</a:t>
            </a:r>
          </a:p>
          <a:p>
            <a:pPr marL="457200" indent="-457200">
              <a:buAutoNum type="arabicPeriod"/>
            </a:pPr>
            <a:endParaRPr lang="cs-CZ">
              <a:cs typeface="Arial"/>
            </a:endParaRPr>
          </a:p>
          <a:p>
            <a:pPr marL="457200" indent="-457200">
              <a:buAutoNum type="arabicPeriod"/>
            </a:pPr>
            <a:r>
              <a:rPr lang="cs-CZ" err="1">
                <a:cs typeface="Arial"/>
              </a:rPr>
              <a:t>The</a:t>
            </a:r>
            <a:r>
              <a:rPr lang="cs-CZ">
                <a:cs typeface="Arial"/>
              </a:rPr>
              <a:t> minimum </a:t>
            </a:r>
            <a:r>
              <a:rPr lang="cs-CZ" err="1">
                <a:cs typeface="Arial"/>
              </a:rPr>
              <a:t>components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of</a:t>
            </a:r>
            <a:r>
              <a:rPr lang="cs-CZ">
                <a:cs typeface="Arial"/>
              </a:rPr>
              <a:t> MD</a:t>
            </a:r>
            <a:endParaRPr lang="cs-CZ"/>
          </a:p>
          <a:p>
            <a:pPr marL="457200" indent="-457200">
              <a:buAutoNum type="arabicPeriod"/>
            </a:pPr>
            <a:endParaRPr lang="cs-CZ">
              <a:cs typeface="Arial"/>
            </a:endParaRPr>
          </a:p>
          <a:p>
            <a:pPr marL="457200" indent="-457200">
              <a:buAutoNum type="arabicPeriod"/>
            </a:pPr>
            <a:r>
              <a:rPr lang="cs-CZ" err="1">
                <a:cs typeface="Arial"/>
              </a:rPr>
              <a:t>When</a:t>
            </a:r>
            <a:r>
              <a:rPr lang="cs-CZ">
                <a:cs typeface="Arial"/>
              </a:rPr>
              <a:t> to use </a:t>
            </a:r>
            <a:r>
              <a:rPr lang="cs-CZ" err="1">
                <a:cs typeface="Arial"/>
              </a:rPr>
              <a:t>coarse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graining</a:t>
            </a:r>
            <a:endParaRPr lang="cs-CZ">
              <a:cs typeface="Arial"/>
            </a:endParaRPr>
          </a:p>
          <a:p>
            <a:pPr marL="457200" indent="-457200">
              <a:buAutoNum type="arabicPeriod"/>
            </a:pPr>
            <a:endParaRPr lang="cs-CZ">
              <a:cs typeface="Arial"/>
            </a:endParaRPr>
          </a:p>
          <a:p>
            <a:pPr marL="457200" indent="-457200">
              <a:buAutoNum type="arabicPeriod"/>
            </a:pPr>
            <a:r>
              <a:rPr lang="cs-CZ" err="1">
                <a:cs typeface="Arial"/>
              </a:rPr>
              <a:t>Determine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translatable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properties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from</a:t>
            </a:r>
            <a:r>
              <a:rPr lang="cs-CZ">
                <a:cs typeface="Arial"/>
              </a:rPr>
              <a:t> experiment to MD</a:t>
            </a:r>
          </a:p>
          <a:p>
            <a:pPr>
              <a:buAutoNum type="arabicPeriod"/>
            </a:pPr>
            <a:endParaRPr lang="cs-CZ">
              <a:cs typeface="Arial"/>
            </a:endParaRPr>
          </a:p>
          <a:p>
            <a:pPr>
              <a:buAutoNum type="arabicPeriod"/>
            </a:pPr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8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>
                <a:cs typeface="Arial"/>
              </a:rPr>
              <a:t>Review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1C490B-39C3-6083-A23D-B49F92C4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endParaRPr lang="cs-CZ">
              <a:cs typeface="Arial"/>
            </a:endParaRPr>
          </a:p>
          <a:p>
            <a:endParaRPr lang="cs-CZ">
              <a:cs typeface="Arial"/>
            </a:endParaRPr>
          </a:p>
          <a:p>
            <a:endParaRPr lang="cs-CZ">
              <a:cs typeface="Arial"/>
            </a:endParaRPr>
          </a:p>
          <a:p>
            <a:endParaRPr lang="cs-CZ">
              <a:cs typeface="Arial"/>
            </a:endParaRPr>
          </a:p>
          <a:p>
            <a:r>
              <a:rPr lang="cs-CZ" dirty="0" err="1">
                <a:cs typeface="Arial"/>
              </a:rPr>
              <a:t>Where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improve</a:t>
            </a:r>
            <a:r>
              <a:rPr lang="cs-CZ" dirty="0">
                <a:cs typeface="Arial"/>
              </a:rPr>
              <a:t> on </a:t>
            </a:r>
            <a:r>
              <a:rPr lang="cs-CZ" dirty="0" err="1">
                <a:cs typeface="Arial"/>
              </a:rPr>
              <a:t>AlphaFold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using</a:t>
            </a:r>
            <a:r>
              <a:rPr lang="cs-CZ" dirty="0">
                <a:cs typeface="Arial"/>
              </a:rPr>
              <a:t> MD?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cs-CZ" err="1">
                <a:cs typeface="Arial"/>
              </a:rPr>
              <a:t>Hint</a:t>
            </a:r>
            <a:r>
              <a:rPr lang="cs-CZ">
                <a:cs typeface="Arial"/>
              </a:rPr>
              <a:t>: </a:t>
            </a:r>
            <a:r>
              <a:rPr lang="cs-CZ" err="1">
                <a:cs typeface="Arial"/>
              </a:rPr>
              <a:t>What</a:t>
            </a:r>
            <a:r>
              <a:rPr lang="cs-CZ">
                <a:cs typeface="Arial"/>
              </a:rPr>
              <a:t> are </a:t>
            </a:r>
            <a:r>
              <a:rPr lang="cs-CZ" err="1">
                <a:cs typeface="Arial"/>
              </a:rPr>
              <a:t>the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three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types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of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proteins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we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looked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at</a:t>
            </a:r>
            <a:r>
              <a:rPr lang="cs-CZ">
                <a:cs typeface="Arial"/>
              </a:rPr>
              <a:t>?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04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Components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CE25E6E4-DE65-6918-BD5E-98F9001D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err="1">
                <a:ea typeface="+mn-lt"/>
                <a:cs typeface="+mn-lt"/>
              </a:rPr>
              <a:t>How</a:t>
            </a:r>
            <a:r>
              <a:rPr lang="cs-CZ">
                <a:ea typeface="+mn-lt"/>
                <a:cs typeface="+mn-lt"/>
              </a:rPr>
              <a:t> do </a:t>
            </a:r>
            <a:r>
              <a:rPr lang="cs-CZ" err="1">
                <a:ea typeface="+mn-lt"/>
                <a:cs typeface="+mn-lt"/>
              </a:rPr>
              <a:t>we</a:t>
            </a:r>
            <a:r>
              <a:rPr lang="cs-CZ">
                <a:ea typeface="+mn-lt"/>
                <a:cs typeface="+mn-lt"/>
              </a:rPr>
              <a:t> start a MD </a:t>
            </a:r>
            <a:r>
              <a:rPr lang="cs-CZ" err="1">
                <a:ea typeface="+mn-lt"/>
                <a:cs typeface="+mn-lt"/>
              </a:rPr>
              <a:t>simulation</a:t>
            </a:r>
            <a:r>
              <a:rPr lang="cs-CZ">
                <a:ea typeface="+mn-lt"/>
                <a:cs typeface="+mn-lt"/>
              </a:rPr>
              <a:t>?</a:t>
            </a:r>
          </a:p>
          <a:p>
            <a:pPr marL="914400" lvl="1" indent="-457200">
              <a:lnSpc>
                <a:spcPct val="200000"/>
              </a:lnSpc>
              <a:buAutoNum type="arabicPeriod"/>
            </a:pPr>
            <a:endParaRPr lang="cs-CZ">
              <a:cs typeface="Arial"/>
            </a:endParaRPr>
          </a:p>
          <a:p>
            <a:pPr marL="914400" lvl="1" indent="-457200">
              <a:lnSpc>
                <a:spcPct val="200000"/>
              </a:lnSpc>
              <a:buAutoNum type="arabicPeriod"/>
            </a:pPr>
            <a:r>
              <a:rPr lang="cs-CZ" err="1">
                <a:cs typeface="Arial"/>
              </a:rPr>
              <a:t>Component</a:t>
            </a:r>
            <a:r>
              <a:rPr lang="cs-CZ">
                <a:cs typeface="Arial"/>
              </a:rPr>
              <a:t> 1?</a:t>
            </a:r>
          </a:p>
          <a:p>
            <a:pPr marL="914400" lvl="1" indent="-457200">
              <a:lnSpc>
                <a:spcPct val="200000"/>
              </a:lnSpc>
              <a:buAutoNum type="arabicPeriod"/>
            </a:pPr>
            <a:r>
              <a:rPr lang="cs-CZ" err="1">
                <a:cs typeface="Arial"/>
              </a:rPr>
              <a:t>Component</a:t>
            </a:r>
            <a:r>
              <a:rPr lang="cs-CZ">
                <a:cs typeface="Arial"/>
              </a:rPr>
              <a:t> 2?</a:t>
            </a:r>
          </a:p>
          <a:p>
            <a:pPr marL="914400" lvl="1" indent="-457200">
              <a:lnSpc>
                <a:spcPct val="200000"/>
              </a:lnSpc>
              <a:buAutoNum type="arabicPeriod"/>
            </a:pPr>
            <a:r>
              <a:rPr lang="cs-CZ" err="1">
                <a:cs typeface="Arial"/>
              </a:rPr>
              <a:t>Component</a:t>
            </a:r>
            <a:r>
              <a:rPr lang="cs-CZ">
                <a:cs typeface="Arial"/>
              </a:rPr>
              <a:t> 3?</a:t>
            </a:r>
          </a:p>
          <a:p>
            <a:pPr marL="914400" lvl="1" indent="-457200">
              <a:buAutoNum type="arabicPeriod"/>
            </a:pPr>
            <a:endParaRPr lang="cs-CZ">
              <a:cs typeface="Arial"/>
            </a:endParaRPr>
          </a:p>
          <a:p>
            <a:pPr marL="0" indent="0">
              <a:buNone/>
            </a:pPr>
            <a:endParaRPr lang="cs-CZ">
              <a:cs typeface="Arial"/>
            </a:endParaRPr>
          </a:p>
          <a:p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4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89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>
                <a:cs typeface="Arial"/>
              </a:rPr>
              <a:t>Review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1C490B-39C3-6083-A23D-B49F92C4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endParaRPr lang="cs-CZ">
              <a:cs typeface="Arial"/>
            </a:endParaRPr>
          </a:p>
          <a:p>
            <a:endParaRPr lang="cs-CZ">
              <a:cs typeface="Arial"/>
            </a:endParaRPr>
          </a:p>
          <a:p>
            <a:endParaRPr lang="cs-CZ">
              <a:cs typeface="Arial"/>
            </a:endParaRPr>
          </a:p>
          <a:p>
            <a:r>
              <a:rPr lang="cs-CZ" dirty="0" err="1">
                <a:cs typeface="Arial"/>
              </a:rPr>
              <a:t>Where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improve</a:t>
            </a:r>
            <a:r>
              <a:rPr lang="cs-CZ" dirty="0">
                <a:cs typeface="Arial"/>
              </a:rPr>
              <a:t> on </a:t>
            </a:r>
            <a:r>
              <a:rPr lang="cs-CZ" dirty="0" err="1">
                <a:cs typeface="Arial"/>
              </a:rPr>
              <a:t>AlphaFold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using</a:t>
            </a:r>
            <a:r>
              <a:rPr lang="cs-CZ" dirty="0">
                <a:cs typeface="Arial"/>
              </a:rPr>
              <a:t> MD?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Hint</a:t>
            </a:r>
            <a:r>
              <a:rPr lang="cs-CZ" dirty="0">
                <a:cs typeface="Arial"/>
              </a:rPr>
              <a:t>: </a:t>
            </a:r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are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three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types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proteins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looked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at</a:t>
            </a:r>
            <a:r>
              <a:rPr lang="cs-CZ" dirty="0">
                <a:cs typeface="Arial"/>
              </a:rPr>
              <a:t>?</a:t>
            </a:r>
          </a:p>
          <a:p>
            <a:pPr indent="-457200"/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speed up </a:t>
            </a:r>
            <a:r>
              <a:rPr lang="cs-CZ" dirty="0" err="1">
                <a:cs typeface="Arial"/>
              </a:rPr>
              <a:t>simulations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with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larger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folded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regions</a:t>
            </a:r>
            <a:endParaRPr lang="cs-CZ" dirty="0">
              <a:cs typeface="Arial"/>
            </a:endParaRP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Consequences</a:t>
            </a:r>
            <a:r>
              <a:rPr lang="cs-CZ" dirty="0">
                <a:cs typeface="Arial"/>
              </a:rPr>
              <a:t>?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issue with protein folding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CE25E6E4-DE65-6918-BD5E-98F9001D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914400" lvl="1" indent="-457200">
              <a:lnSpc>
                <a:spcPct val="200000"/>
              </a:lnSpc>
            </a:pPr>
            <a:r>
              <a:rPr lang="cs-CZ" err="1">
                <a:cs typeface="Arial"/>
              </a:rPr>
              <a:t>Let's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pretend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we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have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perfect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force-field</a:t>
            </a:r>
          </a:p>
          <a:p>
            <a:pPr marL="914400" lvl="1" indent="-457200">
              <a:lnSpc>
                <a:spcPct val="200000"/>
              </a:lnSpc>
            </a:pPr>
            <a:r>
              <a:rPr lang="cs-CZ" err="1">
                <a:cs typeface="Arial"/>
              </a:rPr>
              <a:t>Alpha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Fold</a:t>
            </a:r>
            <a:r>
              <a:rPr lang="cs-CZ">
                <a:cs typeface="Arial"/>
              </a:rPr>
              <a:t> has </a:t>
            </a:r>
            <a:r>
              <a:rPr lang="cs-CZ" err="1">
                <a:cs typeface="Arial"/>
              </a:rPr>
              <a:t>given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us</a:t>
            </a:r>
            <a:r>
              <a:rPr lang="cs-CZ">
                <a:cs typeface="Arial"/>
              </a:rPr>
              <a:t> a </a:t>
            </a:r>
            <a:r>
              <a:rPr lang="cs-CZ" err="1">
                <a:cs typeface="Arial"/>
              </a:rPr>
              <a:t>good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guess</a:t>
            </a:r>
          </a:p>
          <a:p>
            <a:pPr marL="914400" lvl="1" indent="-457200">
              <a:lnSpc>
                <a:spcPct val="200000"/>
              </a:lnSpc>
            </a:pPr>
            <a:r>
              <a:rPr lang="cs-CZ" err="1">
                <a:cs typeface="Arial"/>
              </a:rPr>
              <a:t>We</a:t>
            </a:r>
            <a:r>
              <a:rPr lang="cs-CZ">
                <a:cs typeface="Arial"/>
              </a:rPr>
              <a:t> start our simulation... What happens?</a:t>
            </a:r>
          </a:p>
          <a:p>
            <a:pPr marL="914400" lvl="1" indent="-457200"/>
            <a:endParaRPr lang="cs-CZ">
              <a:cs typeface="Arial"/>
            </a:endParaRPr>
          </a:p>
          <a:p>
            <a:pPr marL="0" indent="0">
              <a:buNone/>
            </a:pPr>
            <a:endParaRPr lang="cs-CZ">
              <a:cs typeface="Arial"/>
            </a:endParaRPr>
          </a:p>
          <a:p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6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3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Methods (in MD)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7331A95-49F9-86F2-737B-F13B5CBF8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6651516" cy="4362451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 err="1">
                <a:cs typeface="Arial"/>
              </a:rPr>
              <a:t>Parallel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Tempering</a:t>
            </a:r>
            <a:r>
              <a:rPr lang="cs-CZ" dirty="0">
                <a:cs typeface="Arial"/>
              </a:rPr>
              <a:t> (</a:t>
            </a:r>
            <a:r>
              <a:rPr lang="cs-CZ" dirty="0" err="1">
                <a:cs typeface="Arial"/>
              </a:rPr>
              <a:t>Replica</a:t>
            </a:r>
            <a:r>
              <a:rPr lang="cs-CZ" dirty="0">
                <a:cs typeface="Arial"/>
              </a:rPr>
              <a:t> Exchange)</a:t>
            </a: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Generally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applicable</a:t>
            </a:r>
            <a:endParaRPr lang="cs-CZ" dirty="0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Highly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dependent</a:t>
            </a:r>
            <a:r>
              <a:rPr lang="cs-CZ" dirty="0">
                <a:cs typeface="Arial"/>
              </a:rPr>
              <a:t> on </a:t>
            </a:r>
            <a:r>
              <a:rPr lang="cs-CZ" dirty="0" err="1">
                <a:cs typeface="Arial"/>
              </a:rPr>
              <a:t>parameters</a:t>
            </a:r>
            <a:endParaRPr lang="cs-CZ"/>
          </a:p>
          <a:p>
            <a:pPr>
              <a:lnSpc>
                <a:spcPct val="200000"/>
              </a:lnSpc>
            </a:pPr>
            <a:r>
              <a:rPr lang="cs-CZ" dirty="0" err="1">
                <a:cs typeface="Arial"/>
              </a:rPr>
              <a:t>Hierarchial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Chain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Growth</a:t>
            </a:r>
            <a:endParaRPr lang="en-US" dirty="0" err="1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Lower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computational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resource</a:t>
            </a: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Ideal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disordered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proteins</a:t>
            </a:r>
            <a:endParaRPr lang="cs-CZ" dirty="0">
              <a:cs typeface="Arial"/>
            </a:endParaRPr>
          </a:p>
          <a:p>
            <a:pPr lvl="1"/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7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576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Methods (in MD)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7331A95-49F9-86F2-737B-F13B5CBF8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6651516" cy="4362451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 err="1">
                <a:cs typeface="Arial"/>
              </a:rPr>
              <a:t>Parallel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Tempering</a:t>
            </a:r>
            <a:r>
              <a:rPr lang="cs-CZ" dirty="0">
                <a:cs typeface="Arial"/>
              </a:rPr>
              <a:t> (</a:t>
            </a:r>
            <a:r>
              <a:rPr lang="cs-CZ" dirty="0" err="1">
                <a:cs typeface="Arial"/>
              </a:rPr>
              <a:t>Replica</a:t>
            </a:r>
            <a:r>
              <a:rPr lang="cs-CZ" dirty="0">
                <a:cs typeface="Arial"/>
              </a:rPr>
              <a:t> Exchange)</a:t>
            </a: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energy</a:t>
            </a:r>
            <a:r>
              <a:rPr lang="cs-CZ" dirty="0">
                <a:cs typeface="Arial"/>
              </a:rPr>
              <a:t> are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measuring</a:t>
            </a:r>
            <a:r>
              <a:rPr lang="cs-CZ" dirty="0">
                <a:cs typeface="Arial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cs-CZ" dirty="0" err="1">
                <a:cs typeface="Arial"/>
              </a:rPr>
              <a:t>Hierarchial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Chain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Growth</a:t>
            </a:r>
            <a:endParaRPr lang="en-US" dirty="0" err="1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biological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considerations</a:t>
            </a:r>
            <a:r>
              <a:rPr lang="cs-CZ" dirty="0">
                <a:cs typeface="Arial"/>
              </a:rPr>
              <a:t> do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have</a:t>
            </a:r>
            <a:r>
              <a:rPr lang="cs-CZ" dirty="0">
                <a:cs typeface="Arial"/>
              </a:rPr>
              <a:t>?</a:t>
            </a:r>
          </a:p>
          <a:p>
            <a:pPr lvl="1"/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8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3223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7189D-7579-08C8-88CB-31370E7A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003A8-7F80-6D8A-4AFD-BA4E6926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48CA93-BFAE-BF9E-4E85-36C283BE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656" y="534808"/>
            <a:ext cx="6698042" cy="5429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381336-DDDA-A90F-52AA-08F124A592C4}"/>
              </a:ext>
            </a:extLst>
          </p:cNvPr>
          <p:cNvSpPr txBox="1"/>
          <p:nvPr/>
        </p:nvSpPr>
        <p:spPr>
          <a:xfrm>
            <a:off x="7601108" y="591966"/>
            <a:ext cx="1933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MD 10ns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EB06E-B642-5478-B8C5-D7AA0AE2E6C7}"/>
              </a:ext>
            </a:extLst>
          </p:cNvPr>
          <p:cNvSpPr txBox="1"/>
          <p:nvPr/>
        </p:nvSpPr>
        <p:spPr>
          <a:xfrm>
            <a:off x="4987636" y="5346593"/>
            <a:ext cx="1933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MD 100ns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9BC41-9746-AD54-6AEB-45F1B1DEEFF6}"/>
              </a:ext>
            </a:extLst>
          </p:cNvPr>
          <p:cNvSpPr txBox="1"/>
          <p:nvPr/>
        </p:nvSpPr>
        <p:spPr>
          <a:xfrm>
            <a:off x="4231932" y="591964"/>
            <a:ext cx="6990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HCG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26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7189D-7579-08C8-88CB-31370E7A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003A8-7F80-6D8A-4AFD-BA4E6926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FEEFA2FD-5279-8A59-9C5A-96F823E0A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828" y="787187"/>
            <a:ext cx="7970142" cy="503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1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7189D-7579-08C8-88CB-31370E7A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003A8-7F80-6D8A-4AFD-BA4E6926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FEEFA2FD-5279-8A59-9C5A-96F823E0A3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452" b="35250"/>
          <a:stretch/>
        </p:blipFill>
        <p:spPr>
          <a:xfrm>
            <a:off x="3636828" y="629749"/>
            <a:ext cx="4665418" cy="459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4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Carbon Alpha Models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74D4A2-9104-B713-DF4A-F17CAB31AE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20943" y="1791714"/>
            <a:ext cx="5553075" cy="137098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30C6F5-AD68-E712-5EF2-938B6ED5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334" y="3158263"/>
            <a:ext cx="5287397" cy="1498693"/>
          </a:xfrm>
          <a:prstGeom prst="rect">
            <a:avLst/>
          </a:prstGeom>
        </p:spPr>
      </p:pic>
      <p:pic>
        <p:nvPicPr>
          <p:cNvPr id="10" name="Picture 9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831ADBF0-A6B4-FA0F-F41F-EC9B8E080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979" y="4438395"/>
            <a:ext cx="2743200" cy="12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1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F088C-277C-9200-380A-7A1700C8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Arial"/>
              </a:rPr>
              <a:t>In </a:t>
            </a:r>
            <a:r>
              <a:rPr lang="cs-CZ" err="1">
                <a:cs typeface="Arial"/>
              </a:rPr>
              <a:t>today's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practical</a:t>
            </a:r>
            <a:r>
              <a:rPr lang="cs-CZ">
                <a:cs typeface="Arial"/>
              </a:rPr>
              <a:t>...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7AC02-DAE3-85C2-F4F3-1618C5BF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>
                <a:cs typeface="Arial"/>
              </a:rPr>
              <a:t>Part 1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err="1">
                <a:cs typeface="Arial"/>
              </a:rPr>
              <a:t>You</a:t>
            </a:r>
            <a:r>
              <a:rPr lang="cs-CZ" dirty="0">
                <a:cs typeface="Arial"/>
              </a:rPr>
              <a:t> are </a:t>
            </a:r>
            <a:r>
              <a:rPr lang="cs-CZ" err="1">
                <a:cs typeface="Arial"/>
              </a:rPr>
              <a:t>given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two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parameterizations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Carbon-Alpha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models</a:t>
            </a:r>
            <a:endParaRPr lang="cs-CZ" dirty="0" err="1">
              <a:cs typeface="Arial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Find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biggest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difference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amino</a:t>
            </a:r>
            <a:r>
              <a:rPr lang="cs-CZ" dirty="0">
                <a:cs typeface="Arial"/>
              </a:rPr>
              <a:t> acid </a:t>
            </a:r>
            <a:r>
              <a:rPr lang="cs-CZ" dirty="0" err="1">
                <a:cs typeface="Arial"/>
              </a:rPr>
              <a:t>interactions</a:t>
            </a:r>
            <a:endParaRPr lang="cs-CZ">
              <a:cs typeface="Arial"/>
            </a:endParaRPr>
          </a:p>
          <a:p>
            <a:pPr lvl="2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cs-CZ" dirty="0" err="1">
                <a:cs typeface="Arial"/>
              </a:rPr>
              <a:t>Running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notebook as </a:t>
            </a:r>
            <a:r>
              <a:rPr lang="cs-CZ" dirty="0" err="1">
                <a:cs typeface="Arial"/>
              </a:rPr>
              <a:t>written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may</a:t>
            </a:r>
            <a:r>
              <a:rPr lang="cs-CZ" dirty="0">
                <a:cs typeface="Arial"/>
              </a:rPr>
              <a:t> not </a:t>
            </a:r>
            <a:r>
              <a:rPr lang="cs-CZ" dirty="0" err="1">
                <a:cs typeface="Arial"/>
              </a:rPr>
              <a:t>be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fastest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way</a:t>
            </a:r>
            <a:r>
              <a:rPr lang="cs-CZ" dirty="0">
                <a:cs typeface="Arial"/>
              </a:rPr>
              <a:t>...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https://colab.research.google.com/drive/1nWnm-Kpq6qmenbbGM3o6eMTAIidUxpdf?usp=sharing</a:t>
            </a:r>
            <a:endParaRPr lang="cs-CZ" dirty="0">
              <a:cs typeface="Arial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cs-CZ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cs-CZ" dirty="0">
                <a:cs typeface="Arial"/>
              </a:rPr>
              <a:t>Part 2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Answer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questions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Leonard-Jones notebook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https://colab.research.google.com/drive/1rkW6sEzNF1HIWEuhih9uvpIiyqPm0f0I?usp=sharing</a:t>
            </a:r>
            <a:endParaRPr lang="cs-CZ" dirty="0">
              <a:cs typeface="Arial"/>
            </a:endParaRP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endParaRPr lang="cs-CZ" dirty="0">
              <a:cs typeface="Arial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DF2287D-EFB1-696E-CD72-BE927BB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8C7B7F-D61D-817F-1520-E635E916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C9555:  A survival guide to simulations</vt:lpstr>
      <vt:lpstr>Learning Objectives</vt:lpstr>
      <vt:lpstr>Review</vt:lpstr>
      <vt:lpstr>System Components</vt:lpstr>
      <vt:lpstr>Review</vt:lpstr>
      <vt:lpstr>The issue with protein folding</vt:lpstr>
      <vt:lpstr>Two Methods (in MD)</vt:lpstr>
      <vt:lpstr>Two Methods (in MD)</vt:lpstr>
      <vt:lpstr>PowerPoint Presentation</vt:lpstr>
      <vt:lpstr>PowerPoint Presentation</vt:lpstr>
      <vt:lpstr>PowerPoint Presentation</vt:lpstr>
      <vt:lpstr>Example: Carbon Alpha Models</vt:lpstr>
      <vt:lpstr>In today's practical...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Michaela Palata</dc:creator>
  <cp:revision>113</cp:revision>
  <cp:lastPrinted>2017-09-20T07:48:49Z</cp:lastPrinted>
  <dcterms:created xsi:type="dcterms:W3CDTF">2017-09-06T10:48:47Z</dcterms:created>
  <dcterms:modified xsi:type="dcterms:W3CDTF">2023-11-30T08:47:37Z</dcterms:modified>
</cp:coreProperties>
</file>